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640080" y="914400"/>
            <a:ext cx="6035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Comandos Avanzados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de Linux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40080" y="26060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pipes </a:t>
            </a:r>
            <a:r>
              <a:rPr b="0" i="0" lang="en-US" sz="2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· </a:t>
            </a:r>
            <a:r>
              <a:rPr b="0" i="0" lang="en-US" sz="2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sed </a:t>
            </a:r>
            <a:r>
              <a:rPr b="0" i="0" lang="en-US" sz="2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· </a:t>
            </a:r>
            <a:r>
              <a:rPr b="0" i="0" lang="en-US" sz="2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b="0" i="0" lang="en-US" sz="2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 &amp; </a:t>
            </a:r>
            <a:r>
              <a:rPr b="0" i="0" lang="en-US" sz="2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xargs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0080" y="310896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Tutoría de Redes POSIX — ITS · 3 clases prácticas sobre VM Linux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Contenido ampliado con material de tldp.org (The Linux Documentation Project)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040880" y="1005840"/>
            <a:ext cx="4572000" cy="3291840"/>
          </a:xfrm>
          <a:prstGeom prst="roundRect">
            <a:avLst>
              <a:gd fmla="val 1944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242048" y="117957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461504" y="117957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680960" y="117957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7955280" y="107899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its@redes-posix:~/clases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7040880" y="1389888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7296912" y="1572768"/>
            <a:ext cx="4059936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ls clases/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clase3_pipes.sh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clase4_sed.sh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clase5_find_xargs.sh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cat clase3_pipes.sh | head -1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4+ comandos encadenados con |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ÍNDICE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ls -la temario/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82296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CLASE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822960" y="231343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00"/>
              <a:buFont typeface="Courier New"/>
              <a:buNone/>
            </a:pPr>
            <a:r>
              <a:rPr b="1" i="0" lang="en-US" sz="1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Pipes avanzados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822960" y="3063240"/>
            <a:ext cx="2971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grep -E -i -n -v -r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cut -d -f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sort | uniq -c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89120" y="169164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66344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CLASE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4663440" y="231343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00"/>
              <a:buFont typeface="Courier New"/>
              <a:buNone/>
            </a:pPr>
            <a:r>
              <a:rPr b="1" i="0" lang="en-US" sz="1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4663440" y="3063240"/>
            <a:ext cx="2971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Edición in-place (-i)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Rangos de líneas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Operadores p / d / 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229600" y="169164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850392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CLASE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8503920" y="231343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00"/>
              <a:buFont typeface="Courier New"/>
              <a:buNone/>
            </a:pPr>
            <a:r>
              <a:rPr b="1" i="0" lang="en-US" sz="1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find y xargs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8503920" y="3063240"/>
            <a:ext cx="2971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-name -type -mtime -perm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-exec {} \;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8B949E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xargs -P (paralelo)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temario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[2/16]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640080" y="5486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4600"/>
              <a:buFont typeface="Courier New"/>
              <a:buNone/>
            </a:pPr>
            <a:r>
              <a:rPr b="1" i="0" lang="en-US" sz="4600" u="none" cap="none" strike="noStrike">
                <a:solidFill>
                  <a:srgbClr val="30363D"/>
                </a:solidFill>
                <a:latin typeface="Courier New"/>
                <a:ea typeface="Courier New"/>
                <a:cs typeface="Courier New"/>
                <a:sym typeface="Courier New"/>
              </a:rPr>
              <a:t>&gt;_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685800" y="26517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CLASE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640080" y="31089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000"/>
              <a:buFont typeface="Courier New"/>
              <a:buNone/>
            </a:pPr>
            <a:r>
              <a:rPr b="1" i="0" lang="en-US" sz="4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Pipes avanzados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Encadenar comandos y filtrar texto en serie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pipes_avanzados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[3/16]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3 · CONCEPTO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¿Qué es un pipe?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A nivel de kernel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548640" y="2057400"/>
            <a:ext cx="5394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Un pipe conecta la salida estándar (stdout) de un proceso con la entrada estándar (stdin) del siguiente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Es un canal de un solo sentido: half-duplex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Al crear un pipe, el kernel reserva dos descriptores de archivo: uno de escritura y otro de lectura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Los datos fluyen de izquierda a derecha a través de toda la cadena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En la práctica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6309360" y="205740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El símbolo | encadena la salida de un comando con la entrada del siguiente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 pueden encadenar 4, 5 o más comandos en una sola línea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Conviene filtrar lo antes posible en la cadena, para que los comandos siguientes procesen menos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Cada comando de la cadena corre como un proceso independiente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patrón general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6"/>
          <p:cNvCxnSpPr/>
          <p:nvPr/>
        </p:nvCxnSpPr>
        <p:spPr>
          <a:xfrm>
            <a:off x="548640" y="545896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6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comando1 | comando2 | comando3 | comando4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la salida de cada comando alimenta la entrada del siguiente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concepto_pipes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[4/16]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3 · GREP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grep a fondo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Origen y sintaxis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Su nombre viene del comando g/re/p del editor ed: global - regular expression - print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Sintaxis: grep patrón archivo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Sin archivo, funciona como filtro dentro de un pipe, leyendo desde stdin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Por defecto usa expresiones regulares básicas (BRE)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Opciones clave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-i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ignora mayúsculas/minúsculas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-n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numera las líneas que coinciden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-v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invierte la coincidencia (excluye)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búsqueda recursiva en subdirectorios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-E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regex extendida (equivale a egrep)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nota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7"/>
          <p:cNvCxnSpPr/>
          <p:nvPr/>
        </p:nvCxnSpPr>
        <p:spPr>
          <a:xfrm>
            <a:off x="548640" y="545896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7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con -E, los metacaracteres ? + { } | ( ) no necesitan escaparse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egrep = grep -E   ·   fgrep = grep -F (cadenas literales, sin regex)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grep_a_fondo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[5/16]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3 · CUT, SORT, UNIQ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Extraer campos y contar frecuencias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cut -d -f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-d define el delimitador de campos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-f indica qué campo(s) extraer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Es una alternativa más simple que awk cuando solo hace falta recortar columnas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Ejemplo típico: extraer usuarios de /etc/passwd con -d: -f1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Patrón de frecuencia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sort | uniq -c | sort -nr es el patrón estándar para listados de frecuencia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uniq -c antepone a cada línea la cantidad de repeticiones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uniq solo agrupa líneas iguales y CONSECUTIVAS: por eso siempre va después de sort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Muy usado en análisis de logs y listas de palabras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ejemplo genérico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8"/>
          <p:cNvCxnSpPr/>
          <p:nvPr/>
        </p:nvCxnSpPr>
        <p:spPr>
          <a:xfrm>
            <a:off x="548640" y="545896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8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cut -d: -f1 /etc/passwd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sort archivo.txt | uniq -c | sort -nr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cut_sort_uniq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[6/16]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3 · PRÁCTICA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Top 5 IPs con más intentos fallidos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48640" y="1691640"/>
            <a:ext cx="6537960" cy="4160520"/>
          </a:xfrm>
          <a:prstGeom prst="roundRect">
            <a:avLst>
              <a:gd fmla="val 1758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 txBox="1"/>
          <p:nvPr/>
        </p:nvSpPr>
        <p:spPr>
          <a:xfrm>
            <a:off x="868680" y="19202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PRÁCTICA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868680" y="2331720"/>
            <a:ext cx="5943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Filtrar en auth.log las líneas de intento fallido de autenticación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Extraer la dirección IP de cada línea coincidente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Ordenar, agrupar y contar repeticiones por IP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Quedarse con las 5 IPs con más intentos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7315200" y="1691640"/>
            <a:ext cx="4297680" cy="1051560"/>
          </a:xfrm>
          <a:prstGeom prst="roundRect">
            <a:avLst>
              <a:gd fmla="val 6957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7589520" y="18470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REQUIERE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7589520" y="213969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VM Linux con acceso a /var/log/auth.log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7315200" y="2880360"/>
            <a:ext cx="4297680" cy="2971800"/>
          </a:xfrm>
          <a:prstGeom prst="roundRect">
            <a:avLst>
              <a:gd fmla="val 2154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7516368" y="305409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7735824" y="305409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7955280" y="305409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8229600" y="29535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pistas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9"/>
          <p:cNvCxnSpPr/>
          <p:nvPr/>
        </p:nvCxnSpPr>
        <p:spPr>
          <a:xfrm>
            <a:off x="7315200" y="3264408"/>
            <a:ext cx="429768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9"/>
          <p:cNvSpPr txBox="1"/>
          <p:nvPr/>
        </p:nvSpPr>
        <p:spPr>
          <a:xfrm>
            <a:off x="7571232" y="3447288"/>
            <a:ext cx="378561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grep ... auth.log \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| grep -oE '...'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| sort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| uniq -c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| sort -rn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| head -5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top_5_ips_con_m_s_intentos_fallidos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[7/16]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640080" y="5486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4600"/>
              <a:buFont typeface="Courier New"/>
              <a:buNone/>
            </a:pPr>
            <a:r>
              <a:rPr b="1" i="0" lang="en-US" sz="4600" u="none" cap="none" strike="noStrike">
                <a:solidFill>
                  <a:srgbClr val="30363D"/>
                </a:solidFill>
                <a:latin typeface="Courier New"/>
                <a:ea typeface="Courier New"/>
                <a:cs typeface="Courier New"/>
                <a:sym typeface="Courier New"/>
              </a:rPr>
              <a:t>&gt;_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685800" y="26517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CLASE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640080" y="31089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000"/>
              <a:buFont typeface="Courier New"/>
              <a:buNone/>
            </a:pPr>
            <a:r>
              <a:rPr b="1" i="0" lang="en-US" sz="4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El editor de flujo no interactivo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[8/16]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4 · CONCEPTO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 como editor de flujo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548640" y="1783080"/>
            <a:ext cx="108813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50"/>
              <a:buFont typeface="Courier New"/>
              <a:buChar char="›"/>
            </a:pPr>
            <a:r>
              <a:rPr b="0" i="0" lang="en-US" sz="14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 es un editor de texto no interactivo: recibe entrada (stdin o archivo), aplica operaciones línea por línea, y envía el resultado a stdout o a un archivo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450"/>
              <a:buFont typeface="Courier New"/>
              <a:buChar char="›"/>
            </a:pPr>
            <a:r>
              <a:rPr b="0" i="0" lang="en-US" sz="14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Mantiene un "espacio de patrones" (pattern space): un buffer temporal que guarda la línea actual mientras se le aplican los comandos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450"/>
              <a:buFont typeface="Courier New"/>
              <a:buChar char="›"/>
            </a:pPr>
            <a:r>
              <a:rPr b="0" i="0" lang="en-US" sz="14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Qué líneas se ven afectadas lo decide el rango de direcciones: por número de línea o por un patrón que coincida. Sin rango indicado, la operación se aplica a todas las líneas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450"/>
              <a:buFont typeface="Courier New"/>
              <a:buChar char="›"/>
            </a:pPr>
            <a:r>
              <a:rPr b="0" i="0" lang="en-US" sz="14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El archivo original queda intacto salvo que se use explícitamente la opción -i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fmla="val 4000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749808" y="488289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969264" y="488289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1188720" y="488289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1463040" y="478231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idea general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1"/>
          <p:cNvCxnSpPr/>
          <p:nvPr/>
        </p:nvCxnSpPr>
        <p:spPr>
          <a:xfrm>
            <a:off x="548640" y="50932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1"/>
          <p:cNvSpPr txBox="1"/>
          <p:nvPr/>
        </p:nvSpPr>
        <p:spPr>
          <a:xfrm>
            <a:off x="804672" y="5276088"/>
            <a:ext cx="105521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 'direccion comando' archivo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ejemplo de rango: sed '3,7 comando' archivo   → solo líneas 3 a 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ejemplo por patrón: sed '/error/ comando' archivo → líneas que matchean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sed_concepto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[9/16]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4 · 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Operadores y edición in-place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Operadores básicos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imprime el rango indicado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elimina el rango indicado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s/pat1/pat2/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sustituye la 1ª coincidencia por línea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y/pat1/pat2/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transliteración carácter a carácter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sufijo: aplica el cambio a TODAS las coincidencias de la línea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Edición in-place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-i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escribe los cambios directo en el archivo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-i.bak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igual, pero conserva copia de respaldo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-n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no imprime nada salvo que se pida con 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-e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permite encadenar varias instrucciones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ejemplo propio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2"/>
          <p:cNvCxnSpPr/>
          <p:nvPr/>
        </p:nvCxnSpPr>
        <p:spPr>
          <a:xfrm>
            <a:off x="548640" y="545896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2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 -i.bak 's/valorViejo/valorNuevo/' config.conf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sin el sufijo g, solo cambia la primera coincidencia de cada línea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sed_operadores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[10/16]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4 · PRÁCTICA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Informe de usuarios y edición de configuración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1691640"/>
            <a:ext cx="6537960" cy="4160520"/>
          </a:xfrm>
          <a:prstGeom prst="roundRect">
            <a:avLst>
              <a:gd fmla="val 1758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868680" y="19202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PRÁCTICA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868680" y="2331720"/>
            <a:ext cx="5943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Generar un informe de los usuarios del sistema (a partir de /etc/passwd)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Identificar el archivo de configuración a modificar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Reemplazar el valor objetivo usando sed -i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Verificar el cambio y conservar respaldo del original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7315200" y="1691640"/>
            <a:ext cx="4297680" cy="1051560"/>
          </a:xfrm>
          <a:prstGeom prst="roundRect">
            <a:avLst>
              <a:gd fmla="val 6957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7589520" y="18470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REQUIERE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589520" y="213969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VM Linux con permisos para editar archivos de configuración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7315200" y="2880360"/>
            <a:ext cx="4297680" cy="2971800"/>
          </a:xfrm>
          <a:prstGeom prst="roundRect">
            <a:avLst>
              <a:gd fmla="val 2154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7516368" y="305409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7735824" y="305409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7955280" y="305409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8229600" y="29535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pistas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3"/>
          <p:cNvCxnSpPr/>
          <p:nvPr/>
        </p:nvCxnSpPr>
        <p:spPr>
          <a:xfrm>
            <a:off x="7315200" y="3264408"/>
            <a:ext cx="429768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3"/>
          <p:cNvSpPr txBox="1"/>
          <p:nvPr/>
        </p:nvSpPr>
        <p:spPr>
          <a:xfrm>
            <a:off x="7571232" y="3447288"/>
            <a:ext cx="378561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 -n '1,5p' archivo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 -i 's/old/new/' cfg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sed -i.bak 's/.../.../' cfg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.bak = respaldo automático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informe_de_usuarios_y_edici_n_de_configuraci_n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[11/16]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/>
        </p:nvSpPr>
        <p:spPr>
          <a:xfrm>
            <a:off x="640080" y="5486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4600"/>
              <a:buFont typeface="Courier New"/>
              <a:buNone/>
            </a:pPr>
            <a:r>
              <a:rPr b="1" i="0" lang="en-US" sz="4600" u="none" cap="none" strike="noStrike">
                <a:solidFill>
                  <a:srgbClr val="30363D"/>
                </a:solidFill>
                <a:latin typeface="Courier New"/>
                <a:ea typeface="Courier New"/>
                <a:cs typeface="Courier New"/>
                <a:sym typeface="Courier New"/>
              </a:rPr>
              <a:t>&gt;_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685800" y="26517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CLASE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640080" y="31089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000"/>
              <a:buFont typeface="Courier New"/>
              <a:buNone/>
            </a:pPr>
            <a:r>
              <a:rPr b="1" i="0" lang="en-US" sz="4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find y xargs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Búsqueda de archivos y ejecución en paralelo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find_y_xargs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[12/16]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5 · FIND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find avanzado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Opciones y -exec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-name</a:t>
            </a:r>
            <a:r>
              <a:rPr b="0" i="0" lang="en-US" sz="1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coincidencia por nombre de archivo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-type f/d/l</a:t>
            </a:r>
            <a:r>
              <a:rPr b="0" i="0" lang="en-US" sz="1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archivo / directorio / enlace simbólico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-perm</a:t>
            </a:r>
            <a:r>
              <a:rPr b="0" i="0" lang="en-US" sz="1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permisos exactos o mínimos (prefijo -)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-size</a:t>
            </a:r>
            <a:r>
              <a:rPr b="0" i="0" lang="en-US" sz="1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filtra por tamaño de archivo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-exec CMD {} \;</a:t>
            </a:r>
            <a:r>
              <a:rPr b="0" i="0" lang="en-US" sz="1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ejecuta CMD por cada resultado; {} es reemplazado por la ruta encontrada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mtime, ctime y atime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-mtime: última modificación del CONTENIDO del archivo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-ctime: último cambio de ESTADO (permisos, dueño, etc.)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-atime: último ACCESO al archivo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El signo indica el sentido: +N más de N días, -N menos de N días, N exactamente N días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nota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5"/>
          <p:cNvCxnSpPr/>
          <p:nvPr/>
        </p:nvCxnSpPr>
        <p:spPr>
          <a:xfrm>
            <a:off x="548640" y="545896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5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el ';' se escapa (\;) para que el shell lo pase literal a find, no lo interprete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find también funciona sin -exec: podés iterar sus resultados con un for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find_avanzado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[13/16]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5 · XARGS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xargs a fondo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Qué problema resuelve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Convierte una lista recibida por stdin en argumentos de línea de comandos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Útil cuando un comando no puede leer directamente de un pipe (por ejemplo cp)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También evita el error de "demasiados argumentos" (límite ARG_MAX del sistema)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Char char="›"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Si no se indica comando, xargs usa echo por defecto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Opciones clave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-n N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cuántos argumentos recibe cada llamada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-I {}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marcador de reemplazo en cualquier posición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-P N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hasta N procesos en paralelo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-0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separa argumentos por NUL (con find -print0)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749808" y="524865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969264" y="524865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1188720" y="524865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1463040" y="51480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nota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6"/>
          <p:cNvCxnSpPr/>
          <p:nvPr/>
        </p:nvCxnSpPr>
        <p:spPr>
          <a:xfrm>
            <a:off x="548640" y="545896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6"/>
          <p:cNvSpPr txBox="1"/>
          <p:nvPr/>
        </p:nvSpPr>
        <p:spPr>
          <a:xfrm>
            <a:off x="804672" y="5641848"/>
            <a:ext cx="10552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-0 / -print0 evita romper nombres de archivo que contienen espacios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-P aprovecha varios núcleos: útil para tareas de I/O o CPU independientes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xargs_a_fondo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[14/16]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CLASE 5 · PRÁCTICA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Scripts ejecutables y conteo de líneas en logs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48640" y="1691640"/>
            <a:ext cx="6537960" cy="4160520"/>
          </a:xfrm>
          <a:prstGeom prst="roundRect">
            <a:avLst>
              <a:gd fmla="val 1758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868680" y="19202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PRÁCTICA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868680" y="2331720"/>
            <a:ext cx="5943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Buscar en /home todos los archivos .sh con permiso de ejecución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Listar los resultados encontrados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Ubicar todos los archivos de log del sistema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Char char="›"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Contar líneas de todos los logs en paralelo con xargs -P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7315200" y="1691640"/>
            <a:ext cx="4297680" cy="1051560"/>
          </a:xfrm>
          <a:prstGeom prst="roundRect">
            <a:avLst>
              <a:gd fmla="val 6957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7589520" y="18470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REQUIERE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7589520" y="213969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VM Linux con archivos .sh de ejemplo en /home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7315200" y="2880360"/>
            <a:ext cx="4297680" cy="2971800"/>
          </a:xfrm>
          <a:prstGeom prst="roundRect">
            <a:avLst>
              <a:gd fmla="val 2154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7516368" y="305409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7735824" y="305409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7955280" y="305409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8229600" y="29535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pistas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7"/>
          <p:cNvCxnSpPr/>
          <p:nvPr/>
        </p:nvCxnSpPr>
        <p:spPr>
          <a:xfrm>
            <a:off x="7315200" y="3264408"/>
            <a:ext cx="429768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7"/>
          <p:cNvSpPr txBox="1"/>
          <p:nvPr/>
        </p:nvSpPr>
        <p:spPr>
          <a:xfrm>
            <a:off x="7571232" y="3447288"/>
            <a:ext cx="378561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find /home -name '*.sh' \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-type f -perm -u+x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find /var/log -type f \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| xargs -P 4 wc -l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scripts_ejecutables_y_conteo_de_l_neas_en_logs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[15/16]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FUENTES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b="1" i="0" lang="en-US" sz="2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Referencias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ourier New"/>
              <a:buChar char="›"/>
            </a:pP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Advanced Bash-Scripting Guide — The Linux Documentation Project · tldp.org/LDP/abs/html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ourier New"/>
              <a:buChar char="›"/>
            </a:pP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Secciones consultadas: Text Processing Commands (grep, cut, sort, uniq), A Sed and Awk Micro-Primer (sed), Complex Commands (find, xargs)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ourier New"/>
              <a:buChar char="›"/>
            </a:pP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Contenido adaptado y reescrito para esta cursada; se recomienda revisar las guías completas en tldp.org para profundizar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fmla="val 3500" name="adj"/>
            </a:avLst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749808" y="437997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969264" y="437997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1188720" y="437997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1463040" y="427939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para seguir leyendo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8"/>
          <p:cNvCxnSpPr/>
          <p:nvPr/>
        </p:nvCxnSpPr>
        <p:spPr>
          <a:xfrm>
            <a:off x="548640" y="459028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8"/>
          <p:cNvSpPr txBox="1"/>
          <p:nvPr/>
        </p:nvSpPr>
        <p:spPr>
          <a:xfrm>
            <a:off x="804672" y="4773168"/>
            <a:ext cx="105521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man grep   ·   man sed   ·   man find   ·   man xargs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2992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29922"/>
                </a:solidFill>
                <a:latin typeface="Courier New"/>
                <a:ea typeface="Courier New"/>
                <a:cs typeface="Courier New"/>
                <a:sym typeface="Courier New"/>
              </a:rPr>
              <a:t># la documentación oficial (man pages) es siempre la fuente más actualizada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referencias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[16/16]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