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995160" y="347472"/>
            <a:ext cx="2011680" cy="2240280"/>
          </a:xfrm>
          <a:prstGeom prst="rect">
            <a:avLst/>
          </a:prstGeom>
          <a:solidFill>
            <a:srgbClr val="0D1117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995160" y="347472"/>
            <a:ext cx="201168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068312" y="420624"/>
            <a:ext cx="109728" cy="109728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223760" y="420624"/>
            <a:ext cx="109728" cy="109728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379208" y="420624"/>
            <a:ext cx="109728" cy="10972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543800" y="38404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bash — 80×24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059168" y="640080"/>
            <a:ext cx="188366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vim config.sh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:set number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:%s/foo/bar/g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:wq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chmod 750 config.sh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ls | grep '.sh'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config.sh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cat log | awk '{print $3}'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_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1051560"/>
            <a:ext cx="73152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58368" y="713232"/>
            <a:ext cx="5943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CONSOLA Y VIM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58368" y="114300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6200"/>
              <a:buFont typeface="Consolas"/>
              <a:buNone/>
            </a:pPr>
            <a:r>
              <a:rPr b="1" i="0" lang="en-US" sz="62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INTERMEDIO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58368" y="2212848"/>
            <a:ext cx="5943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Pipes · Redirección · grep/sed/awk · find · Vim avanzado · Procesos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2743200"/>
            <a:ext cx="6172200" cy="107899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40080" y="27980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OBJETIVOS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40080" y="3072384"/>
            <a:ext cx="5806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Dominar pipes, redirección y filtros de texto (grep, sed, awk)</a:t>
            </a:r>
            <a:br>
              <a:rPr b="0" i="0" lang="en-US" sz="10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Usar find para buscar y actuar sobre archivos en el sistema</a:t>
            </a:r>
            <a:br>
              <a:rPr b="0" i="0" lang="en-US" sz="10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Editar con Vim a nivel profesional: macros, splits, registros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3913632"/>
            <a:ext cx="6172200" cy="457200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40080" y="3959352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CTT - Técnico en Redes y Software  ·  Prof. Juan Damián Pajares García  ·  Clase Intermedia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57200" y="4434840"/>
            <a:ext cx="6172200" cy="36576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40080" y="4462272"/>
            <a:ext cx="5806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Prerequisito: Clase 1 (FHS, comandos base) y Clase 2 (permisos, chmod, vim básico)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0" y="4846320"/>
            <a:ext cx="6858000" cy="29718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228600" y="48554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$ cat clase_intermedia.sh | bash -x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01  //  Flujo de datos — stdin · stdout · stderr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Todo proceso Linux tiene 3 canales de comunicación. Dominarlos es dominar la consola.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74320" y="1207008"/>
            <a:ext cx="2331720" cy="141732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74320" y="1207008"/>
            <a:ext cx="2331720" cy="64008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74320" y="1298448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32688" y="1316736"/>
            <a:ext cx="1609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STDIN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32688" y="1645920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fd 0 — Entrada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65760" y="187452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Teclado 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pipe de otro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337560" y="1207008"/>
            <a:ext cx="2331720" cy="141732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337560" y="1207008"/>
            <a:ext cx="2331720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337560" y="1298448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995928" y="1316736"/>
            <a:ext cx="1609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PROCESO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995928" y="1645920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Programa en RAM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429000" y="187452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grep · awk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sed · sort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cualquier cmd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400800" y="1207008"/>
            <a:ext cx="2331720" cy="141732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400800" y="1207008"/>
            <a:ext cx="233172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400800" y="1298448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059168" y="1316736"/>
            <a:ext cx="1609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STDOUT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059168" y="1645920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fd 1 — Salida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492240" y="187452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Terminal 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archivo 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pipe siguiente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4"/>
          <p:cNvCxnSpPr/>
          <p:nvPr/>
        </p:nvCxnSpPr>
        <p:spPr>
          <a:xfrm>
            <a:off x="2606040" y="1911096"/>
            <a:ext cx="731520" cy="0"/>
          </a:xfrm>
          <a:prstGeom prst="straightConnector1">
            <a:avLst/>
          </a:prstGeom>
          <a:noFill/>
          <a:ln cap="flat" cmpd="sng" w="3175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"/>
          <p:cNvSpPr/>
          <p:nvPr/>
        </p:nvSpPr>
        <p:spPr>
          <a:xfrm>
            <a:off x="3246120" y="181051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6C90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4"/>
          <p:cNvCxnSpPr/>
          <p:nvPr/>
        </p:nvCxnSpPr>
        <p:spPr>
          <a:xfrm>
            <a:off x="5669280" y="1911096"/>
            <a:ext cx="731520" cy="0"/>
          </a:xfrm>
          <a:prstGeom prst="straightConnector1">
            <a:avLst/>
          </a:prstGeom>
          <a:noFill/>
          <a:ln cap="flat" cmpd="sng" w="317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4"/>
          <p:cNvSpPr/>
          <p:nvPr/>
        </p:nvSpPr>
        <p:spPr>
          <a:xfrm>
            <a:off x="6309360" y="181051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4"/>
          <p:cNvCxnSpPr/>
          <p:nvPr/>
        </p:nvCxnSpPr>
        <p:spPr>
          <a:xfrm>
            <a:off x="4498848" y="2624328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4"/>
          <p:cNvSpPr/>
          <p:nvPr/>
        </p:nvSpPr>
        <p:spPr>
          <a:xfrm>
            <a:off x="3474720" y="3008376"/>
            <a:ext cx="2057400" cy="38404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3474720" y="300837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STDERR  (fd 2)  — Errores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74320" y="3511296"/>
            <a:ext cx="4315968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74320" y="3511296"/>
            <a:ext cx="64008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274320" y="3511296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969264" y="35295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Redirigir stdout a archivo (SOBREESCRIBE)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852928" y="3529584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ls -la &gt; listado.txt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718304" y="3511296"/>
            <a:ext cx="4315968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718304" y="3511296"/>
            <a:ext cx="64008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718304" y="3511296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13248" y="35295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Redirigir stdout a archivo (AGREGA al final)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296912" y="3529584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echo 'nueva línea' &gt;&gt; log.txt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74320" y="3840480"/>
            <a:ext cx="4315968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274320" y="3840480"/>
            <a:ext cx="64008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274320" y="384048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69264" y="38587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Redirigir stdin desde un archivo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852928" y="3858768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sort &lt; nombres.txt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18304" y="3840480"/>
            <a:ext cx="4315968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718304" y="3840480"/>
            <a:ext cx="64008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718304" y="384048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2&gt;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13248" y="38587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Redirigir stderr a archivo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296912" y="3858768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find / -name '*.conf' 2&gt; errores.txt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" y="4169664"/>
            <a:ext cx="4315968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274320" y="4169664"/>
            <a:ext cx="64008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274320" y="416966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2&gt;&amp;1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69264" y="41879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Fusionar stderr dentro de stdout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852928" y="4187952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cmd &gt; salida.txt 2&gt;&amp;1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718304" y="4169664"/>
            <a:ext cx="4315968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718304" y="4169664"/>
            <a:ext cx="64008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718304" y="416966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&amp;&gt;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13248" y="41879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Redirigir stdout y stderr al mismo archivo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296912" y="4187952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make &amp;&gt; build.log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74320" y="4498848"/>
            <a:ext cx="4315968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74320" y="4498848"/>
            <a:ext cx="64008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74320" y="449884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/dev/null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69264" y="45171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Descartar salida (agujero negro del sistema)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852928" y="4517136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find / 2&gt;/dev/null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74320" y="4754880"/>
            <a:ext cx="8595360" cy="54864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"2&gt;/dev/null es el comando más honesto de Linux: descartá lo que no te importa."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02  //  Pipes — El poder de la composición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El pipe | conecta stdout de un proceso con stdin del siguiente. Construís pipelines.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74320" y="1207008"/>
            <a:ext cx="8595360" cy="594360"/>
          </a:xfrm>
          <a:prstGeom prst="rect">
            <a:avLst/>
          </a:prstGeom>
          <a:solidFill>
            <a:srgbClr val="0D1117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57200" y="1225296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cat /var/log/syslog  |  grep 'ERROR'  |  awk '{print $1, $2, $NF}'  |  sort  |  uniq -c  |  sort -rn  |  head -10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74320" y="1920240"/>
            <a:ext cx="1143000" cy="107899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329184" y="1956816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/var/log/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syslog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329184" y="2450592"/>
            <a:ext cx="987552" cy="0"/>
          </a:xfrm>
          <a:prstGeom prst="straightConnector1">
            <a:avLst/>
          </a:prstGeom>
          <a:noFill/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>
            <a:off x="329184" y="2487168"/>
            <a:ext cx="10424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Lee 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completo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1417320" y="2459736"/>
            <a:ext cx="91440" cy="0"/>
          </a:xfrm>
          <a:prstGeom prst="straightConnector1">
            <a:avLst/>
          </a:prstGeom>
          <a:noFill/>
          <a:ln cap="flat" cmpd="sng" w="254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1444752" y="2359152"/>
            <a:ext cx="128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508760" y="1920240"/>
            <a:ext cx="1143000" cy="107899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563624" y="1956816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grep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'ERROR'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5"/>
          <p:cNvCxnSpPr/>
          <p:nvPr/>
        </p:nvCxnSpPr>
        <p:spPr>
          <a:xfrm>
            <a:off x="1563624" y="2450592"/>
            <a:ext cx="987552" cy="0"/>
          </a:xfrm>
          <a:prstGeom prst="straightConnector1">
            <a:avLst/>
          </a:prstGeom>
          <a:noFill/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5"/>
          <p:cNvSpPr/>
          <p:nvPr/>
        </p:nvSpPr>
        <p:spPr>
          <a:xfrm>
            <a:off x="1563624" y="2487168"/>
            <a:ext cx="10424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Filtra solo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líneas con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2651760" y="2459736"/>
            <a:ext cx="91440" cy="0"/>
          </a:xfrm>
          <a:prstGeom prst="straightConnector1">
            <a:avLst/>
          </a:prstGeom>
          <a:noFill/>
          <a:ln cap="flat" cmpd="sng" w="254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2679192" y="2359152"/>
            <a:ext cx="128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43200" y="1920240"/>
            <a:ext cx="1143000" cy="107899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2798064" y="1956816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awk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'{print...}'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5"/>
          <p:cNvCxnSpPr/>
          <p:nvPr/>
        </p:nvCxnSpPr>
        <p:spPr>
          <a:xfrm>
            <a:off x="2798064" y="2450592"/>
            <a:ext cx="987552" cy="0"/>
          </a:xfrm>
          <a:prstGeom prst="straightConnector1">
            <a:avLst/>
          </a:prstGeom>
          <a:noFill/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5"/>
          <p:cNvSpPr/>
          <p:nvPr/>
        </p:nvSpPr>
        <p:spPr>
          <a:xfrm>
            <a:off x="2798064" y="2487168"/>
            <a:ext cx="10424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Extrae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columnas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específicas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3886200" y="2459736"/>
            <a:ext cx="91440" cy="0"/>
          </a:xfrm>
          <a:prstGeom prst="straightConnector1">
            <a:avLst/>
          </a:prstGeom>
          <a:noFill/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5"/>
          <p:cNvSpPr/>
          <p:nvPr/>
        </p:nvSpPr>
        <p:spPr>
          <a:xfrm>
            <a:off x="3913632" y="2359152"/>
            <a:ext cx="128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977640" y="1920240"/>
            <a:ext cx="1143000" cy="107899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8BA9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032504" y="1956816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5"/>
          <p:cNvCxnSpPr/>
          <p:nvPr/>
        </p:nvCxnSpPr>
        <p:spPr>
          <a:xfrm>
            <a:off x="4032504" y="2450592"/>
            <a:ext cx="987552" cy="0"/>
          </a:xfrm>
          <a:prstGeom prst="straightConnector1">
            <a:avLst/>
          </a:prstGeom>
          <a:noFill/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4032504" y="2487168"/>
            <a:ext cx="10424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Ordena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alfabéti-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camente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5120640" y="2459736"/>
            <a:ext cx="91440" cy="0"/>
          </a:xfrm>
          <a:prstGeom prst="straightConnector1">
            <a:avLst/>
          </a:prstGeom>
          <a:noFill/>
          <a:ln cap="flat" cmpd="sng" w="25400">
            <a:solidFill>
              <a:srgbClr val="8BA9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5148072" y="2359152"/>
            <a:ext cx="128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212080" y="1920240"/>
            <a:ext cx="1143000" cy="107899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266944" y="1956816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uniq -c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5"/>
          <p:cNvCxnSpPr/>
          <p:nvPr/>
        </p:nvCxnSpPr>
        <p:spPr>
          <a:xfrm>
            <a:off x="5266944" y="2450592"/>
            <a:ext cx="987552" cy="0"/>
          </a:xfrm>
          <a:prstGeom prst="straightConnector1">
            <a:avLst/>
          </a:prstGeom>
          <a:noFill/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5"/>
          <p:cNvSpPr/>
          <p:nvPr/>
        </p:nvSpPr>
        <p:spPr>
          <a:xfrm>
            <a:off x="5266944" y="2487168"/>
            <a:ext cx="10424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Cuenta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duplicados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consecutivos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5"/>
          <p:cNvCxnSpPr/>
          <p:nvPr/>
        </p:nvCxnSpPr>
        <p:spPr>
          <a:xfrm>
            <a:off x="6355080" y="2459736"/>
            <a:ext cx="91440" cy="0"/>
          </a:xfrm>
          <a:prstGeom prst="straightConnector1">
            <a:avLst/>
          </a:prstGeom>
          <a:noFill/>
          <a:ln cap="flat" cmpd="sng" w="254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5"/>
          <p:cNvSpPr/>
          <p:nvPr/>
        </p:nvSpPr>
        <p:spPr>
          <a:xfrm>
            <a:off x="6382512" y="2359152"/>
            <a:ext cx="128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46520" y="1920240"/>
            <a:ext cx="1143000" cy="107899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501384" y="1956816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sort -rn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5"/>
          <p:cNvCxnSpPr/>
          <p:nvPr/>
        </p:nvCxnSpPr>
        <p:spPr>
          <a:xfrm>
            <a:off x="6501384" y="2450592"/>
            <a:ext cx="987552" cy="0"/>
          </a:xfrm>
          <a:prstGeom prst="straightConnector1">
            <a:avLst/>
          </a:prstGeom>
          <a:noFill/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6501384" y="2487168"/>
            <a:ext cx="10424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Ordena por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descend.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5"/>
          <p:cNvCxnSpPr/>
          <p:nvPr/>
        </p:nvCxnSpPr>
        <p:spPr>
          <a:xfrm>
            <a:off x="7589520" y="2459736"/>
            <a:ext cx="91440" cy="0"/>
          </a:xfrm>
          <a:prstGeom prst="straightConnector1">
            <a:avLst/>
          </a:prstGeom>
          <a:noFill/>
          <a:ln cap="flat" cmpd="sng" w="254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7616952" y="2359152"/>
            <a:ext cx="128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680960" y="1920240"/>
            <a:ext cx="1143000" cy="107899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7735824" y="1956816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head -10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5"/>
          <p:cNvCxnSpPr/>
          <p:nvPr/>
        </p:nvCxnSpPr>
        <p:spPr>
          <a:xfrm>
            <a:off x="7735824" y="2450592"/>
            <a:ext cx="987552" cy="0"/>
          </a:xfrm>
          <a:prstGeom prst="straightConnector1">
            <a:avLst/>
          </a:prstGeom>
          <a:noFill/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5"/>
          <p:cNvSpPr/>
          <p:nvPr/>
        </p:nvSpPr>
        <p:spPr>
          <a:xfrm>
            <a:off x="7735824" y="2487168"/>
            <a:ext cx="10424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Muestra solo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los primeros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10 resultados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74320" y="3145536"/>
            <a:ext cx="4315968" cy="8046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74320" y="3145536"/>
            <a:ext cx="4315968" cy="64008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02336" y="3255264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Análisis de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02336" y="3529584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cat /var/log/auth.log | grep 'Failed' | awk '{print $11}' | sort | uniq -c | sort -rn | head -5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02336" y="3749040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  # Top 5 IPs que fallaron autenticación SSH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18304" y="3145536"/>
            <a:ext cx="4315968" cy="8046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718304" y="3145536"/>
            <a:ext cx="4315968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846320" y="3255264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Inventario de procesos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846320" y="3529584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ps aux | grep nginx | grep -v grep | awk '{print $2, $3, $11}'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846320" y="3749040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  # PID, CPU% y comando de cada proceso nginx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74320" y="4041648"/>
            <a:ext cx="4315968" cy="8046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74320" y="4041648"/>
            <a:ext cx="4315968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02336" y="4151376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Buscar y contar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02336" y="4425696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find /etc -type f -name '*.conf' | xargs grep -l 'ssl' 2&gt;/dev/null | wc -l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02336" y="4645152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  # Cuántos archivos .conf en /etc mencionan 'ssl'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718304" y="4041648"/>
            <a:ext cx="4315968" cy="8046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718304" y="4041648"/>
            <a:ext cx="4315968" cy="640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846320" y="4151376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Disco y espacio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846320" y="4425696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du -sh /var/log/* 2&gt;/dev/null | sort -rh | head -5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846320" y="4645152"/>
            <a:ext cx="4059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  # Top 5 archivos de log más grandes, ordenados por tamaño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"El pipe | es la herramienta más poderosa de Unix. Un programador sin pipe es un Chef sin cuchillo."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03  //  grep — El buscador definitivo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6C90E"/>
                </a:solidFill>
                <a:latin typeface="Calibri"/>
                <a:ea typeface="Calibri"/>
                <a:cs typeface="Calibri"/>
                <a:sym typeface="Calibri"/>
              </a:rPr>
              <a:t>Global Regular Expression Print. La navaja suiza de la búsqueda en Linux.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23444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grep  [opciones]  'patrón'  [archivo(s)]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74320" y="1691640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74320" y="1691640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29184" y="170992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15568" y="1709928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Case insensitive (ignora mayúsculas/minúsculas)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718304" y="1691640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718304" y="1691640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773168" y="170992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559552" y="1709928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Invertir: mostrar líneas que NO coinciden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274320" y="2048256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274320" y="2048256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29184" y="206654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115568" y="2066544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Mostrar número de línea de cada coincidencia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718304" y="2048256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718304" y="2048256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773168" y="206654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559552" y="2066544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Contar cuántas líneas coinciden (count)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274320" y="2404872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274320" y="2404872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29184" y="242316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115568" y="2423160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Solo mostrar nombres de archivos con coincidencias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718304" y="2404872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718304" y="2404872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773168" y="242316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-r / -R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559552" y="2423160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Búsqueda recursiva en directorios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274320" y="2761488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274320" y="2761488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29184" y="2779776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-E / egrep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115568" y="277977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Habilitar expresiones regulares extendidas (ERE)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718304" y="2761488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718304" y="2761488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773168" y="2779776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-A 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559552" y="277977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Mostrar N líneas DESPUÉS de cada coincidencia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274320" y="3118104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274320" y="3118104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29184" y="313639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-B 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115568" y="3136392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Mostrar N líneas ANTES de cada coincidencia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718304" y="3118104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4718304" y="3118104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4773168" y="313639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-C 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559552" y="3136392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Mostrar N líneas antes Y después (contexto)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74320" y="3474720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274320" y="3474720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329184" y="349300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--color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115568" y="3493008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Resaltar la coincidencia en la salida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18304" y="3474720"/>
            <a:ext cx="4315968" cy="310896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4718304" y="3474720"/>
            <a:ext cx="777240" cy="310896"/>
          </a:xfrm>
          <a:prstGeom prst="rect">
            <a:avLst/>
          </a:prstGeom>
          <a:solidFill>
            <a:srgbClr val="182535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773168" y="349300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-w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559552" y="3493008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Coincidir solo palabras completas (word)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274320" y="4023360"/>
            <a:ext cx="8595360" cy="74980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457200" y="405993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Ejemplos prácticos: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57200" y="4334256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grep -rn "password" /etc/ 2&gt;/dev/null          # buscar contraseñas en configs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57200" y="4335262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grep -v "^#" /etc/ssh/sshd_config | grep -v "^$"  # ver solo config activa (sin comentarios)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57200" y="4336268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grep -E "(ERROR|WARN|CRIT)" /var/log/syslog | tail -20  # errores recientes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57200" y="4337274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ps aux | grep -v grep | grep nginx                   # procesos nginx sin el grep mismo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57200" y="4334256"/>
            <a:ext cx="8321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grep -rn "password" /etc/ 2&gt;/dev/null          # buscar contraseñas en configs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57200" y="4507992"/>
            <a:ext cx="8321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grep -v "^#" /etc/ssh/sshd_config | grep -v "^$"  # ver solo config activa (sin comentarios)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57200" y="4681728"/>
            <a:ext cx="8321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grep -E "(ERROR|WARN|CRIT)" /var/log/syslog | tail -20  # errores recientes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"grep -rn "TODO" . | wc -l  →  cuántas tareas pendientes hay en tu proyecto."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04  //  sed — Stream Editor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Edita texto en flujo: busca, reemplaza, borra líneas. Sin abrir ningún editor.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D1117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57200" y="123444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sed  's/patrón/reemplazo/flags'  archivo    # s = substitute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74320" y="1682496"/>
            <a:ext cx="2651760" cy="1371600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274320" y="1682496"/>
            <a:ext cx="2651760" cy="640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411480" y="17739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Flags de sustitución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65760" y="2103120"/>
            <a:ext cx="2468880" cy="2743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365760" y="21031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/g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731520" y="2121408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Global: reemplazar TODAS las ocurrencias (no solo la primera)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65760" y="2432304"/>
            <a:ext cx="2468880" cy="2743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365760" y="243230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/i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731520" y="2450592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Insensible a mayúsculas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65760" y="2761488"/>
            <a:ext cx="2468880" cy="2743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365760" y="27614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/2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731520" y="2779776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Reemplazar solo la 2ª ocurrencia (o N-ésima)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65760" y="3090672"/>
            <a:ext cx="2468880" cy="2743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365760" y="30906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/p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731520" y="3108960"/>
            <a:ext cx="2048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Imprimir línea modificada (con -n para solo modificadas)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3072384" y="1682496"/>
            <a:ext cx="2816352" cy="15727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3072384" y="1682496"/>
            <a:ext cx="2816352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3200400" y="179222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Reemplazar 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200400" y="21214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sed 's/http/https/g' nginx.conf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200400" y="246888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's/foo/bar/2' archivo.txt          # solo 2ª ocurrencia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200400" y="281635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-i 's/debug=true/debug=false/g' app.conf   # editar EN SITIO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016752" y="1682496"/>
            <a:ext cx="2816352" cy="15727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016752" y="1682496"/>
            <a:ext cx="2816352" cy="64008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6144768" y="179222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Eliminar líneas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6144768" y="21214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sed '/^#/d' archivo.conf               # eliminar comentarios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144768" y="246888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'/^$/d' archivo.txt                # eliminar líneas vacías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144768" y="281635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'3d' archivo.txt                   # eliminar línea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072384" y="3364992"/>
            <a:ext cx="2816352" cy="15727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3072384" y="3364992"/>
            <a:ext cx="2816352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3200400" y="34747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Mostrar líneas (p)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3200400" y="380390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sed -n '5,10p' archivo.log             # mostrar líneas 5 a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3200400" y="415137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-n '/ERROR/p' app.log              # solo líneas con ERROR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3200400" y="44988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-n '1p' /etc/passwd               # solo primera línea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016752" y="3364992"/>
            <a:ext cx="2816352" cy="15727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6016752" y="3364992"/>
            <a:ext cx="2816352" cy="64008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6144768" y="34747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Insertar / agregar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6144768" y="380390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sed '3i\# Agregado por sed' archivo  # insertar ANTES línea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144768" y="415137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'3a\# Agregado por sed' archivo  # insertar DESPUÉS línea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6144768" y="44988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sed '$a\EOF' archivo.txt              # agregar al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solidFill>
            <a:srgbClr val="1A1000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457200" y="4855464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💡  sed -i  edita el archivo original directamente (in-place). Hacé backup antes: cp archivo archivo.bak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05  //  awk — Procesador de columnas y patrones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awk procesa texto por campos ($1 $2 ... $NF). Ideal para logs tabulados y CSVs.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74320" y="1207008"/>
            <a:ext cx="4160520" cy="2011680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274320" y="1207008"/>
            <a:ext cx="4160520" cy="64008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11480" y="1298448"/>
            <a:ext cx="3858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Variables automáticas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365760" y="1664208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420624" y="168249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$0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1591056" y="1682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Línea completa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365760" y="1956816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20624" y="197510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$1 $2 ... $N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1591056" y="197510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Campo 1, 2, ... N (separados por FS)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365760" y="2249424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420624" y="226771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$NF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1591056" y="226771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Último campo (Number of Fields)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365760" y="2542032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420624" y="256032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NR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1591056" y="256032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Número de registro (línea actual)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365760" y="2834640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420624" y="285292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NF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1591056" y="285292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Número total de campos en la línea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365760" y="3127248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420624" y="314553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1591056" y="314553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Field Separator (por defecto: espacio/tab)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365760" y="3419856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420624" y="343814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OFS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1591056" y="343814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Output Field Separator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365760" y="3712464"/>
            <a:ext cx="3977640" cy="25603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420624" y="37307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1591056" y="373075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Record Separator (por defecto: newline)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617720" y="1207008"/>
            <a:ext cx="4251960" cy="2011680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4617720" y="1207008"/>
            <a:ext cx="4251960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4754880" y="1298448"/>
            <a:ext cx="3950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Estructura del programa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709160" y="1682496"/>
            <a:ext cx="4069080" cy="1463040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4800600" y="1719072"/>
            <a:ext cx="3886200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awk 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  BEGIN { accion_inicial }  # antes de leer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  /patrón/ { accion }      # si línea coincide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  condición { accion }     # si condición es true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  { accion }               # cada línea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  END { accion_final }     # después de leer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' archivo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74320" y="3346704"/>
            <a:ext cx="4315968" cy="71323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274320" y="3346704"/>
            <a:ext cx="4315968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02336" y="3456432"/>
            <a:ext cx="4059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Extraer columnas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02336" y="3730752"/>
            <a:ext cx="4059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# Columnas 1 y 3 de /etc/passwd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awk -F: '{print $1, $3}' /etc/passwd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root 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juan 1000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718304" y="3346704"/>
            <a:ext cx="4315968" cy="71323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4718304" y="3346704"/>
            <a:ext cx="4315968" cy="640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4846320" y="3456432"/>
            <a:ext cx="4059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Filtrar por condición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846320" y="3730752"/>
            <a:ext cx="4059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# Usuarios con UID &gt;= 1000 (usuarios reales)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awk -F: '$3 &gt;= 1000 {print $1}' /etc/passwd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juan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274320" y="4151376"/>
            <a:ext cx="4315968" cy="71323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274320" y="4151376"/>
            <a:ext cx="4315968" cy="64008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402336" y="4261104"/>
            <a:ext cx="4059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Sumar una columna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402336" y="4535424"/>
            <a:ext cx="4059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# Total de bytes usados en el directorio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ls -l | awk '{suma += $5} END {print suma}'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148320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718304" y="4151376"/>
            <a:ext cx="4315968" cy="71323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4718304" y="4151376"/>
            <a:ext cx="4315968" cy="64008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4846320" y="4261104"/>
            <a:ext cx="4059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Reporte con BEGIN/END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4846320" y="4535424"/>
            <a:ext cx="4059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awk 'BEGIN{print "=== Reporte ==="}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  /ERROR/{n++}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  END{print n " errores"}' app.log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"awk -F: '$3==0{print $1}' /etc/passwd  →  el único resultado debería ser root."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06  //  find — Buscar y actuar sobre archivos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find no solo busca — ejecuta acciones sobre cada resultado. El bisturí del sistema.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D1117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457200" y="123444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find  [ruta]  [expresiones/filtros]  [acciones]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274320" y="1700784"/>
            <a:ext cx="2816352" cy="12618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274320" y="1700784"/>
            <a:ext cx="2816352" cy="6400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402336" y="18105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Tipo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02336" y="211226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457200" y="213055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-type 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1737360" y="213055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Archivos regulares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02336" y="238658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457200" y="24048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-type 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1737360" y="24048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Directorios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402336" y="266090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457200" y="267919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-type 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1737360" y="267919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Symlinks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218688" y="1700784"/>
            <a:ext cx="2816352" cy="12618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3218688" y="1700784"/>
            <a:ext cx="2816352" cy="6400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3346704" y="18105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346704" y="211226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3401568" y="213055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-name '*.sh'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681728" y="213055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Por nombre/patrón (case sensitive)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3346704" y="238658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3401568" y="24048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-iname '*.SH'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681728" y="24048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Nombre case insensitive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3346704" y="266090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3401568" y="267919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-path '*log*'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681728" y="267919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Ruta completa contiene 'log'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6163056" y="1700784"/>
            <a:ext cx="2816352" cy="12618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6163056" y="1700784"/>
            <a:ext cx="2816352" cy="6400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6291072" y="18105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Tamaño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6291072" y="211226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6345936" y="213055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-size +100M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7626096" y="213055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Más de 100 MB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291072" y="238658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6345936" y="24048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-size -1k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7626096" y="24048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Menos de 1 KB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6291072" y="2660904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6345936" y="267919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-empty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7626096" y="267919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Archivos/dirs vacíos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274320" y="3054096"/>
            <a:ext cx="2816352" cy="12618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274320" y="3054096"/>
            <a:ext cx="2816352" cy="6400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402336" y="316382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Tiempo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402336" y="346557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457200" y="348386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-mtime -7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1737360" y="348386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Modificado hace menos de 7 días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402336" y="373989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457200" y="375818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-mtime +30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1737360" y="375818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No modificado hace más de 30 días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402336" y="401421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457200" y="403250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-newer ref.txt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1737360" y="403250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Más nuevo que ref.txt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3218688" y="3054096"/>
            <a:ext cx="2816352" cy="12618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3218688" y="3054096"/>
            <a:ext cx="2816352" cy="6400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3346704" y="316382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Permisos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3346704" y="346557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3401568" y="348386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-perm 644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4681728" y="348386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Exactamente permiso 644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3346704" y="373989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3401568" y="375818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-perm -4000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4681728" y="375818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SUID activo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3346704" y="401421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3401568" y="403250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-user juan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4681728" y="403250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Pertenece al usuario juan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6163056" y="3054096"/>
            <a:ext cx="2816352" cy="1261872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6163056" y="3054096"/>
            <a:ext cx="2816352" cy="6400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"/>
          <p:cNvSpPr/>
          <p:nvPr/>
        </p:nvSpPr>
        <p:spPr>
          <a:xfrm>
            <a:off x="6291072" y="316382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Acciones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6291072" y="346557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6345936" y="348386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-exec cmd {} \;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7626096" y="348386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Ejecutar cmd por cada resultado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6291072" y="373989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6345936" y="375818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-exec cmd {} 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7626096" y="375818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Ejecutar cmd con todos juntos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6291072" y="4014216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6345936" y="403250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-delete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7626096" y="403250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Borrar (¡cuidado!)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457200" y="4507992"/>
            <a:ext cx="8321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find /var/log -name "*.log" -mtime +30 -exec rm {} \;    # borrar logs viejos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457200" y="4654296"/>
            <a:ext cx="8321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find . -name "*.sh" -exec chmod +x {} +                   # hacer ejecutables todos los scripts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"find / -perm -4000 -type f 2&gt;/dev/null  →  primer comando de un pentester en cualquier sistema."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07  //  Vim Intermedio — Movimiento y Operadores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Vim habla un lenguaje: [operador][movimiento]. Aprendés el idioma, no los comandos.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274320" y="1207008"/>
            <a:ext cx="8595360" cy="6583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274320" y="1207008"/>
            <a:ext cx="8595360" cy="6400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457200" y="13167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El lenguaje de Vim: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2286000" y="1316736"/>
            <a:ext cx="1234440" cy="5029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2286000" y="132588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2286000" y="162763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operador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(delete)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3657600" y="1316736"/>
            <a:ext cx="1234440" cy="5029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3657600" y="132588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3657600" y="162763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cantidad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(opcional)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5029200" y="1316736"/>
            <a:ext cx="1234440" cy="5029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5029200" y="132588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5029200" y="162763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movimiento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(word)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6400800" y="1316736"/>
            <a:ext cx="1234440" cy="5029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8B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6400800" y="132588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6400800" y="162763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→ resultado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7772400" y="1316736"/>
            <a:ext cx="1234440" cy="502920"/>
          </a:xfrm>
          <a:prstGeom prst="rect">
            <a:avLst/>
          </a:prstGeom>
          <a:solidFill>
            <a:srgbClr val="243446"/>
          </a:solidFill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7772400" y="132588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d2w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7772400" y="162763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borrar 2 palabras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274320" y="1956816"/>
            <a:ext cx="2606040" cy="15727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274320" y="1956816"/>
            <a:ext cx="2606040" cy="64008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411480" y="204825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Operadores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365760" y="2359152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402336" y="2377440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749808" y="2377440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delete (borrar)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365760" y="2578608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402336" y="2596896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749808" y="2596896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change (borrar y entrar en insert)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365760" y="2798064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402336" y="2816352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749808" y="2816352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yank (copiar)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365760" y="3017520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402336" y="3035808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749808" y="3035808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visual (seleccionar)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365760" y="3236976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402336" y="3255264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749808" y="3255264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autoindent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365760" y="3456432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402336" y="3474720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&gt;/&lt;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749808" y="3474720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indentar / des-indentar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3017520" y="1956816"/>
            <a:ext cx="2606040" cy="15727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3017520" y="1956816"/>
            <a:ext cx="260604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"/>
          <p:cNvSpPr/>
          <p:nvPr/>
        </p:nvSpPr>
        <p:spPr>
          <a:xfrm>
            <a:off x="3154680" y="204825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Movimientos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3108960" y="2359152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3145536" y="2377440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w /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3858768" y="2377440"/>
            <a:ext cx="16093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próxima/anterior palabra (word/back)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3108960" y="2578608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"/>
          <p:cNvSpPr/>
          <p:nvPr/>
        </p:nvSpPr>
        <p:spPr>
          <a:xfrm>
            <a:off x="3145536" y="2596896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3858768" y="2596896"/>
            <a:ext cx="16093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final de la palabra 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108960" y="2798064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3145536" y="2816352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0 / $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3858768" y="2816352"/>
            <a:ext cx="16093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inicio / fin de línea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0"/>
          <p:cNvSpPr/>
          <p:nvPr/>
        </p:nvSpPr>
        <p:spPr>
          <a:xfrm>
            <a:off x="3108960" y="3017520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3145536" y="3035808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{ /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3858768" y="3035808"/>
            <a:ext cx="16093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párrafo anterior / siguiente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3108960" y="3236976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3145536" y="3255264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t( / f(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3858768" y="3255264"/>
            <a:ext cx="16093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hasta/encontrar carácter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3108960" y="3456432"/>
            <a:ext cx="242316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0"/>
          <p:cNvSpPr/>
          <p:nvPr/>
        </p:nvSpPr>
        <p:spPr>
          <a:xfrm>
            <a:off x="3145536" y="3474720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i" / a"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3858768" y="3474720"/>
            <a:ext cx="16093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dentro de / alrededor de comillas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5760720" y="1956816"/>
            <a:ext cx="3108960" cy="157276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0"/>
          <p:cNvSpPr/>
          <p:nvPr/>
        </p:nvSpPr>
        <p:spPr>
          <a:xfrm>
            <a:off x="5760720" y="1956816"/>
            <a:ext cx="3108960" cy="6400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0"/>
          <p:cNvSpPr/>
          <p:nvPr/>
        </p:nvSpPr>
        <p:spPr>
          <a:xfrm>
            <a:off x="5897880" y="20482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Combos poderosos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5852160" y="2359152"/>
            <a:ext cx="292608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0"/>
          <p:cNvSpPr/>
          <p:nvPr/>
        </p:nvSpPr>
        <p:spPr>
          <a:xfrm>
            <a:off x="5888736" y="2377440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ciw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6437376" y="2377440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change inner word — reemplazar palabra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5852160" y="2578608"/>
            <a:ext cx="292608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0"/>
          <p:cNvSpPr/>
          <p:nvPr/>
        </p:nvSpPr>
        <p:spPr>
          <a:xfrm>
            <a:off x="5888736" y="2596896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di"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6437376" y="2596896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delete inside "" — borrar contenido entre comillas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5852160" y="2798064"/>
            <a:ext cx="292608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0"/>
          <p:cNvSpPr/>
          <p:nvPr/>
        </p:nvSpPr>
        <p:spPr>
          <a:xfrm>
            <a:off x="5888736" y="2816352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ya(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6437376" y="2816352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yank around () — copiar todo incluyendo paréntesis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5852160" y="3017520"/>
            <a:ext cx="292608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0"/>
          <p:cNvSpPr/>
          <p:nvPr/>
        </p:nvSpPr>
        <p:spPr>
          <a:xfrm>
            <a:off x="5888736" y="3035808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=G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6437376" y="3035808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re-indentar desde cursor hasta el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5852160" y="3236976"/>
            <a:ext cx="292608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0"/>
          <p:cNvSpPr/>
          <p:nvPr/>
        </p:nvSpPr>
        <p:spPr>
          <a:xfrm>
            <a:off x="5888736" y="325526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gUw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6437376" y="3255264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convertir palabra a MAYÚSCULAS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0"/>
          <p:cNvSpPr/>
          <p:nvPr/>
        </p:nvSpPr>
        <p:spPr>
          <a:xfrm>
            <a:off x="5852160" y="3456432"/>
            <a:ext cx="2926080" cy="18288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"/>
          <p:cNvSpPr/>
          <p:nvPr/>
        </p:nvSpPr>
        <p:spPr>
          <a:xfrm>
            <a:off x="5888736" y="3474720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6437376" y="3474720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alternar mayúscula/minúscula del carácter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274320" y="3758205"/>
            <a:ext cx="8595300" cy="1097400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0"/>
          <p:cNvSpPr/>
          <p:nvPr/>
        </p:nvSpPr>
        <p:spPr>
          <a:xfrm>
            <a:off x="274320" y="3611880"/>
            <a:ext cx="8595360" cy="64008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0"/>
          <p:cNvSpPr/>
          <p:nvPr/>
        </p:nvSpPr>
        <p:spPr>
          <a:xfrm>
            <a:off x="457200" y="37124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Búsqueda y sustitución global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411480" y="40050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:%s/foo/bar/g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2331720" y="400507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Reemplazar foo por bar en TODO el archivo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3264408" y="40050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:%s/foo/bar/gc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5184648" y="400507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Igual, pero pide confirmación en cada ocurrencia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6117336" y="40050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:5,15s/foo/bar/g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8037576" y="400507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Solo en líneas 5 a 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411480" y="433425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:'&lt;,'&gt;s/foo/bar/g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2331720" y="433425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Solo en la selección visual (visual mode)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3264408" y="433425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:%s/\s\+$//e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5184648" y="433425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Eliminar espacios al final de cada línea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6117336" y="433425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:%s/^/    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8037576" y="433425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Indentar todo el archivo con 4 espacios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0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"d2w  =  delete 2 words.  ci"  =  change inside quotes. Aprendé el idioma, no los atajos."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08  //  Vim Avanzado — Macros · Splits · Registros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1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472B6"/>
                </a:solidFill>
                <a:latin typeface="Calibri"/>
                <a:ea typeface="Calibri"/>
                <a:cs typeface="Calibri"/>
                <a:sym typeface="Calibri"/>
              </a:rPr>
              <a:t>Estas tres funciones transforman Vim de editor a entorno de trabajo profesional.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274320" y="1207008"/>
            <a:ext cx="2816352" cy="338328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1"/>
          <p:cNvSpPr/>
          <p:nvPr/>
        </p:nvSpPr>
        <p:spPr>
          <a:xfrm>
            <a:off x="274320" y="1207008"/>
            <a:ext cx="2816352" cy="64008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1"/>
          <p:cNvSpPr/>
          <p:nvPr/>
        </p:nvSpPr>
        <p:spPr>
          <a:xfrm>
            <a:off x="411480" y="1298448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⏺  Macros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1"/>
          <p:cNvSpPr/>
          <p:nvPr/>
        </p:nvSpPr>
        <p:spPr>
          <a:xfrm>
            <a:off x="411480" y="1664208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Graba una secuencia de teclas y la repite las veces que necesites.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365760" y="2176272"/>
            <a:ext cx="365760" cy="365760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1"/>
          <p:cNvSpPr/>
          <p:nvPr/>
        </p:nvSpPr>
        <p:spPr>
          <a:xfrm>
            <a:off x="365760" y="21762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786384" y="2176272"/>
            <a:ext cx="2231136" cy="34747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1"/>
          <p:cNvSpPr/>
          <p:nvPr/>
        </p:nvSpPr>
        <p:spPr>
          <a:xfrm>
            <a:off x="841248" y="2194560"/>
            <a:ext cx="621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qa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1499616" y="219456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Grabar macro en registro 'a'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1"/>
          <p:cNvSpPr/>
          <p:nvPr/>
        </p:nvSpPr>
        <p:spPr>
          <a:xfrm>
            <a:off x="365760" y="2578608"/>
            <a:ext cx="365760" cy="365760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1"/>
          <p:cNvSpPr/>
          <p:nvPr/>
        </p:nvSpPr>
        <p:spPr>
          <a:xfrm>
            <a:off x="365760" y="25786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786384" y="2578608"/>
            <a:ext cx="2231136" cy="34747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1"/>
          <p:cNvSpPr/>
          <p:nvPr/>
        </p:nvSpPr>
        <p:spPr>
          <a:xfrm>
            <a:off x="841248" y="2596896"/>
            <a:ext cx="621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1499616" y="2596896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Hacer las acciones que querés grabar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365760" y="2980944"/>
            <a:ext cx="365760" cy="365760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1"/>
          <p:cNvSpPr/>
          <p:nvPr/>
        </p:nvSpPr>
        <p:spPr>
          <a:xfrm>
            <a:off x="365760" y="29809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786384" y="2980944"/>
            <a:ext cx="2231136" cy="34747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1"/>
          <p:cNvSpPr/>
          <p:nvPr/>
        </p:nvSpPr>
        <p:spPr>
          <a:xfrm>
            <a:off x="841248" y="2999232"/>
            <a:ext cx="621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1499616" y="2999232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Detener la grabación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365760" y="3383280"/>
            <a:ext cx="365760" cy="365760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1"/>
          <p:cNvSpPr/>
          <p:nvPr/>
        </p:nvSpPr>
        <p:spPr>
          <a:xfrm>
            <a:off x="365760" y="3383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786384" y="3383280"/>
            <a:ext cx="2231136" cy="34747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1"/>
          <p:cNvSpPr/>
          <p:nvPr/>
        </p:nvSpPr>
        <p:spPr>
          <a:xfrm>
            <a:off x="841248" y="3401568"/>
            <a:ext cx="621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@a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1499616" y="3401568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Ejecutar macro 'a' una vez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365760" y="3785616"/>
            <a:ext cx="365760" cy="365760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1"/>
          <p:cNvSpPr/>
          <p:nvPr/>
        </p:nvSpPr>
        <p:spPr>
          <a:xfrm>
            <a:off x="365760" y="37856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786384" y="3785616"/>
            <a:ext cx="2231136" cy="34747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1"/>
          <p:cNvSpPr/>
          <p:nvPr/>
        </p:nvSpPr>
        <p:spPr>
          <a:xfrm>
            <a:off x="841248" y="3803904"/>
            <a:ext cx="621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10@a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1499616" y="3803904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Ejecutar macro 'a' 10 veces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365760" y="4187952"/>
            <a:ext cx="365760" cy="365760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>
            <a:off x="365760" y="4187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786384" y="4187952"/>
            <a:ext cx="2231136" cy="34747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>
            <a:off x="841248" y="4206240"/>
            <a:ext cx="621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@@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1499616" y="420624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Repetir la última macro ejecutada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365760" y="4480560"/>
            <a:ext cx="2560320" cy="29260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1"/>
          <p:cNvSpPr/>
          <p:nvPr/>
        </p:nvSpPr>
        <p:spPr>
          <a:xfrm>
            <a:off x="457200" y="45262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# Agregar ; al final de 100 líneas: q a → $ → a → ; → ESC → j → q → 99@a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3246120" y="1207008"/>
            <a:ext cx="2816352" cy="338328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1"/>
          <p:cNvSpPr/>
          <p:nvPr/>
        </p:nvSpPr>
        <p:spPr>
          <a:xfrm>
            <a:off x="3246120" y="1207008"/>
            <a:ext cx="2816352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"/>
          <p:cNvSpPr/>
          <p:nvPr/>
        </p:nvSpPr>
        <p:spPr>
          <a:xfrm>
            <a:off x="3383280" y="1298448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⬜  Splits (ventanas)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3383280" y="1664208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Dividí la pantalla para ver y editar varios archivos a la vez.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3337560" y="217627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1"/>
          <p:cNvSpPr/>
          <p:nvPr/>
        </p:nvSpPr>
        <p:spPr>
          <a:xfrm>
            <a:off x="3383280" y="21945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:sp archivo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4626864" y="219456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Split horizontal (arriba/abajo)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3337560" y="245059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1"/>
          <p:cNvSpPr/>
          <p:nvPr/>
        </p:nvSpPr>
        <p:spPr>
          <a:xfrm>
            <a:off x="3383280" y="24688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:vsp archivo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4626864" y="24688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Split vertical (izquierda/derecha)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3337560" y="272491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1"/>
          <p:cNvSpPr/>
          <p:nvPr/>
        </p:nvSpPr>
        <p:spPr>
          <a:xfrm>
            <a:off x="3383280" y="274320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Ctrl+w 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4626864" y="27432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Cambiar al siguiente panel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3337560" y="299923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1"/>
          <p:cNvSpPr/>
          <p:nvPr/>
        </p:nvSpPr>
        <p:spPr>
          <a:xfrm>
            <a:off x="3383280" y="301752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Ctrl+w h/j/k/l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4626864" y="301752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Moverse entre paneles (como hjkl)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3337560" y="327355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1"/>
          <p:cNvSpPr/>
          <p:nvPr/>
        </p:nvSpPr>
        <p:spPr>
          <a:xfrm>
            <a:off x="3383280" y="329184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Ctrl+w =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4626864" y="329184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Igualar tamaño de todos los paneles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1"/>
          <p:cNvSpPr/>
          <p:nvPr/>
        </p:nvSpPr>
        <p:spPr>
          <a:xfrm>
            <a:off x="3337560" y="354787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1"/>
          <p:cNvSpPr/>
          <p:nvPr/>
        </p:nvSpPr>
        <p:spPr>
          <a:xfrm>
            <a:off x="3383280" y="35661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Ctrl+w 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1"/>
          <p:cNvSpPr/>
          <p:nvPr/>
        </p:nvSpPr>
        <p:spPr>
          <a:xfrm>
            <a:off x="4626864" y="356616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Cerrar todos excepto el actual (only)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1"/>
          <p:cNvSpPr/>
          <p:nvPr/>
        </p:nvSpPr>
        <p:spPr>
          <a:xfrm>
            <a:off x="3337560" y="382219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1"/>
          <p:cNvSpPr/>
          <p:nvPr/>
        </p:nvSpPr>
        <p:spPr>
          <a:xfrm>
            <a:off x="3383280" y="3840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:q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1"/>
          <p:cNvSpPr/>
          <p:nvPr/>
        </p:nvSpPr>
        <p:spPr>
          <a:xfrm>
            <a:off x="4626864" y="38404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Cerrar el panel 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1"/>
          <p:cNvSpPr/>
          <p:nvPr/>
        </p:nvSpPr>
        <p:spPr>
          <a:xfrm>
            <a:off x="3337560" y="4096512"/>
            <a:ext cx="2633472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1"/>
          <p:cNvSpPr/>
          <p:nvPr/>
        </p:nvSpPr>
        <p:spPr>
          <a:xfrm>
            <a:off x="3383280" y="411480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:qa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1"/>
          <p:cNvSpPr/>
          <p:nvPr/>
        </p:nvSpPr>
        <p:spPr>
          <a:xfrm>
            <a:off x="4626864" y="41148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Cerrar todos los paneles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1"/>
          <p:cNvSpPr/>
          <p:nvPr/>
        </p:nvSpPr>
        <p:spPr>
          <a:xfrm>
            <a:off x="3337560" y="4480560"/>
            <a:ext cx="2560320" cy="29260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1"/>
          <p:cNvSpPr/>
          <p:nvPr/>
        </p:nvSpPr>
        <p:spPr>
          <a:xfrm>
            <a:off x="3429000" y="45262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# :vsp  →  editar script y su log al mismo tiempo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1"/>
          <p:cNvSpPr/>
          <p:nvPr/>
        </p:nvSpPr>
        <p:spPr>
          <a:xfrm>
            <a:off x="6217920" y="1207008"/>
            <a:ext cx="2743200" cy="338328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1"/>
          <p:cNvSpPr/>
          <p:nvPr/>
        </p:nvSpPr>
        <p:spPr>
          <a:xfrm>
            <a:off x="6217920" y="1207008"/>
            <a:ext cx="2743200" cy="6400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1"/>
          <p:cNvSpPr/>
          <p:nvPr/>
        </p:nvSpPr>
        <p:spPr>
          <a:xfrm>
            <a:off x="6355080" y="1298448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📋  Registros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1"/>
          <p:cNvSpPr/>
          <p:nvPr/>
        </p:nvSpPr>
        <p:spPr>
          <a:xfrm>
            <a:off x="6355080" y="166420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Vim tiene múltiples portapapeles (registros a-z y especiales).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1"/>
          <p:cNvSpPr/>
          <p:nvPr/>
        </p:nvSpPr>
        <p:spPr>
          <a:xfrm>
            <a:off x="6309360" y="217627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1"/>
          <p:cNvSpPr/>
          <p:nvPr/>
        </p:nvSpPr>
        <p:spPr>
          <a:xfrm>
            <a:off x="6355080" y="219456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"a-z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1"/>
          <p:cNvSpPr/>
          <p:nvPr/>
        </p:nvSpPr>
        <p:spPr>
          <a:xfrm>
            <a:off x="7059168" y="219456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Registros nombrados (guardan texto)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1"/>
          <p:cNvSpPr/>
          <p:nvPr/>
        </p:nvSpPr>
        <p:spPr>
          <a:xfrm>
            <a:off x="6309360" y="245059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1"/>
          <p:cNvSpPr/>
          <p:nvPr/>
        </p:nvSpPr>
        <p:spPr>
          <a:xfrm>
            <a:off x="6355080" y="24688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1"/>
          <p:cNvSpPr/>
          <p:nvPr/>
        </p:nvSpPr>
        <p:spPr>
          <a:xfrm>
            <a:off x="7059168" y="246888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Último texto copiado con y (yank)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1"/>
          <p:cNvSpPr/>
          <p:nvPr/>
        </p:nvSpPr>
        <p:spPr>
          <a:xfrm>
            <a:off x="6309360" y="272491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1"/>
          <p:cNvSpPr/>
          <p:nvPr/>
        </p:nvSpPr>
        <p:spPr>
          <a:xfrm>
            <a:off x="6355080" y="274320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"1-9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1"/>
          <p:cNvSpPr/>
          <p:nvPr/>
        </p:nvSpPr>
        <p:spPr>
          <a:xfrm>
            <a:off x="7059168" y="274320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Historial de los últimos 9 borrados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1"/>
          <p:cNvSpPr/>
          <p:nvPr/>
        </p:nvSpPr>
        <p:spPr>
          <a:xfrm>
            <a:off x="6309360" y="299923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1"/>
          <p:cNvSpPr/>
          <p:nvPr/>
        </p:nvSpPr>
        <p:spPr>
          <a:xfrm>
            <a:off x="6355080" y="301752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"-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1"/>
          <p:cNvSpPr/>
          <p:nvPr/>
        </p:nvSpPr>
        <p:spPr>
          <a:xfrm>
            <a:off x="7059168" y="301752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Último texto borrado menor a 1 línea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1"/>
          <p:cNvSpPr/>
          <p:nvPr/>
        </p:nvSpPr>
        <p:spPr>
          <a:xfrm>
            <a:off x="6309360" y="327355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1"/>
          <p:cNvSpPr/>
          <p:nvPr/>
        </p:nvSpPr>
        <p:spPr>
          <a:xfrm>
            <a:off x="6355080" y="329184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1"/>
          <p:cNvSpPr/>
          <p:nvPr/>
        </p:nvSpPr>
        <p:spPr>
          <a:xfrm>
            <a:off x="7059168" y="329184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Portapapeles del sistema (X11/Wayland)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1"/>
          <p:cNvSpPr/>
          <p:nvPr/>
        </p:nvSpPr>
        <p:spPr>
          <a:xfrm>
            <a:off x="6309360" y="354787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1"/>
          <p:cNvSpPr/>
          <p:nvPr/>
        </p:nvSpPr>
        <p:spPr>
          <a:xfrm>
            <a:off x="6355080" y="356616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1"/>
          <p:cNvSpPr/>
          <p:nvPr/>
        </p:nvSpPr>
        <p:spPr>
          <a:xfrm>
            <a:off x="7059168" y="356616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Selección del ratón (X11)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1"/>
          <p:cNvSpPr/>
          <p:nvPr/>
        </p:nvSpPr>
        <p:spPr>
          <a:xfrm>
            <a:off x="6309360" y="382219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1"/>
          <p:cNvSpPr/>
          <p:nvPr/>
        </p:nvSpPr>
        <p:spPr>
          <a:xfrm>
            <a:off x="6355080" y="3840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7059168" y="384048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Nombre del archivo 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6309360" y="4096512"/>
            <a:ext cx="2560320" cy="237744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1"/>
          <p:cNvSpPr/>
          <p:nvPr/>
        </p:nvSpPr>
        <p:spPr>
          <a:xfrm>
            <a:off x="6355080" y="411480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":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1"/>
          <p:cNvSpPr/>
          <p:nvPr/>
        </p:nvSpPr>
        <p:spPr>
          <a:xfrm>
            <a:off x="7059168" y="411480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Último comando ejecutado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1"/>
          <p:cNvSpPr/>
          <p:nvPr/>
        </p:nvSpPr>
        <p:spPr>
          <a:xfrm>
            <a:off x="6309360" y="4480560"/>
            <a:ext cx="2560320" cy="29260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1"/>
          <p:cNvSpPr/>
          <p:nvPr/>
        </p:nvSpPr>
        <p:spPr>
          <a:xfrm>
            <a:off x="6400800" y="45262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"ay3j  →  copia 3 líneas al registro 'a'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"ap   →  pega el contenido del registro 'a'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1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"Las macros de Vim son turing-completas. Todo lo que podés hacer a mano, lo puede repetir Vim."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4CC16"/>
          </a:solidFill>
          <a:ln cap="flat" cmpd="sng" w="12700">
            <a:solidFill>
              <a:srgbClr val="84CC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09  //  ~/.vimrc — Configurar tu entorno Vim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C1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4CC16"/>
                </a:solidFill>
                <a:latin typeface="Calibri"/>
                <a:ea typeface="Calibri"/>
                <a:cs typeface="Calibri"/>
                <a:sym typeface="Calibri"/>
              </a:rPr>
              <a:t>El .vimrc es tu contrato con Vim. Se ejecuta al iniciar y define cómo querés trabajar.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"/>
          <p:cNvSpPr/>
          <p:nvPr/>
        </p:nvSpPr>
        <p:spPr>
          <a:xfrm>
            <a:off x="274325" y="1207000"/>
            <a:ext cx="5074800" cy="3328500"/>
          </a:xfrm>
          <a:prstGeom prst="rect">
            <a:avLst/>
          </a:prstGeom>
          <a:solidFill>
            <a:srgbClr val="0D1117"/>
          </a:solidFill>
          <a:ln cap="flat" cmpd="sng" w="19050">
            <a:solidFill>
              <a:srgbClr val="84CC1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2"/>
          <p:cNvSpPr/>
          <p:nvPr/>
        </p:nvSpPr>
        <p:spPr>
          <a:xfrm>
            <a:off x="274320" y="1207008"/>
            <a:ext cx="5074920" cy="274320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243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2"/>
          <p:cNvSpPr/>
          <p:nvPr/>
        </p:nvSpPr>
        <p:spPr>
          <a:xfrm>
            <a:off x="347472" y="1271016"/>
            <a:ext cx="109728" cy="109728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2"/>
          <p:cNvSpPr/>
          <p:nvPr/>
        </p:nvSpPr>
        <p:spPr>
          <a:xfrm>
            <a:off x="502920" y="1271016"/>
            <a:ext cx="109728" cy="109728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2"/>
          <p:cNvSpPr/>
          <p:nvPr/>
        </p:nvSpPr>
        <p:spPr>
          <a:xfrm>
            <a:off x="658368" y="1271016"/>
            <a:ext cx="109728" cy="109728"/>
          </a:xfrm>
          <a:prstGeom prst="rect">
            <a:avLst/>
          </a:prstGeom>
          <a:solidFill>
            <a:srgbClr val="84CC16"/>
          </a:solidFill>
          <a:ln cap="flat" cmpd="sng" w="12700">
            <a:solidFill>
              <a:srgbClr val="84CC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2"/>
          <p:cNvSpPr/>
          <p:nvPr/>
        </p:nvSpPr>
        <p:spPr>
          <a:xfrm>
            <a:off x="914400" y="12344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~/.vimrc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"/>
          <p:cNvSpPr/>
          <p:nvPr/>
        </p:nvSpPr>
        <p:spPr>
          <a:xfrm>
            <a:off x="384048" y="1517904"/>
            <a:ext cx="4828032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=========================================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~/.vimrc - Configuración CTT Linux 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=========================================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--- Interfaz ---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number          " mostrar números de línea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relativenumber  " números relativos (útil para d5j)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cursorline      " resaltar línea del cursor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showcmd         " mostrar comando mientras lo escribís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ruler           " posición del cursor en statusbar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wildmenu        " autocompletado de comandos con Tab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--- Búsqueda ---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hlsearch        " resaltar resultados de búsqueda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incsearch       " búsqueda incremental mientras escribís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ignorecase      " ignorar mayúsculas al buscar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smartcase       " si hay mayúsculas, ser sensible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--- Indentación ---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tabstop=4       " tab = 4 espacios visualmente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shiftwidth=4    " indentar con 4 espacios (&gt;&gt;, &lt;&lt;)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expandtab       " convertir tabs en espacios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autoindent      " mantener indentación al nuevo línea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smartindent     " indentación inteligente para código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--- Sintaxis y colores ---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syntax on           " resaltado de sintaxis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background=dark " tema oscuro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--- Comportamiento ---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backspace=indent,eol,start  " backspace normal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clipboard=unnamedplus       " usar portapapeles del sistema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mouse=a                     " habilitar ratón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set noswapfile                  " sin archivos .swp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" --- Atajos personalizados (leader = ,) ---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let mapleader = ","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nnoremap &lt;leader&gt;w :w&lt;CR&gt;       " ,w = guardar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nnoremap &lt;leader&gt;q :q!&lt;CR&gt;      " ,q = salir sin guardar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nnoremap &lt;leader&gt;e :Explore&lt;CR&gt; " ,e = explorador de archivos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nnoremap &lt;leader&gt;/ :noh&lt;CR&gt;     " ,/ = limpiar búsqueda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2"/>
          <p:cNvSpPr/>
          <p:nvPr/>
        </p:nvSpPr>
        <p:spPr>
          <a:xfrm>
            <a:off x="5486400" y="1207000"/>
            <a:ext cx="3383400" cy="3561900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84CC1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2"/>
          <p:cNvSpPr/>
          <p:nvPr/>
        </p:nvSpPr>
        <p:spPr>
          <a:xfrm>
            <a:off x="5486400" y="1207008"/>
            <a:ext cx="3383280" cy="64008"/>
          </a:xfrm>
          <a:prstGeom prst="rect">
            <a:avLst/>
          </a:prstGeom>
          <a:solidFill>
            <a:srgbClr val="84CC16"/>
          </a:solidFill>
          <a:ln cap="flat" cmpd="sng" w="12700">
            <a:solidFill>
              <a:srgbClr val="84CC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2"/>
          <p:cNvSpPr/>
          <p:nvPr/>
        </p:nvSpPr>
        <p:spPr>
          <a:xfrm>
            <a:off x="5623560" y="129844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C1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84CC16"/>
                </a:solidFill>
                <a:latin typeface="Consolas"/>
                <a:ea typeface="Consolas"/>
                <a:cs typeface="Consolas"/>
                <a:sym typeface="Consolas"/>
              </a:rPr>
              <a:t>Tips importantes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5577840" y="1664208"/>
            <a:ext cx="3200400" cy="5669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2"/>
          <p:cNvSpPr/>
          <p:nvPr/>
        </p:nvSpPr>
        <p:spPr>
          <a:xfrm>
            <a:off x="5614416" y="1700784"/>
            <a:ext cx="3291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5989320" y="1700784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Vimtutor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5989320" y="1938528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Ejecutá vimtutor en la terminal. Es el tutorial oficial de 30 minutos que viene con Vim. Obligatorio para principiantes.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2"/>
          <p:cNvSpPr/>
          <p:nvPr/>
        </p:nvSpPr>
        <p:spPr>
          <a:xfrm>
            <a:off x="5577840" y="2286000"/>
            <a:ext cx="3200400" cy="5669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2"/>
          <p:cNvSpPr/>
          <p:nvPr/>
        </p:nvSpPr>
        <p:spPr>
          <a:xfrm>
            <a:off x="5614416" y="2322576"/>
            <a:ext cx="3291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2"/>
          <p:cNvSpPr/>
          <p:nvPr/>
        </p:nvSpPr>
        <p:spPr>
          <a:xfrm>
            <a:off x="5989320" y="2322576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:Explore / netrw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2"/>
          <p:cNvSpPr/>
          <p:nvPr/>
        </p:nvSpPr>
        <p:spPr>
          <a:xfrm>
            <a:off x="5989320" y="2560320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Vim tiene un explorador de archivos integrado. :Explore (o :Ex) abre el árbol de directorios sin plugins.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2"/>
          <p:cNvSpPr/>
          <p:nvPr/>
        </p:nvSpPr>
        <p:spPr>
          <a:xfrm>
            <a:off x="5577840" y="2907792"/>
            <a:ext cx="3200400" cy="5669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2"/>
          <p:cNvSpPr/>
          <p:nvPr/>
        </p:nvSpPr>
        <p:spPr>
          <a:xfrm>
            <a:off x="5614416" y="2944368"/>
            <a:ext cx="3291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2"/>
          <p:cNvSpPr/>
          <p:nvPr/>
        </p:nvSpPr>
        <p:spPr>
          <a:xfrm>
            <a:off x="5989320" y="2944368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Marks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5989320" y="3182112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m a  → marcar posición 'a'    'a  → saltar a la marca 'a'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:marks  → listar todas las marcas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2"/>
          <p:cNvSpPr/>
          <p:nvPr/>
        </p:nvSpPr>
        <p:spPr>
          <a:xfrm>
            <a:off x="5577840" y="3529584"/>
            <a:ext cx="3200400" cy="5669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2"/>
          <p:cNvSpPr/>
          <p:nvPr/>
        </p:nvSpPr>
        <p:spPr>
          <a:xfrm>
            <a:off x="5614416" y="3566160"/>
            <a:ext cx="3291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2"/>
          <p:cNvSpPr/>
          <p:nvPr/>
        </p:nvSpPr>
        <p:spPr>
          <a:xfrm>
            <a:off x="5989320" y="3566160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Buffers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2"/>
          <p:cNvSpPr/>
          <p:nvPr/>
        </p:nvSpPr>
        <p:spPr>
          <a:xfrm>
            <a:off x="5989320" y="3803904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:ls  → listar archivos abiertos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:bn / :bp  → siguiente/anterior buffer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:b2  → ir al buffer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2"/>
          <p:cNvSpPr/>
          <p:nvPr/>
        </p:nvSpPr>
        <p:spPr>
          <a:xfrm>
            <a:off x="5577840" y="4151376"/>
            <a:ext cx="3200400" cy="5669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2"/>
          <p:cNvSpPr/>
          <p:nvPr/>
        </p:nvSpPr>
        <p:spPr>
          <a:xfrm>
            <a:off x="5614416" y="4187952"/>
            <a:ext cx="3291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2"/>
          <p:cNvSpPr/>
          <p:nvPr/>
        </p:nvSpPr>
        <p:spPr>
          <a:xfrm>
            <a:off x="5989320" y="4187952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Plugins esenciales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2"/>
          <p:cNvSpPr/>
          <p:nvPr/>
        </p:nvSpPr>
        <p:spPr>
          <a:xfrm>
            <a:off x="5989320" y="4425696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vim-plug: gestor de plugins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pathogen.vim: carga automática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CtrlP: búsqueda de archivos rápida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2"/>
          <p:cNvSpPr/>
          <p:nvPr/>
        </p:nvSpPr>
        <p:spPr>
          <a:xfrm>
            <a:off x="0" y="4942500"/>
            <a:ext cx="9144000" cy="2010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2"/>
          <p:cNvSpPr/>
          <p:nvPr/>
        </p:nvSpPr>
        <p:spPr>
          <a:xfrm>
            <a:off x="274325" y="4928627"/>
            <a:ext cx="8595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"cp ~/.vimrc /root/.vimrc  →  el primer comando en cualquier servidor nuevo al que te conectés."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3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10  //  Gestión de Procesos — ps · top · kill · jobs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Un proceso es un programa en ejecución. Cada uno tiene PID, PPID, usuario y estado.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3"/>
          <p:cNvSpPr/>
          <p:nvPr/>
        </p:nvSpPr>
        <p:spPr>
          <a:xfrm>
            <a:off x="274320" y="1207008"/>
            <a:ext cx="8595360" cy="502920"/>
          </a:xfrm>
          <a:prstGeom prst="rect">
            <a:avLst/>
          </a:prstGeom>
          <a:solidFill>
            <a:srgbClr val="0D1117"/>
          </a:solidFill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3"/>
          <p:cNvSpPr/>
          <p:nvPr/>
        </p:nvSpPr>
        <p:spPr>
          <a:xfrm>
            <a:off x="457200" y="122529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ps aux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457200" y="141732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6C90E"/>
                </a:solidFill>
                <a:latin typeface="Consolas"/>
                <a:ea typeface="Consolas"/>
                <a:cs typeface="Consolas"/>
                <a:sym typeface="Consolas"/>
              </a:rPr>
              <a:t>USER      PID  %CPU  %MEM    VSZ   RSS TTY  STAT START   TIME COMMAND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3"/>
          <p:cNvSpPr/>
          <p:nvPr/>
        </p:nvSpPr>
        <p:spPr>
          <a:xfrm>
            <a:off x="457200" y="159105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www-data  1234  0.2   1.5  12400  6144 ?    S    10:00  0:01 /usr/sbin/nginx -g daemon off;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3"/>
          <p:cNvSpPr/>
          <p:nvPr/>
        </p:nvSpPr>
        <p:spPr>
          <a:xfrm>
            <a:off x="274320" y="182880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Estados de proceso (columna STAT):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3"/>
          <p:cNvSpPr/>
          <p:nvPr/>
        </p:nvSpPr>
        <p:spPr>
          <a:xfrm>
            <a:off x="274320" y="2103120"/>
            <a:ext cx="2816352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3"/>
          <p:cNvSpPr/>
          <p:nvPr/>
        </p:nvSpPr>
        <p:spPr>
          <a:xfrm>
            <a:off x="274320" y="2103120"/>
            <a:ext cx="274320" cy="2926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3"/>
          <p:cNvSpPr/>
          <p:nvPr/>
        </p:nvSpPr>
        <p:spPr>
          <a:xfrm>
            <a:off x="274320" y="210312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3"/>
          <p:cNvSpPr/>
          <p:nvPr/>
        </p:nvSpPr>
        <p:spPr>
          <a:xfrm>
            <a:off x="603504" y="2139696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Running — en CPU ahora mismo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3"/>
          <p:cNvSpPr/>
          <p:nvPr/>
        </p:nvSpPr>
        <p:spPr>
          <a:xfrm>
            <a:off x="3218688" y="2103120"/>
            <a:ext cx="2816352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3"/>
          <p:cNvSpPr/>
          <p:nvPr/>
        </p:nvSpPr>
        <p:spPr>
          <a:xfrm>
            <a:off x="3218688" y="2103120"/>
            <a:ext cx="274320" cy="2926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3"/>
          <p:cNvSpPr/>
          <p:nvPr/>
        </p:nvSpPr>
        <p:spPr>
          <a:xfrm>
            <a:off x="3218688" y="210312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3"/>
          <p:cNvSpPr/>
          <p:nvPr/>
        </p:nvSpPr>
        <p:spPr>
          <a:xfrm>
            <a:off x="3547872" y="2139696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Sleeping — espera un evento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6163056" y="2103120"/>
            <a:ext cx="2816352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3"/>
          <p:cNvSpPr/>
          <p:nvPr/>
        </p:nvSpPr>
        <p:spPr>
          <a:xfrm>
            <a:off x="6163056" y="2103120"/>
            <a:ext cx="274320" cy="292608"/>
          </a:xfrm>
          <a:prstGeom prst="rect">
            <a:avLst/>
          </a:prstGeom>
          <a:solidFill>
            <a:srgbClr val="F6C90E"/>
          </a:solidFill>
          <a:ln cap="flat" cmpd="sng" w="12700">
            <a:solidFill>
              <a:srgbClr val="F6C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3"/>
          <p:cNvSpPr/>
          <p:nvPr/>
        </p:nvSpPr>
        <p:spPr>
          <a:xfrm>
            <a:off x="6163056" y="210312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3"/>
          <p:cNvSpPr/>
          <p:nvPr/>
        </p:nvSpPr>
        <p:spPr>
          <a:xfrm>
            <a:off x="6492240" y="2139696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Uninterruptible Sleep (I/O)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"/>
          <p:cNvSpPr/>
          <p:nvPr/>
        </p:nvSpPr>
        <p:spPr>
          <a:xfrm>
            <a:off x="274320" y="2450592"/>
            <a:ext cx="2816352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3"/>
          <p:cNvSpPr/>
          <p:nvPr/>
        </p:nvSpPr>
        <p:spPr>
          <a:xfrm>
            <a:off x="274320" y="2450592"/>
            <a:ext cx="274320" cy="2926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3"/>
          <p:cNvSpPr/>
          <p:nvPr/>
        </p:nvSpPr>
        <p:spPr>
          <a:xfrm>
            <a:off x="274320" y="245059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3"/>
          <p:cNvSpPr/>
          <p:nvPr/>
        </p:nvSpPr>
        <p:spPr>
          <a:xfrm>
            <a:off x="603504" y="2487168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Zombie — terminó pero no fue limpiado por el padre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3"/>
          <p:cNvSpPr/>
          <p:nvPr/>
        </p:nvSpPr>
        <p:spPr>
          <a:xfrm>
            <a:off x="3218688" y="2450592"/>
            <a:ext cx="2816352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3"/>
          <p:cNvSpPr/>
          <p:nvPr/>
        </p:nvSpPr>
        <p:spPr>
          <a:xfrm>
            <a:off x="3218688" y="2450592"/>
            <a:ext cx="274320" cy="292608"/>
          </a:xfrm>
          <a:prstGeom prst="rect">
            <a:avLst/>
          </a:prstGeom>
          <a:solidFill>
            <a:srgbClr val="8BA9C1"/>
          </a:solidFill>
          <a:ln cap="flat" cmpd="sng" w="12700">
            <a:solidFill>
              <a:srgbClr val="8B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3"/>
          <p:cNvSpPr/>
          <p:nvPr/>
        </p:nvSpPr>
        <p:spPr>
          <a:xfrm>
            <a:off x="3218688" y="245059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3"/>
          <p:cNvSpPr/>
          <p:nvPr/>
        </p:nvSpPr>
        <p:spPr>
          <a:xfrm>
            <a:off x="3547872" y="2487168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Stopped — detenido (Ctrl+Z)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3"/>
          <p:cNvSpPr/>
          <p:nvPr/>
        </p:nvSpPr>
        <p:spPr>
          <a:xfrm>
            <a:off x="6163056" y="2450592"/>
            <a:ext cx="2816352" cy="29260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3"/>
          <p:cNvSpPr/>
          <p:nvPr/>
        </p:nvSpPr>
        <p:spPr>
          <a:xfrm>
            <a:off x="6163056" y="2450592"/>
            <a:ext cx="274320" cy="292608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3"/>
          <p:cNvSpPr/>
          <p:nvPr/>
        </p:nvSpPr>
        <p:spPr>
          <a:xfrm>
            <a:off x="6163056" y="245059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3"/>
          <p:cNvSpPr/>
          <p:nvPr/>
        </p:nvSpPr>
        <p:spPr>
          <a:xfrm>
            <a:off x="6492240" y="2487168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Alta prioridad (nice negativo)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3"/>
          <p:cNvSpPr/>
          <p:nvPr/>
        </p:nvSpPr>
        <p:spPr>
          <a:xfrm>
            <a:off x="274320" y="2871216"/>
            <a:ext cx="4160520" cy="148132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3"/>
          <p:cNvSpPr/>
          <p:nvPr/>
        </p:nvSpPr>
        <p:spPr>
          <a:xfrm>
            <a:off x="274320" y="2871216"/>
            <a:ext cx="4160520" cy="640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3"/>
          <p:cNvSpPr/>
          <p:nvPr/>
        </p:nvSpPr>
        <p:spPr>
          <a:xfrm>
            <a:off x="411480" y="2962656"/>
            <a:ext cx="3858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Señales y kill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3"/>
          <p:cNvSpPr/>
          <p:nvPr/>
        </p:nvSpPr>
        <p:spPr>
          <a:xfrm>
            <a:off x="411480" y="3291840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kill -1 PID   # SIGHUP: Recarga config sin reiniciar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3"/>
          <p:cNvSpPr/>
          <p:nvPr/>
        </p:nvSpPr>
        <p:spPr>
          <a:xfrm>
            <a:off x="411480" y="3511296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kill -2 PID   # SIGINT: Ctrl+C — interrupción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3"/>
          <p:cNvSpPr/>
          <p:nvPr/>
        </p:nvSpPr>
        <p:spPr>
          <a:xfrm>
            <a:off x="411480" y="3730752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53E3E"/>
                </a:solidFill>
                <a:latin typeface="Consolas"/>
                <a:ea typeface="Consolas"/>
                <a:cs typeface="Consolas"/>
                <a:sym typeface="Consolas"/>
              </a:rPr>
              <a:t>kill -9 PID   # SIGKILL: Muerte inmediata, no puede ignorarse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3"/>
          <p:cNvSpPr/>
          <p:nvPr/>
        </p:nvSpPr>
        <p:spPr>
          <a:xfrm>
            <a:off x="411480" y="3950208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kill -15 PID   # SIGTERM: Terminación grácil (default de kill)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3"/>
          <p:cNvSpPr/>
          <p:nvPr/>
        </p:nvSpPr>
        <p:spPr>
          <a:xfrm>
            <a:off x="411480" y="4169664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kill -19 PID   # SIGSTOP: Pausa (Ctrl+Z en terminal)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3"/>
          <p:cNvSpPr/>
          <p:nvPr/>
        </p:nvSpPr>
        <p:spPr>
          <a:xfrm>
            <a:off x="4617720" y="2871216"/>
            <a:ext cx="4251960" cy="148132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3"/>
          <p:cNvSpPr/>
          <p:nvPr/>
        </p:nvSpPr>
        <p:spPr>
          <a:xfrm>
            <a:off x="4617720" y="2871216"/>
            <a:ext cx="4251960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3"/>
          <p:cNvSpPr/>
          <p:nvPr/>
        </p:nvSpPr>
        <p:spPr>
          <a:xfrm>
            <a:off x="4754880" y="2962656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Jobs — segundo plano y primer plano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3"/>
          <p:cNvSpPr/>
          <p:nvPr/>
        </p:nvSpPr>
        <p:spPr>
          <a:xfrm>
            <a:off x="4754880" y="3291840"/>
            <a:ext cx="3950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comando &amp;         # Iniciar en background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3"/>
          <p:cNvSpPr/>
          <p:nvPr/>
        </p:nvSpPr>
        <p:spPr>
          <a:xfrm>
            <a:off x="4754880" y="3511296"/>
            <a:ext cx="3950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Ctrl+Z            # Pausar proceso 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3"/>
          <p:cNvSpPr/>
          <p:nvPr/>
        </p:nvSpPr>
        <p:spPr>
          <a:xfrm>
            <a:off x="4754880" y="3730752"/>
            <a:ext cx="3950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jobs              # Listar jobs en background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3"/>
          <p:cNvSpPr/>
          <p:nvPr/>
        </p:nvSpPr>
        <p:spPr>
          <a:xfrm>
            <a:off x="4754880" y="3950208"/>
            <a:ext cx="3950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fg %1             # Traer job 1 al foreground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3"/>
          <p:cNvSpPr/>
          <p:nvPr/>
        </p:nvSpPr>
        <p:spPr>
          <a:xfrm>
            <a:off x="4754880" y="4169664"/>
            <a:ext cx="3950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bg %1             # Reanudar job 1 en background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3"/>
          <p:cNvSpPr/>
          <p:nvPr/>
        </p:nvSpPr>
        <p:spPr>
          <a:xfrm>
            <a:off x="4754880" y="4389120"/>
            <a:ext cx="3950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$ nohup cmd &amp;       # Resistir al cierre de sesión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3"/>
          <p:cNvSpPr/>
          <p:nvPr/>
        </p:nvSpPr>
        <p:spPr>
          <a:xfrm>
            <a:off x="274320" y="4425696"/>
            <a:ext cx="8595360" cy="347472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3"/>
          <p:cNvSpPr/>
          <p:nvPr/>
        </p:nvSpPr>
        <p:spPr>
          <a:xfrm>
            <a:off x="457200" y="44622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top  →  monitor interactivo de procesos en tiempo real  ·  q salir  ·  k matar  ·  r renombrizar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3"/>
          <p:cNvSpPr/>
          <p:nvPr/>
        </p:nvSpPr>
        <p:spPr>
          <a:xfrm>
            <a:off x="5029200" y="44622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htop  →  versión con colores e interfaz mejorada  (sudo apt install htop)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3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"kill -9 es el último recurso. Siempre intentá kill -15 (SIGTERM) primero."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4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4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LAB  //  Consola y Vim Intermedio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4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Tres ejercicios encadenados. Cada uno usa lo aprendido en la clase.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4"/>
          <p:cNvSpPr/>
          <p:nvPr/>
        </p:nvSpPr>
        <p:spPr>
          <a:xfrm>
            <a:off x="274320" y="1207008"/>
            <a:ext cx="8595360" cy="118872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4"/>
          <p:cNvSpPr/>
          <p:nvPr/>
        </p:nvSpPr>
        <p:spPr>
          <a:xfrm>
            <a:off x="274320" y="1207008"/>
            <a:ext cx="502920" cy="11887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4"/>
          <p:cNvSpPr/>
          <p:nvPr/>
        </p:nvSpPr>
        <p:spPr>
          <a:xfrm>
            <a:off x="274320" y="12070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4"/>
          <p:cNvSpPr/>
          <p:nvPr/>
        </p:nvSpPr>
        <p:spPr>
          <a:xfrm>
            <a:off x="868680" y="12618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Pipeline de análisis de 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4"/>
          <p:cNvSpPr/>
          <p:nvPr/>
        </p:nvSpPr>
        <p:spPr>
          <a:xfrm>
            <a:off x="868680" y="1554480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Generar un reporte de los 5 errores más frecuentes del sistema usando solo pipes.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4"/>
          <p:cNvSpPr/>
          <p:nvPr/>
        </p:nvSpPr>
        <p:spPr>
          <a:xfrm>
            <a:off x="868680" y="1810512"/>
            <a:ext cx="7863840" cy="512064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4"/>
          <p:cNvSpPr/>
          <p:nvPr/>
        </p:nvSpPr>
        <p:spPr>
          <a:xfrm>
            <a:off x="960120" y="1847088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1. Generá un log falso:  for i in $(seq 100); do echo "$(date) ERROR app[$$]: error_$((RANDOM%5))"; done &gt; /tmp/test.log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4"/>
          <p:cNvSpPr/>
          <p:nvPr/>
        </p:nvSpPr>
        <p:spPr>
          <a:xfrm>
            <a:off x="960120" y="2011680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2. Extraé solo errores:  grep 'ERROR' /tmp/test.log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4"/>
          <p:cNvSpPr/>
          <p:nvPr/>
        </p:nvSpPr>
        <p:spPr>
          <a:xfrm>
            <a:off x="960120" y="2176272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3. Quedate con el tipo: awk '{print $NF}' | sort | uniq -c | sort -rn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4"/>
          <p:cNvSpPr/>
          <p:nvPr/>
        </p:nvSpPr>
        <p:spPr>
          <a:xfrm>
            <a:off x="274320" y="2468880"/>
            <a:ext cx="8595360" cy="118872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4"/>
          <p:cNvSpPr/>
          <p:nvPr/>
        </p:nvSpPr>
        <p:spPr>
          <a:xfrm>
            <a:off x="274320" y="2468880"/>
            <a:ext cx="502920" cy="1188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4"/>
          <p:cNvSpPr/>
          <p:nvPr/>
        </p:nvSpPr>
        <p:spPr>
          <a:xfrm>
            <a:off x="27432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4"/>
          <p:cNvSpPr/>
          <p:nvPr/>
        </p:nvSpPr>
        <p:spPr>
          <a:xfrm>
            <a:off x="868680" y="2523744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sed + awk: transformar configuración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4"/>
          <p:cNvSpPr/>
          <p:nvPr/>
        </p:nvSpPr>
        <p:spPr>
          <a:xfrm>
            <a:off x="868680" y="281635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Usar sed y awk para transformar un archivo de config sin abrirlo con ningún editor.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4"/>
          <p:cNvSpPr/>
          <p:nvPr/>
        </p:nvSpPr>
        <p:spPr>
          <a:xfrm>
            <a:off x="868680" y="3072384"/>
            <a:ext cx="7863840" cy="512064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4"/>
          <p:cNvSpPr/>
          <p:nvPr/>
        </p:nvSpPr>
        <p:spPr>
          <a:xfrm>
            <a:off x="960120" y="3108960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1. Copiá un config real:  cp /etc/ssh/sshd_config /tmp/sshd_copy.conf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4"/>
          <p:cNvSpPr/>
          <p:nvPr/>
        </p:nvSpPr>
        <p:spPr>
          <a:xfrm>
            <a:off x="960120" y="3273552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2. Ver config activa (sin comentarios):  grep -v '^#' /tmp/sshd_copy.conf | grep -v '^$'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4"/>
          <p:cNvSpPr/>
          <p:nvPr/>
        </p:nvSpPr>
        <p:spPr>
          <a:xfrm>
            <a:off x="960120" y="3438144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3. Cambiar puerto con sed:  sed -i 's/^#Port 22/Port 2222/' /tmp/sshd_copy.conf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4"/>
          <p:cNvSpPr/>
          <p:nvPr/>
        </p:nvSpPr>
        <p:spPr>
          <a:xfrm>
            <a:off x="274320" y="3730752"/>
            <a:ext cx="8595360" cy="118872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4"/>
          <p:cNvSpPr/>
          <p:nvPr/>
        </p:nvSpPr>
        <p:spPr>
          <a:xfrm>
            <a:off x="274320" y="3730752"/>
            <a:ext cx="502920" cy="118872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4"/>
          <p:cNvSpPr/>
          <p:nvPr/>
        </p:nvSpPr>
        <p:spPr>
          <a:xfrm>
            <a:off x="274320" y="37307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4"/>
          <p:cNvSpPr/>
          <p:nvPr/>
        </p:nvSpPr>
        <p:spPr>
          <a:xfrm>
            <a:off x="868680" y="3785616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Vim: editar script con macros y splits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4"/>
          <p:cNvSpPr/>
          <p:nvPr/>
        </p:nvSpPr>
        <p:spPr>
          <a:xfrm>
            <a:off x="868680" y="4078224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Editar un script Bash usando macros para repetir operaciones y splits para referencias.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4"/>
          <p:cNvSpPr/>
          <p:nvPr/>
        </p:nvSpPr>
        <p:spPr>
          <a:xfrm>
            <a:off x="868680" y="4334256"/>
            <a:ext cx="7863840" cy="512064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4"/>
          <p:cNvSpPr/>
          <p:nvPr/>
        </p:nvSpPr>
        <p:spPr>
          <a:xfrm>
            <a:off x="960120" y="4370832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1. Crear un script con 10 funciones stub:  vim ~/lab_intermedio.sh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4"/>
          <p:cNvSpPr/>
          <p:nvPr/>
        </p:nvSpPr>
        <p:spPr>
          <a:xfrm>
            <a:off x="960120" y="4535424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2. Abrir split con el reporte: :vsp /tmp/reporte.txt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4"/>
          <p:cNvSpPr/>
          <p:nvPr/>
        </p:nvSpPr>
        <p:spPr>
          <a:xfrm>
            <a:off x="960120" y="4700016"/>
            <a:ext cx="76992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780"/>
              <a:buFont typeface="Consolas"/>
              <a:buNone/>
            </a:pPr>
            <a:r>
              <a:rPr b="0" i="0" lang="en-US" sz="78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3. Grabar macro: qa → ir al inicio de función → agregar comentario → bajar → q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4"/>
          <p:cNvSpPr/>
          <p:nvPr/>
        </p:nvSpPr>
        <p:spPr>
          <a:xfrm>
            <a:off x="228600" y="485546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⏱  60 min  ·  Individual  ·  Documentá cada pipeline antes de ejecutarlo  ·  No uses ChatGPT para los pipes 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5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A9C1"/>
          </a:solidFill>
          <a:ln cap="flat" cmpd="sng" w="12700">
            <a:solidFill>
              <a:srgbClr val="8BA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5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REF  //  Cheatsheet — Referencia rápida de clase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5"/>
          <p:cNvSpPr/>
          <p:nvPr/>
        </p:nvSpPr>
        <p:spPr>
          <a:xfrm>
            <a:off x="6766560" y="91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Linux I · Consola &amp; Vim · CTT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5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Guardá esta slide. Todos los comandos de hoy en un solo lugar.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5"/>
          <p:cNvSpPr/>
          <p:nvPr/>
        </p:nvSpPr>
        <p:spPr>
          <a:xfrm>
            <a:off x="228600" y="1234440"/>
            <a:ext cx="2816352" cy="349300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5"/>
          <p:cNvSpPr/>
          <p:nvPr/>
        </p:nvSpPr>
        <p:spPr>
          <a:xfrm>
            <a:off x="228600" y="1234440"/>
            <a:ext cx="2816352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5"/>
          <p:cNvSpPr/>
          <p:nvPr/>
        </p:nvSpPr>
        <p:spPr>
          <a:xfrm>
            <a:off x="338328" y="1335024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Consola &amp; Pipes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5"/>
          <p:cNvSpPr/>
          <p:nvPr/>
        </p:nvSpPr>
        <p:spPr>
          <a:xfrm>
            <a:off x="338328" y="1700784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5"/>
          <p:cNvSpPr/>
          <p:nvPr/>
        </p:nvSpPr>
        <p:spPr>
          <a:xfrm>
            <a:off x="338328" y="1700784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5"/>
          <p:cNvSpPr/>
          <p:nvPr/>
        </p:nvSpPr>
        <p:spPr>
          <a:xfrm>
            <a:off x="429768" y="1719072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cmd | cmd2          # pipe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5"/>
          <p:cNvSpPr/>
          <p:nvPr/>
        </p:nvSpPr>
        <p:spPr>
          <a:xfrm>
            <a:off x="338328" y="2075688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5"/>
          <p:cNvSpPr/>
          <p:nvPr/>
        </p:nvSpPr>
        <p:spPr>
          <a:xfrm>
            <a:off x="338328" y="2075688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5"/>
          <p:cNvSpPr/>
          <p:nvPr/>
        </p:nvSpPr>
        <p:spPr>
          <a:xfrm>
            <a:off x="429768" y="2093976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cmd &gt; archivo       # stdout → archivo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/>
          <p:nvPr/>
        </p:nvSpPr>
        <p:spPr>
          <a:xfrm>
            <a:off x="338328" y="2450592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5"/>
          <p:cNvSpPr/>
          <p:nvPr/>
        </p:nvSpPr>
        <p:spPr>
          <a:xfrm>
            <a:off x="338328" y="2450592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5"/>
          <p:cNvSpPr/>
          <p:nvPr/>
        </p:nvSpPr>
        <p:spPr>
          <a:xfrm>
            <a:off x="429768" y="246888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cmd &gt;&gt; archivo      # stdout → append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5"/>
          <p:cNvSpPr/>
          <p:nvPr/>
        </p:nvSpPr>
        <p:spPr>
          <a:xfrm>
            <a:off x="338328" y="2825496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5"/>
          <p:cNvSpPr/>
          <p:nvPr/>
        </p:nvSpPr>
        <p:spPr>
          <a:xfrm>
            <a:off x="338328" y="2825496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429768" y="2843784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cmd 2&gt;/dev/null     # descarta stderr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5"/>
          <p:cNvSpPr/>
          <p:nvPr/>
        </p:nvSpPr>
        <p:spPr>
          <a:xfrm>
            <a:off x="338328" y="3200400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5"/>
          <p:cNvSpPr/>
          <p:nvPr/>
        </p:nvSpPr>
        <p:spPr>
          <a:xfrm>
            <a:off x="338328" y="3200400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5"/>
          <p:cNvSpPr/>
          <p:nvPr/>
        </p:nvSpPr>
        <p:spPr>
          <a:xfrm>
            <a:off x="429768" y="3218688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cmd 2&gt;&amp;1            # stderr → stdout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5"/>
          <p:cNvSpPr/>
          <p:nvPr/>
        </p:nvSpPr>
        <p:spPr>
          <a:xfrm>
            <a:off x="338328" y="3575304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5"/>
          <p:cNvSpPr/>
          <p:nvPr/>
        </p:nvSpPr>
        <p:spPr>
          <a:xfrm>
            <a:off x="338328" y="3575304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5"/>
          <p:cNvSpPr/>
          <p:nvPr/>
        </p:nvSpPr>
        <p:spPr>
          <a:xfrm>
            <a:off x="429768" y="3593592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cmd &amp;               # background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5"/>
          <p:cNvSpPr/>
          <p:nvPr/>
        </p:nvSpPr>
        <p:spPr>
          <a:xfrm>
            <a:off x="338328" y="3950208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5"/>
          <p:cNvSpPr/>
          <p:nvPr/>
        </p:nvSpPr>
        <p:spPr>
          <a:xfrm>
            <a:off x="338328" y="3950208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5"/>
          <p:cNvSpPr/>
          <p:nvPr/>
        </p:nvSpPr>
        <p:spPr>
          <a:xfrm>
            <a:off x="429768" y="3968496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Ctrl+Z → bg %1      # segundo plano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5"/>
          <p:cNvSpPr/>
          <p:nvPr/>
        </p:nvSpPr>
        <p:spPr>
          <a:xfrm>
            <a:off x="338328" y="4325112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5"/>
          <p:cNvSpPr/>
          <p:nvPr/>
        </p:nvSpPr>
        <p:spPr>
          <a:xfrm>
            <a:off x="338328" y="4325112"/>
            <a:ext cx="45720" cy="3383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5"/>
          <p:cNvSpPr/>
          <p:nvPr/>
        </p:nvSpPr>
        <p:spPr>
          <a:xfrm>
            <a:off x="429768" y="434340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jobs / fg %1        # gestión jobs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5"/>
          <p:cNvSpPr/>
          <p:nvPr/>
        </p:nvSpPr>
        <p:spPr>
          <a:xfrm>
            <a:off x="3172968" y="1234440"/>
            <a:ext cx="2816352" cy="349300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5"/>
          <p:cNvSpPr/>
          <p:nvPr/>
        </p:nvSpPr>
        <p:spPr>
          <a:xfrm>
            <a:off x="3172968" y="1234440"/>
            <a:ext cx="2816352" cy="640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5"/>
          <p:cNvSpPr/>
          <p:nvPr/>
        </p:nvSpPr>
        <p:spPr>
          <a:xfrm>
            <a:off x="3282696" y="1335024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grep · sed · awk · find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5"/>
          <p:cNvSpPr/>
          <p:nvPr/>
        </p:nvSpPr>
        <p:spPr>
          <a:xfrm>
            <a:off x="3282696" y="1700784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5"/>
          <p:cNvSpPr/>
          <p:nvPr/>
        </p:nvSpPr>
        <p:spPr>
          <a:xfrm>
            <a:off x="3282696" y="1700784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5"/>
          <p:cNvSpPr/>
          <p:nvPr/>
        </p:nvSpPr>
        <p:spPr>
          <a:xfrm>
            <a:off x="3374136" y="1719072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grep -rni 'pat' dir/      # buscar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5"/>
          <p:cNvSpPr/>
          <p:nvPr/>
        </p:nvSpPr>
        <p:spPr>
          <a:xfrm>
            <a:off x="3282696" y="2075688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5"/>
          <p:cNvSpPr/>
          <p:nvPr/>
        </p:nvSpPr>
        <p:spPr>
          <a:xfrm>
            <a:off x="3282696" y="2075688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5"/>
          <p:cNvSpPr/>
          <p:nvPr/>
        </p:nvSpPr>
        <p:spPr>
          <a:xfrm>
            <a:off x="3374136" y="2093976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grep -v '^#' archivo      # sin comentarios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5"/>
          <p:cNvSpPr/>
          <p:nvPr/>
        </p:nvSpPr>
        <p:spPr>
          <a:xfrm>
            <a:off x="3282696" y="2450592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5"/>
          <p:cNvSpPr/>
          <p:nvPr/>
        </p:nvSpPr>
        <p:spPr>
          <a:xfrm>
            <a:off x="3282696" y="2450592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5"/>
          <p:cNvSpPr/>
          <p:nvPr/>
        </p:nvSpPr>
        <p:spPr>
          <a:xfrm>
            <a:off x="3374136" y="246888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sed 's/a/b/g' archivo     # reemplazar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5"/>
          <p:cNvSpPr/>
          <p:nvPr/>
        </p:nvSpPr>
        <p:spPr>
          <a:xfrm>
            <a:off x="3282696" y="2825496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5"/>
          <p:cNvSpPr/>
          <p:nvPr/>
        </p:nvSpPr>
        <p:spPr>
          <a:xfrm>
            <a:off x="3282696" y="2825496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5"/>
          <p:cNvSpPr/>
          <p:nvPr/>
        </p:nvSpPr>
        <p:spPr>
          <a:xfrm>
            <a:off x="3374136" y="2843784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sed -i '/^$/d' archivo    # editar en sitio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5"/>
          <p:cNvSpPr/>
          <p:nvPr/>
        </p:nvSpPr>
        <p:spPr>
          <a:xfrm>
            <a:off x="3282696" y="3200400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5"/>
          <p:cNvSpPr/>
          <p:nvPr/>
        </p:nvSpPr>
        <p:spPr>
          <a:xfrm>
            <a:off x="3282696" y="3200400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5"/>
          <p:cNvSpPr/>
          <p:nvPr/>
        </p:nvSpPr>
        <p:spPr>
          <a:xfrm>
            <a:off x="3374136" y="3218688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awk '{print $1,$NF}'      # extraer cols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5"/>
          <p:cNvSpPr/>
          <p:nvPr/>
        </p:nvSpPr>
        <p:spPr>
          <a:xfrm>
            <a:off x="3282696" y="3575304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5"/>
          <p:cNvSpPr/>
          <p:nvPr/>
        </p:nvSpPr>
        <p:spPr>
          <a:xfrm>
            <a:off x="3282696" y="3575304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5"/>
          <p:cNvSpPr/>
          <p:nvPr/>
        </p:nvSpPr>
        <p:spPr>
          <a:xfrm>
            <a:off x="3374136" y="3593592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awk -F: '$3&gt;=1000'        # filtrar campo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5"/>
          <p:cNvSpPr/>
          <p:nvPr/>
        </p:nvSpPr>
        <p:spPr>
          <a:xfrm>
            <a:off x="3282696" y="3950208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5"/>
          <p:cNvSpPr/>
          <p:nvPr/>
        </p:nvSpPr>
        <p:spPr>
          <a:xfrm>
            <a:off x="3282696" y="3950208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5"/>
          <p:cNvSpPr/>
          <p:nvPr/>
        </p:nvSpPr>
        <p:spPr>
          <a:xfrm>
            <a:off x="3374136" y="3968496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find . -name '*.sh' -exec chmod +x {} 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5"/>
          <p:cNvSpPr/>
          <p:nvPr/>
        </p:nvSpPr>
        <p:spPr>
          <a:xfrm>
            <a:off x="3282696" y="4325112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5"/>
          <p:cNvSpPr/>
          <p:nvPr/>
        </p:nvSpPr>
        <p:spPr>
          <a:xfrm>
            <a:off x="3282696" y="4325112"/>
            <a:ext cx="45720" cy="3383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5"/>
          <p:cNvSpPr/>
          <p:nvPr/>
        </p:nvSpPr>
        <p:spPr>
          <a:xfrm>
            <a:off x="3374136" y="434340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find / -perm -4000 -type f 2&gt;/dev/null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5"/>
          <p:cNvSpPr/>
          <p:nvPr/>
        </p:nvSpPr>
        <p:spPr>
          <a:xfrm>
            <a:off x="6117336" y="1234440"/>
            <a:ext cx="2816352" cy="3493008"/>
          </a:xfrm>
          <a:prstGeom prst="rect">
            <a:avLst/>
          </a:prstGeom>
          <a:solidFill>
            <a:srgbClr val="182535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5"/>
          <p:cNvSpPr/>
          <p:nvPr/>
        </p:nvSpPr>
        <p:spPr>
          <a:xfrm>
            <a:off x="6117336" y="1234440"/>
            <a:ext cx="2816352" cy="6400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5"/>
          <p:cNvSpPr/>
          <p:nvPr/>
        </p:nvSpPr>
        <p:spPr>
          <a:xfrm>
            <a:off x="6227064" y="1335024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Vim intermedio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5"/>
          <p:cNvSpPr/>
          <p:nvPr/>
        </p:nvSpPr>
        <p:spPr>
          <a:xfrm>
            <a:off x="6227064" y="1700784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/>
          <p:nvPr/>
        </p:nvSpPr>
        <p:spPr>
          <a:xfrm>
            <a:off x="6227064" y="1700784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5"/>
          <p:cNvSpPr/>
          <p:nvPr/>
        </p:nvSpPr>
        <p:spPr>
          <a:xfrm>
            <a:off x="6318504" y="1719072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ciw  ci"  ca(         # change inner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5"/>
          <p:cNvSpPr/>
          <p:nvPr/>
        </p:nvSpPr>
        <p:spPr>
          <a:xfrm>
            <a:off x="6227064" y="2075688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5"/>
          <p:cNvSpPr/>
          <p:nvPr/>
        </p:nvSpPr>
        <p:spPr>
          <a:xfrm>
            <a:off x="6227064" y="2075688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5"/>
          <p:cNvSpPr/>
          <p:nvPr/>
        </p:nvSpPr>
        <p:spPr>
          <a:xfrm>
            <a:off x="6318504" y="2093976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diw  di"  da(         # delete inner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5"/>
          <p:cNvSpPr/>
          <p:nvPr/>
        </p:nvSpPr>
        <p:spPr>
          <a:xfrm>
            <a:off x="6227064" y="2450592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5"/>
          <p:cNvSpPr/>
          <p:nvPr/>
        </p:nvSpPr>
        <p:spPr>
          <a:xfrm>
            <a:off x="6227064" y="2450592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5"/>
          <p:cNvSpPr/>
          <p:nvPr/>
        </p:nvSpPr>
        <p:spPr>
          <a:xfrm>
            <a:off x="6318504" y="246888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:%s/foo/bar/gc        # reemplazar global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5"/>
          <p:cNvSpPr/>
          <p:nvPr/>
        </p:nvSpPr>
        <p:spPr>
          <a:xfrm>
            <a:off x="6227064" y="2825496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5"/>
          <p:cNvSpPr/>
          <p:nvPr/>
        </p:nvSpPr>
        <p:spPr>
          <a:xfrm>
            <a:off x="6227064" y="2825496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5"/>
          <p:cNvSpPr/>
          <p:nvPr/>
        </p:nvSpPr>
        <p:spPr>
          <a:xfrm>
            <a:off x="6318504" y="2843784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:sp / :vsp archivo    # split h/v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5"/>
          <p:cNvSpPr/>
          <p:nvPr/>
        </p:nvSpPr>
        <p:spPr>
          <a:xfrm>
            <a:off x="6227064" y="3200400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5"/>
          <p:cNvSpPr/>
          <p:nvPr/>
        </p:nvSpPr>
        <p:spPr>
          <a:xfrm>
            <a:off x="6227064" y="3200400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5"/>
          <p:cNvSpPr/>
          <p:nvPr/>
        </p:nvSpPr>
        <p:spPr>
          <a:xfrm>
            <a:off x="6318504" y="3218688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Ctrl+w w / h/j/k/l   # navegar splits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6227064" y="3575304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5"/>
          <p:cNvSpPr/>
          <p:nvPr/>
        </p:nvSpPr>
        <p:spPr>
          <a:xfrm>
            <a:off x="6227064" y="3575304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5"/>
          <p:cNvSpPr/>
          <p:nvPr/>
        </p:nvSpPr>
        <p:spPr>
          <a:xfrm>
            <a:off x="6318504" y="3593592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qa...q / @a / 10@a   # macros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5"/>
          <p:cNvSpPr/>
          <p:nvPr/>
        </p:nvSpPr>
        <p:spPr>
          <a:xfrm>
            <a:off x="6227064" y="3950208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5"/>
          <p:cNvSpPr/>
          <p:nvPr/>
        </p:nvSpPr>
        <p:spPr>
          <a:xfrm>
            <a:off x="6227064" y="3950208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5"/>
          <p:cNvSpPr/>
          <p:nvPr/>
        </p:nvSpPr>
        <p:spPr>
          <a:xfrm>
            <a:off x="6318504" y="3968496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"ay / "ap             # registros 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5"/>
          <p:cNvSpPr/>
          <p:nvPr/>
        </p:nvSpPr>
        <p:spPr>
          <a:xfrm>
            <a:off x="6227064" y="4325112"/>
            <a:ext cx="2596896" cy="338328"/>
          </a:xfrm>
          <a:prstGeom prst="rect">
            <a:avLst/>
          </a:prstGeom>
          <a:solidFill>
            <a:srgbClr val="243446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5"/>
          <p:cNvSpPr/>
          <p:nvPr/>
        </p:nvSpPr>
        <p:spPr>
          <a:xfrm>
            <a:off x="6227064" y="4325112"/>
            <a:ext cx="45720" cy="3383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5"/>
          <p:cNvSpPr/>
          <p:nvPr/>
        </p:nvSpPr>
        <p:spPr>
          <a:xfrm>
            <a:off x="6318504" y="434340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"+y / "+p            # portapapeles sistema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5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8BA9C1"/>
                </a:solidFill>
                <a:latin typeface="Consolas"/>
                <a:ea typeface="Consolas"/>
                <a:cs typeface="Consolas"/>
                <a:sym typeface="Consolas"/>
              </a:rPr>
              <a:t>"man grep · man sed · man awk · man find · vimtutor  →  La documentación siempre tiene la respuesta."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6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6"/>
          <p:cNvSpPr/>
          <p:nvPr/>
        </p:nvSpPr>
        <p:spPr>
          <a:xfrm>
            <a:off x="0" y="2743200"/>
            <a:ext cx="9144000" cy="6400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6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FIN DE CLASE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6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5000"/>
              <a:buFont typeface="Consolas"/>
              <a:buNone/>
            </a:pPr>
            <a:r>
              <a:rPr b="1" i="0" lang="en-US" sz="50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Consola y Vim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6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4200"/>
              <a:buFont typeface="Consolas"/>
              <a:buNone/>
            </a:pPr>
            <a:r>
              <a:rPr b="1" i="0" lang="en-US" sz="4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Intermedio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6"/>
          <p:cNvSpPr/>
          <p:nvPr/>
        </p:nvSpPr>
        <p:spPr>
          <a:xfrm>
            <a:off x="457200" y="20848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CTT · Técnico en Redes y Software  ·  Prof. Juan Damián Pajares García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6"/>
          <p:cNvSpPr/>
          <p:nvPr/>
        </p:nvSpPr>
        <p:spPr>
          <a:xfrm>
            <a:off x="457200" y="290779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Lo que vimos hoy: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6"/>
          <p:cNvSpPr/>
          <p:nvPr/>
        </p:nvSpPr>
        <p:spPr>
          <a:xfrm>
            <a:off x="457200" y="324612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stdin · stdout · stderr · redirección (&gt; &gt;&gt; &lt; 2&gt; 2&gt;&amp;1 &amp;&gt; /dev/null)</a:t>
            </a:r>
            <a:b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Pipes | y construcción de pipelines complejos</a:t>
            </a:r>
            <a:b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grep -rinvlEABC  ·  sed 's///g' -i  ·  awk $1 $NF BEGIN/END</a:t>
            </a:r>
            <a:b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find -type -name -perm -mtime -exec</a:t>
            </a:r>
            <a:b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Vim: operadores + movimientos · :%s/// · macros qa...@a · splits · registros</a:t>
            </a:r>
            <a:b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~/.vimrc: configurar el entorno profesional</a:t>
            </a:r>
            <a:b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✓  Procesos: ps aux · kill -9/-15 · jobs · fg · bg · nohup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6"/>
          <p:cNvSpPr/>
          <p:nvPr/>
        </p:nvSpPr>
        <p:spPr>
          <a:xfrm>
            <a:off x="4709160" y="2852928"/>
            <a:ext cx="4160520" cy="1920240"/>
          </a:xfrm>
          <a:prstGeom prst="rect">
            <a:avLst/>
          </a:prstGeom>
          <a:solidFill>
            <a:srgbClr val="182535"/>
          </a:solidFill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6"/>
          <p:cNvSpPr/>
          <p:nvPr/>
        </p:nvSpPr>
        <p:spPr>
          <a:xfrm>
            <a:off x="4709160" y="2852928"/>
            <a:ext cx="416052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6"/>
          <p:cNvSpPr/>
          <p:nvPr/>
        </p:nvSpPr>
        <p:spPr>
          <a:xfrm>
            <a:off x="4846320" y="294436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📅  Próxima Clase — Semana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6"/>
          <p:cNvSpPr/>
          <p:nvPr/>
        </p:nvSpPr>
        <p:spPr>
          <a:xfrm>
            <a:off x="4846320" y="331012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0F6FF"/>
                </a:solidFill>
                <a:latin typeface="Consolas"/>
                <a:ea typeface="Consolas"/>
                <a:cs typeface="Consolas"/>
                <a:sym typeface="Consolas"/>
              </a:rPr>
              <a:t>Bash Scripting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6"/>
          <p:cNvSpPr/>
          <p:nvPr/>
        </p:nvSpPr>
        <p:spPr>
          <a:xfrm>
            <a:off x="4846320" y="374904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Variables · Condicionales · Bucles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9C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9C1"/>
                </a:solidFill>
                <a:latin typeface="Calibri"/>
                <a:ea typeface="Calibri"/>
                <a:cs typeface="Calibri"/>
                <a:sym typeface="Calibri"/>
              </a:rPr>
              <a:t>Funciones · Parámetros · Arrays · Cron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6"/>
          <p:cNvSpPr/>
          <p:nvPr/>
        </p:nvSpPr>
        <p:spPr>
          <a:xfrm>
            <a:off x="4800600" y="4315968"/>
            <a:ext cx="3977640" cy="347472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6"/>
          <p:cNvSpPr/>
          <p:nvPr/>
        </p:nvSpPr>
        <p:spPr>
          <a:xfrm>
            <a:off x="4919472" y="43342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$ cat pipeline.sh | bash -x 2&gt;&amp;1 | tee debug.log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cap="flat" cmpd="sng" w="12700">
            <a:solidFill>
              <a:srgbClr val="1B2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6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$ shutdown -h now   # ¡Hasta la próxima!  🐧  —  grep -rn 'lo que aprendiste hoy' ~/lab*/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