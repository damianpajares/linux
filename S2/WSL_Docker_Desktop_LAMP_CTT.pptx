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6C6FD1-5AD0-48A3-AC7F-3688BED2FF21}">
  <a:tblStyle styleId="{196C6FD1-5AD0-48A3-AC7F-3688BED2FF2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Presentar el objetivo: dejar un entorno web completo funcionando sobre Windows 10 22H2 con WSL 2, Docker Desktop y LAMP. Aclarar que cada comando se muestra completo para copiarlo en clase.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Recorrer la agenda. Los módulos 01 a 04 son de entorno, 05 a 07 de LAMP y contenedores, 08 a 10 de instalación nativa, automatización y seguridad.</a:t>
            </a:r>
            <a:endParaRPr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el diagrama de afuera hacia adentro: host Windows, VM de WSL 2, dos distros (Debian y docker-desktop), contenedores y salida por NAT. Remarcar que Docker Desktop y Debian comparten el mismo motor de contenedores.</a:t>
            </a:r>
            <a:endParaRPr/>
          </a:p>
        </p:txBody>
      </p:sp>
      <p:sp>
        <p:nvSpPr>
          <p:cNvPr id="115" name="Google Shape;11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Comparar WSL 1 y 2. Punto clave: WSL 2 tiene kernel Linux real, por eso soporta Docker; a cambio, el acceso a /mnt/c es más lento.</a:t>
            </a:r>
            <a:endParaRPr/>
          </a:p>
        </p:txBody>
      </p:sp>
      <p:sp>
        <p:nvSpPr>
          <p:cNvPr id="150" name="Google Shape;15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Hacer la instalación en vivo. Si wsl --install no existe, mostrar la alternativa con dism. Recordar habilitar la virtualización en BIOS si falla.</a:t>
            </a:r>
            <a:endParaRPr/>
          </a:p>
        </p:txBody>
      </p:sp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Primer arranque de Debian: crear usuario, actualizar e instalar herramientas. Mostrar cat /etc/os-release para ver qué versión de Debian entregó la tienda.</a:t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Activar systemd en wsl.conf y limitar recursos en .wslconfig. En equipos de 8 GB, limitar la memoria evita que vmmem se coma toda la RAM.</a:t>
            </a:r>
            <a:endParaRPr/>
          </a:p>
        </p:txBody>
      </p:sp>
      <p:sp>
        <p:nvSpPr>
          <p:cNvPr id="202" name="Google Shape;20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el acceso en ambos sentidos: /mnt/c desde Debian y \\wsl$ desde Windows. Insistir en guardar proyectos dentro de ext4.</a:t>
            </a:r>
            <a:endParaRPr/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Comandos de administración de distros. Hacer énfasis en wsl --export antes de cualquier --unregister.</a:t>
            </a:r>
            <a:endParaRPr/>
          </a:p>
        </p:txBody>
      </p:sp>
      <p:sp>
        <p:nvSpPr>
          <p:cNvPr id="239" name="Google Shape;23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Windows 10 la red de WSL 2 es NAT, la IP cambia en cada reinicio. Mostrar portproxy y la regla de firewall solo si hace falta exponer el servicio a la LAN.</a:t>
            </a:r>
            <a:endParaRPr/>
          </a:p>
        </p:txBody>
      </p:sp>
      <p:sp>
        <p:nvSpPr>
          <p:cNvPr id="252" name="Google Shape;25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Orden correcto: generar clave, copiar clave, probar, y recién después desactivar la contraseña. Usar puerto 2222 para evitar choques.</a:t>
            </a:r>
            <a:endParaRPr/>
          </a:p>
        </p:txBody>
      </p:sp>
      <p:sp>
        <p:nvSpPr>
          <p:cNvPr id="273" name="Google Shape;27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Repasar la sigla LAMP y las variantes WAMP y XAMPP. Aclarar que en Debian el servidor de base de datos es MariaDB.</a:t>
            </a:r>
            <a:endParaRPr/>
          </a:p>
        </p:txBody>
      </p:sp>
      <p:sp>
        <p:nvSpPr>
          <p:cNvPr id="293" name="Google Shape;29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Instalar Docker Desktop con backend WSL 2 y activar la integración con Debian. Mencionar la licencia para laboratorios institucionales.</a:t>
            </a:r>
            <a:endParaRPr/>
          </a:p>
        </p:txBody>
      </p:sp>
      <p:sp>
        <p:nvSpPr>
          <p:cNvPr id="315" name="Google Shape;31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cliente docker de Debian es solo un cliente: las órdenes viajan por el socket de integración hasta el motor en la distro docker-desktop.</a:t>
            </a:r>
            <a:endParaRPr/>
          </a:p>
        </p:txBody>
      </p:sp>
      <p:sp>
        <p:nvSpPr>
          <p:cNvPr id="333" name="Google Shape;33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Diferenciar docker (un contenedor) de docker compose (un stack). Aclarar que version: y links: están obsoletos y que el comando es docker compose.</a:t>
            </a:r>
            <a:endParaRPr/>
          </a:p>
        </p:txBody>
      </p:sp>
      <p:sp>
        <p:nvSpPr>
          <p:cNvPr id="354" name="Google Shape;35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el diagrama del stack: dos puertos publicados hacia el navegador y una base de datos accesible solo dentro de la red de Compose.</a:t>
            </a:r>
            <a:endParaRPr/>
          </a:p>
        </p:txBody>
      </p:sp>
      <p:sp>
        <p:nvSpPr>
          <p:cNvPr id="374" name="Google Shape;37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Dockerfile con extensiones de PHP y Composer. Insistir en que .env no se sube a Git y que las contraseñas del ejemplo hay que cambiarlas.</a:t>
            </a:r>
            <a:endParaRPr/>
          </a:p>
        </p:txBody>
      </p:sp>
      <p:sp>
        <p:nvSpPr>
          <p:cNvPr id="398" name="Google Shape;39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los cambios respecto al original: red propia, healthcheck con depends_on, variables unificadas, MySQL 8.4 y puerto 3306 solo en localhost.</a:t>
            </a:r>
            <a:endParaRPr/>
          </a:p>
        </p:txBody>
      </p:sp>
      <p:sp>
        <p:nvSpPr>
          <p:cNvPr id="418" name="Google Shape;41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Crear la estructura con mkdir y probar la conexión con index.php. Las credenciales llegan por variables de entorno; los errores van al log.</a:t>
            </a:r>
            <a:endParaRPr/>
          </a:p>
        </p:txBody>
      </p:sp>
      <p:sp>
        <p:nvSpPr>
          <p:cNvPr id="434" name="Google Shape;43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Ciclo de trabajo con Compose: config, up, ps, logs, exec, down. Advertir que down -v borra la base de datos.</a:t>
            </a:r>
            <a:endParaRPr/>
          </a:p>
        </p:txBody>
      </p:sp>
      <p:sp>
        <p:nvSpPr>
          <p:cNvPr id="452" name="Google Shape;452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Instalación nativa en Debian. Remarcar la diferencia con Ubuntu: mariadb-server en lugar de mysql-server y versión de PHP según la distro. Cuidado con el puerto 80 compartido con el contenedor.</a:t>
            </a:r>
            <a:endParaRPr/>
          </a:p>
        </p:txBody>
      </p:sp>
      <p:sp>
        <p:nvSpPr>
          <p:cNvPr id="469" name="Google Shape;469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Crear base y usuario con mínimos privilegios. Explicar por qué los backticks se escapan dentro del heredoc.</a:t>
            </a:r>
            <a:endParaRPr/>
          </a:p>
        </p:txBody>
      </p:sp>
      <p:sp>
        <p:nvSpPr>
          <p:cNvPr id="486" name="Google Shape;486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 con mysqldump y credenciales en ~/.my.cnf. Cron solo corre con la distro encendida; alternativa: programador de tareas de Windows.</a:t>
            </a:r>
            <a:endParaRPr/>
          </a:p>
        </p:txBody>
      </p:sp>
      <p:sp>
        <p:nvSpPr>
          <p:cNvPr id="504" name="Google Shape;50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Lista de control de seguridad con comandos de verificación. Cerrar con la idea de que en producción la base no publica puertos.</a:t>
            </a:r>
            <a:endParaRPr/>
          </a:p>
        </p:txBody>
      </p:sp>
      <p:sp>
        <p:nvSpPr>
          <p:cNvPr id="524" name="Google Shape;524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7" name="Google Shape;547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Comparativa final: nativo para aprender Linux, Compose para proyectos reales y despliegue.</a:t>
            </a:r>
            <a:endParaRPr/>
          </a:p>
        </p:txBody>
      </p:sp>
      <p:sp>
        <p:nvSpPr>
          <p:cNvPr id="548" name="Google Shape;548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0" name="Google Shape;560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Usar esta diapositiva como guía cuando algo falla en el laboratorio: virtualización, Docker Desktop, puertos y consumo de RAM.</a:t>
            </a:r>
            <a:endParaRPr/>
          </a:p>
        </p:txBody>
      </p:sp>
      <p:sp>
        <p:nvSpPr>
          <p:cNvPr id="561" name="Google Shape;561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9" name="Google Shape;579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Referencia rápida para dejar proyectada durante las prácticas.</a:t>
            </a:r>
            <a:endParaRPr/>
          </a:p>
        </p:txBody>
      </p:sp>
      <p:sp>
        <p:nvSpPr>
          <p:cNvPr id="580" name="Google Shape;580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0" name="Google Shape;600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Cerrar con el resumen y lanzar el checklist de laboratorio como actividad de verificación.</a:t>
            </a:r>
            <a:endParaRPr/>
          </a:p>
        </p:txBody>
      </p:sp>
      <p:sp>
        <p:nvSpPr>
          <p:cNvPr id="601" name="Google Shape;601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4" name="Google Shape;614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ejercicios van de menor a mayor dificultad. Pedir que cada alumno muestre el comando de verificación de cada uno.</a:t>
            </a:r>
            <a:endParaRPr/>
          </a:p>
        </p:txBody>
      </p:sp>
      <p:sp>
        <p:nvSpPr>
          <p:cNvPr id="615" name="Google Shape;615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2" name="Google Shape;642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Soluciones sugeridas: no son las únicas válidas. En el ejercicio 5 destacar la diferencia entre down y down -v.</a:t>
            </a:r>
            <a:endParaRPr/>
          </a:p>
        </p:txBody>
      </p:sp>
      <p:sp>
        <p:nvSpPr>
          <p:cNvPr id="643" name="Google Shape;643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548640" y="7315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$ ./setup-entorno-web.sh --host=win10-22h2 --wsl=debian --docker=desktop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Entorno web moderno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Windows 10 22H2 · WSL 2 (Debian) · Docker Desktop · LAMP · PHP + MySQL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48640" y="3017520"/>
            <a:ext cx="9601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Guía técnica paso a paso: instalación de WSL 2 y Debian, Docker Desktop con integración WSL, LAMP contenerizado con Docker Compose, instalación nativa de PHP + base de datos, automatización con cron y hardening básico. Todos los comandos se muestran completos.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48640" y="4572000"/>
            <a:ext cx="3566160" cy="100584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58368" y="4645152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Nivel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58368" y="4956048"/>
            <a:ext cx="33467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Intermedio / avanzado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4297679" y="4572000"/>
            <a:ext cx="3566160" cy="100584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407407" y="4645152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Plataforma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407407" y="4956048"/>
            <a:ext cx="33467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Windows 10 22H2 (build 19045) + WSL 2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8046719" y="4572000"/>
            <a:ext cx="3566160" cy="100584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156447" y="4645152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Curso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8156447" y="4956048"/>
            <a:ext cx="33467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Agenda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Contenidos del módulo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48640" y="128016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01  Entorno y arquitectura de implementación</a:t>
            </a:r>
            <a:endParaRPr/>
          </a:p>
          <a:p>
            <a:pPr indent="0" lvl="0" marL="0" marR="0" rtl="0" algn="l">
              <a:spcBef>
                <a:spcPts val="1008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02  WSL 2: instalación, configuración y gestión</a:t>
            </a:r>
            <a:endParaRPr/>
          </a:p>
          <a:p>
            <a:pPr indent="0" lvl="0" marL="0" marR="0" rtl="0" algn="l">
              <a:spcBef>
                <a:spcPts val="1008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03  Archivos y red entre Windows y WSL</a:t>
            </a:r>
            <a:endParaRPr/>
          </a:p>
          <a:p>
            <a:pPr indent="0" lvl="0" marL="0" marR="0" rtl="0" algn="l">
              <a:spcBef>
                <a:spcPts val="1008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04  Acceso SSH a Debian (WSL)</a:t>
            </a:r>
            <a:endParaRPr/>
          </a:p>
          <a:p>
            <a:pPr indent="0" lvl="0" marL="0" marR="0" rtl="0" algn="l">
              <a:spcBef>
                <a:spcPts val="1008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05  Arquitectura LAMP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309360" y="128016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06  Docker Desktop con integración WSL</a:t>
            </a:r>
            <a:endParaRPr/>
          </a:p>
          <a:p>
            <a:pPr indent="0" lvl="0" marL="0" marR="0" rtl="0" algn="l">
              <a:spcBef>
                <a:spcPts val="1008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07  LAMP con Docker Compose (código completo)</a:t>
            </a:r>
            <a:endParaRPr/>
          </a:p>
          <a:p>
            <a:pPr indent="0" lvl="0" marL="0" marR="0" rtl="0" algn="l">
              <a:spcBef>
                <a:spcPts val="1008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08  PHP + base de datos nativos en Debian</a:t>
            </a:r>
            <a:endParaRPr/>
          </a:p>
          <a:p>
            <a:pPr indent="0" lvl="0" marL="0" marR="0" rtl="0" algn="l">
              <a:spcBef>
                <a:spcPts val="1008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09  Backups y cron</a:t>
            </a:r>
            <a:endParaRPr/>
          </a:p>
          <a:p>
            <a:pPr indent="0" lvl="0" marL="0" marR="0" rtl="0" algn="l">
              <a:spcBef>
                <a:spcPts val="1008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10  Hardening, troubleshooting y referencia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48640" y="4754880"/>
            <a:ext cx="11064240" cy="381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548640" y="4754880"/>
            <a:ext cx="54864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85800" y="4800600"/>
            <a:ext cx="10835640" cy="289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Cada módulo incluye los comandos completos, qué hace cada uno y cómo verificar que funcionó.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01 · Arquitectura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Diagrama de implementación del entorno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457200" y="1097280"/>
            <a:ext cx="7132320" cy="5029200"/>
          </a:xfrm>
          <a:prstGeom prst="roundRect">
            <a:avLst>
              <a:gd fmla="val 4545" name="adj"/>
            </a:avLst>
          </a:prstGeom>
          <a:noFill/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94360" y="11155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Host: Windows 10 22H2 (build 19045)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640080" y="1508760"/>
            <a:ext cx="2057400" cy="594360"/>
          </a:xfrm>
          <a:prstGeom prst="roundRect">
            <a:avLst>
              <a:gd fmla="val 12000" name="adj"/>
            </a:avLst>
          </a:prstGeom>
          <a:solidFill>
            <a:srgbClr val="1E293B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Docker Desktop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Backend WSL 2</a:t>
            </a:r>
            <a:endParaRPr/>
          </a:p>
        </p:txBody>
      </p:sp>
      <p:cxnSp>
        <p:nvCxnSpPr>
          <p:cNvPr id="124" name="Google Shape;124;p15"/>
          <p:cNvCxnSpPr/>
          <p:nvPr/>
        </p:nvCxnSpPr>
        <p:spPr>
          <a:xfrm>
            <a:off x="1668780" y="210312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5" name="Google Shape;125;p15"/>
          <p:cNvSpPr/>
          <p:nvPr/>
        </p:nvSpPr>
        <p:spPr>
          <a:xfrm>
            <a:off x="2926080" y="1508760"/>
            <a:ext cx="2057400" cy="594360"/>
          </a:xfrm>
          <a:prstGeom prst="roundRect">
            <a:avLst>
              <a:gd fmla="val 12000" name="adj"/>
            </a:avLst>
          </a:prstGeom>
          <a:solidFill>
            <a:srgbClr val="1E293B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Terminal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PowerShell · VS Code</a:t>
            </a:r>
            <a:endParaRPr/>
          </a:p>
        </p:txBody>
      </p:sp>
      <p:cxnSp>
        <p:nvCxnSpPr>
          <p:cNvPr id="126" name="Google Shape;126;p15"/>
          <p:cNvCxnSpPr/>
          <p:nvPr/>
        </p:nvCxnSpPr>
        <p:spPr>
          <a:xfrm>
            <a:off x="3954780" y="210312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7" name="Google Shape;127;p15"/>
          <p:cNvSpPr/>
          <p:nvPr/>
        </p:nvSpPr>
        <p:spPr>
          <a:xfrm>
            <a:off x="5212080" y="1508760"/>
            <a:ext cx="2057400" cy="594360"/>
          </a:xfrm>
          <a:prstGeom prst="roundRect">
            <a:avLst>
              <a:gd fmla="val 12000" name="adj"/>
            </a:avLst>
          </a:prstGeom>
          <a:solidFill>
            <a:srgbClr val="1E293B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Navegador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localhost:80 · :8080</a:t>
            </a:r>
            <a:endParaRPr/>
          </a:p>
        </p:txBody>
      </p:sp>
      <p:cxnSp>
        <p:nvCxnSpPr>
          <p:cNvPr id="128" name="Google Shape;128;p15"/>
          <p:cNvCxnSpPr/>
          <p:nvPr/>
        </p:nvCxnSpPr>
        <p:spPr>
          <a:xfrm>
            <a:off x="6240780" y="210312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9" name="Google Shape;129;p15"/>
          <p:cNvSpPr/>
          <p:nvPr/>
        </p:nvSpPr>
        <p:spPr>
          <a:xfrm>
            <a:off x="640080" y="2423160"/>
            <a:ext cx="6766560" cy="2926080"/>
          </a:xfrm>
          <a:prstGeom prst="roundRect">
            <a:avLst>
              <a:gd fmla="val 7812" name="adj"/>
            </a:avLst>
          </a:prstGeom>
          <a:solidFill>
            <a:srgbClr val="1C1533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777240" y="2468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WSL 2 · VM ligera (kernel Linux real)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822960" y="2880360"/>
            <a:ext cx="3108960" cy="2286000"/>
          </a:xfrm>
          <a:prstGeom prst="roundRect">
            <a:avLst>
              <a:gd fmla="val 10000" name="adj"/>
            </a:avLst>
          </a:prstGeom>
          <a:solidFill>
            <a:srgbClr val="0C2418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Debian (distro)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bash · apt · docker CLI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1005840" y="3611880"/>
            <a:ext cx="2743200" cy="594360"/>
          </a:xfrm>
          <a:prstGeom prst="roundRect">
            <a:avLst>
              <a:gd fmla="val 12000" name="adj"/>
            </a:avLst>
          </a:prstGeom>
          <a:solidFill>
            <a:srgbClr val="1E293B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docker compose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Integración WSL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1005840" y="4343400"/>
            <a:ext cx="2743200" cy="594360"/>
          </a:xfrm>
          <a:prstGeom prst="roundRect">
            <a:avLst>
              <a:gd fmla="val 12000" name="adj"/>
            </a:avLst>
          </a:prstGeom>
          <a:solidFill>
            <a:srgbClr val="1E293B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~/php-lab-wsl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ext4 · bind mounts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4160520" y="2880360"/>
            <a:ext cx="3063240" cy="1005840"/>
          </a:xfrm>
          <a:prstGeom prst="roundRect">
            <a:avLst>
              <a:gd fmla="val 12000" name="adj"/>
            </a:avLst>
          </a:prstGeom>
          <a:solidFill>
            <a:srgbClr val="0C2418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docker-desktop (distro)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dockerd · containerd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4160520" y="4160520"/>
            <a:ext cx="3063240" cy="1005840"/>
          </a:xfrm>
          <a:prstGeom prst="roundRect">
            <a:avLst>
              <a:gd fmla="val 12000" name="adj"/>
            </a:avLst>
          </a:prstGeom>
          <a:solidFill>
            <a:srgbClr val="0C2418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Contenedores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www · db · phpmyadmin</a:t>
            </a:r>
            <a:endParaRPr/>
          </a:p>
        </p:txBody>
      </p:sp>
      <p:cxnSp>
        <p:nvCxnSpPr>
          <p:cNvPr id="136" name="Google Shape;136;p15"/>
          <p:cNvCxnSpPr/>
          <p:nvPr/>
        </p:nvCxnSpPr>
        <p:spPr>
          <a:xfrm>
            <a:off x="3931920" y="3383280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7" name="Google Shape;137;p15"/>
          <p:cNvCxnSpPr/>
          <p:nvPr/>
        </p:nvCxnSpPr>
        <p:spPr>
          <a:xfrm>
            <a:off x="5669280" y="388620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8" name="Google Shape;138;p15"/>
          <p:cNvCxnSpPr/>
          <p:nvPr/>
        </p:nvCxnSpPr>
        <p:spPr>
          <a:xfrm>
            <a:off x="4023360" y="534924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9" name="Google Shape;139;p15"/>
          <p:cNvSpPr/>
          <p:nvPr/>
        </p:nvSpPr>
        <p:spPr>
          <a:xfrm>
            <a:off x="640080" y="5532120"/>
            <a:ext cx="6766560" cy="457200"/>
          </a:xfrm>
          <a:prstGeom prst="roundRect">
            <a:avLst>
              <a:gd fmla="val 12000" name="adj"/>
            </a:avLst>
          </a:prstGeom>
          <a:solidFill>
            <a:srgbClr val="1E293B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vEthernet (WSL) · NAT hacia el host</a:t>
            </a:r>
            <a:endParaRPr/>
          </a:p>
        </p:txBody>
      </p:sp>
      <p:cxnSp>
        <p:nvCxnSpPr>
          <p:cNvPr id="140" name="Google Shape;140;p15"/>
          <p:cNvCxnSpPr/>
          <p:nvPr/>
        </p:nvCxnSpPr>
        <p:spPr>
          <a:xfrm>
            <a:off x="4023360" y="598932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1" name="Google Shape;141;p15"/>
          <p:cNvSpPr/>
          <p:nvPr/>
        </p:nvSpPr>
        <p:spPr>
          <a:xfrm>
            <a:off x="2743200" y="6263640"/>
            <a:ext cx="2560320" cy="320040"/>
          </a:xfrm>
          <a:prstGeom prst="roundRect">
            <a:avLst>
              <a:gd fmla="val 12000" name="adj"/>
            </a:avLst>
          </a:prstGeom>
          <a:solidFill>
            <a:srgbClr val="1E293B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Red local / Internet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7863840" y="11887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Requisitos del host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7863840" y="1554480"/>
            <a:ext cx="38404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Windows 10 64-bit 22H2, build 19045</a:t>
            </a:r>
            <a:endParaRPr/>
          </a:p>
          <a:p>
            <a:pPr indent="0" lvl="0" marL="0" marR="0" rtl="0" algn="l">
              <a:spcBef>
                <a:spcPts val="432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Característica WSL 2 habilitada</a:t>
            </a:r>
            <a:endParaRPr/>
          </a:p>
          <a:p>
            <a:pPr indent="0" lvl="0" marL="0" marR="0" rtl="0" algn="l">
              <a:spcBef>
                <a:spcPts val="432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8 GB de RAM recomendados</a:t>
            </a:r>
            <a:endParaRPr/>
          </a:p>
          <a:p>
            <a:pPr indent="0" lvl="0" marL="0" marR="0" rtl="0" algn="l">
              <a:spcBef>
                <a:spcPts val="432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Virtualización habilitada en BIOS/UEFI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7863840" y="3566160"/>
            <a:ext cx="3840480" cy="117348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7863840" y="3566160"/>
            <a:ext cx="54864" cy="1173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8001000" y="3611879"/>
            <a:ext cx="3611880" cy="1082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Idea clave: WSL 2 ejecuta un kernel Linux real en una VM liviana. Docker Desktop crea su propia distro interna y la expone a Debian por integración, de modo que docker funciona desde la terminal de Debian.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02 · WSL 2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¿Qué es WSL y qué cambia en WSL 2?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Capa oficial de Microsoft que ejecuta un entorno GNU/Linux dentro de Windows, sin dual boot y sin administrar una VM completa.</a:t>
            </a:r>
            <a:endParaRPr/>
          </a:p>
        </p:txBody>
      </p:sp>
      <p:graphicFrame>
        <p:nvGraphicFramePr>
          <p:cNvPr id="157" name="Google Shape;157;p16"/>
          <p:cNvGraphicFramePr/>
          <p:nvPr/>
        </p:nvGraphicFramePr>
        <p:xfrm>
          <a:off x="457200" y="1645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{196C6FD1-5AD0-48A3-AC7F-3688BED2FF21}</a:tableStyleId>
              </a:tblPr>
              <a:tblGrid>
                <a:gridCol w="3374125"/>
                <a:gridCol w="3711550"/>
                <a:gridCol w="41614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Característica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WSL 1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WSL 2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F1E3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Kernel Linux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 de traducción de syscalls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Kernel Linux real (completo)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Compatibilidad syscalls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Parcial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I/O en archivos Linux (ext4)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Limitado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Rápido (disco virtual ext4)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I/O en /mnt/c (NTFS)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Mejor que WSL 2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Más lento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Docker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(backend de Docker Desktop)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Memoria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Compartida con Windows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VM ligera con límite configurable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Comparte la red del host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 con IP propia (Windows 10)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16"/>
          <p:cNvSpPr/>
          <p:nvPr/>
        </p:nvSpPr>
        <p:spPr>
          <a:xfrm>
            <a:off x="457200" y="4754879"/>
            <a:ext cx="3611880" cy="118872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566928" y="4828031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Kernel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66928" y="5138927"/>
            <a:ext cx="33924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Gestiona hardware y procesos.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4297680" y="4754879"/>
            <a:ext cx="3611880" cy="118872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4407408" y="4828031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Sistema de archivos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4407408" y="5138927"/>
            <a:ext cx="33924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ext4 dentro de WSL, NTFS montado en /mnt/c.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8092440" y="4754879"/>
            <a:ext cx="3611880" cy="118872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8202167" y="4828031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Shell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202167" y="5138927"/>
            <a:ext cx="33924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bash, zsh o fish. Apps GUI (WSLg) solo en Windows 11.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02 · Instalación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Instalar WSL 2 + Debian en Windows 10 22H2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457200" y="1097280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PowerShell como Administrador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457200" y="1353312"/>
            <a:ext cx="11247120" cy="3201543"/>
          </a:xfrm>
          <a:prstGeom prst="roundRect">
            <a:avLst>
              <a:gd fmla="val 714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1) Verificar versión de Windows (debe ser 22H2, build 19045)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winver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[System.Environment]::OSVersion.Version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2) Instalar WSL y la distro Debian (Windows 10 build 19041 o superior)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--install -d Debian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3) Alternativa si "wsl --install" no est\u00e1 disponible: habilitar a mano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dism.exe /online /enable-feature /featurename:Microsoft-Windows-Subsystem-Linux /all /norestart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dism.exe /online /enable-feature /featurename:VirtualMachinePlatform /all /norestart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Reiniciar Windows y luego actualizar WSL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--update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4) WSL 2 como versión predeterminada y verificación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--set-default-version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--list --online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-l -v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--status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457200" y="4664583"/>
            <a:ext cx="11247120" cy="579120"/>
          </a:xfrm>
          <a:prstGeom prst="rect">
            <a:avLst/>
          </a:prstGeom>
          <a:solidFill>
            <a:srgbClr val="2A1F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457200" y="4664583"/>
            <a:ext cx="54864" cy="57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594360" y="4710303"/>
            <a:ext cx="110185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 falla: habilitar la virtualización (Intel VT-x / AMD-V) en BIOS/UEFI. Verificar en Administrador de tareas → Rendimiento → CPU → "Virtualización: Habilitada".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457200" y="5335142"/>
            <a:ext cx="11247120" cy="381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457200" y="5335142"/>
            <a:ext cx="54864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594360" y="5380862"/>
            <a:ext cx="11018520" cy="289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Resultado esperado de wsl -l -v: Debian con VERSION 2. Si aparece 1: wsl --set-version Debian 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02 · Primer uso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Configuración inicial de Debian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 abrir Debian por primera vez se pide un usuario y contraseña de Linux.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457200" y="1554480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Dentro de Debian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457200" y="1810512"/>
            <a:ext cx="11247120" cy="2574480"/>
          </a:xfrm>
          <a:prstGeom prst="roundRect">
            <a:avLst>
              <a:gd fmla="val 8879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Identificar la versión de Debian y del kernel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cat /etc/os-release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uname -r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Actualizar el sistema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apt update &amp;&amp; sudo apt upgrade -y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Herramientas esenciales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apt install -y curl git nano vim unzip ca-certificates build-essential net-tools iproute2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Ver IP interna de WSL (NAT)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ip -4 addr show eth0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hostname -I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457200" y="4494720"/>
            <a:ext cx="11247120" cy="57912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457200" y="4494720"/>
            <a:ext cx="54864" cy="57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594360" y="4540440"/>
            <a:ext cx="110185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La imagen "Debian" de la tienda puede ser Debian 12 (bookworm) o 13 (trixie) según la fecha. Los scripts de esta clase usan los paquetes por defecto de la distro, sin fijar la versión de PHP.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02 · Configuración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systemd y límites de recursos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457200" y="1097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/etc/wsl.conf (dentro de Debian)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457200" y="1353312"/>
            <a:ext cx="5486400" cy="1947418"/>
          </a:xfrm>
          <a:prstGeom prst="roundRect">
            <a:avLst>
              <a:gd fmla="val 11738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nano /etc/wsl.conf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[boot]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systemd=true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[user]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default=tu_usuario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[interop]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appendWindowsPath=false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457200" y="341045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Aplicar el cambio (PowerShell)</a:t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457200" y="3666490"/>
            <a:ext cx="5486400" cy="55041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--shutdown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-d Debian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217920" y="1097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%UserProfile%\.wslconfig (en Windows)</a:t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6217920" y="1353312"/>
            <a:ext cx="5486400" cy="15981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Crear/editar desde PowerShell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notepad $env:USERPROFILE\.wslconfig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[wsl2]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memory=4GB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processors=2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swap=2GB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localhostForwarding=true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6217920" y="3061208"/>
            <a:ext cx="5486400" cy="57912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6217920" y="3061208"/>
            <a:ext cx="54864" cy="57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6355080" y="3106928"/>
            <a:ext cx="525780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Limita la RAM y CPU de la VM de WSL 2, que también usa Docker Desktop. Importante en equipos de 8 GB. Aplicar con wsl --shutdown.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457200" y="4418076"/>
            <a:ext cx="11247120" cy="579120"/>
          </a:xfrm>
          <a:prstGeom prst="rect">
            <a:avLst/>
          </a:prstGeom>
          <a:solidFill>
            <a:srgbClr val="2A1F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457200" y="4418076"/>
            <a:ext cx="54864" cy="57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594360" y="4463796"/>
            <a:ext cx="110185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 systemd se usan systemctl, servicios y cron como en un Debian normal. appendWindowsPath=false es opcional: quita el PATH de Windows dentro de WSL, pero explorer.exe y code dejan de resolverse sin ruta completa.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03 · Archivos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Acceso cruzado a archivos Windows ↔ WSL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457200" y="1097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Desde Debian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457200" y="1353312"/>
            <a:ext cx="5486400" cy="1772793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Disco C: de Windows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ls /mnt/c/Users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Abrir la carpeta actual en el Explorador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explorer.exe 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Convertir rutas entre sistemas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wslpath 'C:\Users\Docente'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wslpath -w ~/php-lab-wsl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217920" y="1097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Desde Windows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6217920" y="1353312"/>
            <a:ext cx="5486400" cy="1423543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Explorador de archivos / barra de direcciones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\\wsl$\Debian\home\tu_usuario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\\wsl.localhost\Debian\home\tu_usuario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PowerShell: ejecutar un comando en Debian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-d Debian -- ls -la ~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-d Debian -u root -- apt update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457200" y="3327273"/>
            <a:ext cx="11247120" cy="579120"/>
          </a:xfrm>
          <a:prstGeom prst="rect">
            <a:avLst/>
          </a:prstGeom>
          <a:solidFill>
            <a:srgbClr val="0C24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457200" y="3327273"/>
            <a:ext cx="54864" cy="5791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594360" y="3372993"/>
            <a:ext cx="110185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Buena práctica: guardar los proyectos dentro de Linux (~/php-lab-wsl), no en /mnt/c. El acceso a NTFS desde WSL 2 es notablemente más lento y los bind mounts de Docker sufren lo mismo.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02 · Gestión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Administrar distros: comandos wsl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457200" y="1097280"/>
            <a:ext cx="11247120" cy="3122168"/>
          </a:xfrm>
          <a:prstGeom prst="roundRect">
            <a:avLst>
              <a:gd fmla="val 7321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-l -v                              # listar distros y estado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--list --online                    # distros disponibles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-d Debian                          # abrir una distro concreta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-d Debian -u root                  # abrir como root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--set-default Debian               # distro predeterminada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--terminate Debian                 # detener una distro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--shutdown                         # detener toda la VM de WSL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--update                           # actualizar WSL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--version                          # versión de WSL y kernel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Respaldo y restauración de una distro completa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--export Debian D:\backup\debian.tar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--import Debian-lab D:\wsl\Debian-lab D:\backup\debian.tar --version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Eliminar una distro (BORRA todos sus datos)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--unregister Debian-lab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457200" y="4329176"/>
            <a:ext cx="11247120" cy="381000"/>
          </a:xfrm>
          <a:prstGeom prst="rect">
            <a:avLst/>
          </a:prstGeom>
          <a:solidFill>
            <a:srgbClr val="2A1F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457200" y="4329176"/>
            <a:ext cx="54864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594360" y="4374896"/>
            <a:ext cx="11018520" cy="289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--unregister es irreversible. Hacer --export antes si hay datos importantes.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03 · Red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Red en WSL 2 sobre Windows 10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548640" y="1188720"/>
            <a:ext cx="3291840" cy="82296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LAN / Internet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192.168.x.x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4480560" y="1188720"/>
            <a:ext cx="3291840" cy="82296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Host Windows 10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vEthernet (WSL) · NAT</a:t>
            </a: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8412480" y="1188720"/>
            <a:ext cx="3291840" cy="822960"/>
          </a:xfrm>
          <a:prstGeom prst="roundRect">
            <a:avLst>
              <a:gd fmla="val 12000" name="adj"/>
            </a:avLst>
          </a:prstGeom>
          <a:solidFill>
            <a:srgbClr val="0C2418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Debian (WSL 2)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eth0 · 172.x.x.x</a:t>
            </a:r>
            <a:endParaRPr/>
          </a:p>
        </p:txBody>
      </p:sp>
      <p:cxnSp>
        <p:nvCxnSpPr>
          <p:cNvPr id="261" name="Google Shape;261;p22"/>
          <p:cNvCxnSpPr/>
          <p:nvPr/>
        </p:nvCxnSpPr>
        <p:spPr>
          <a:xfrm>
            <a:off x="3840480" y="1600200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2" name="Google Shape;262;p22"/>
          <p:cNvCxnSpPr/>
          <p:nvPr/>
        </p:nvCxnSpPr>
        <p:spPr>
          <a:xfrm>
            <a:off x="7772400" y="1600200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3" name="Google Shape;263;p22"/>
          <p:cNvSpPr txBox="1"/>
          <p:nvPr/>
        </p:nvSpPr>
        <p:spPr>
          <a:xfrm>
            <a:off x="457200" y="228600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457200" y="2542032"/>
            <a:ext cx="4754880" cy="1868043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IP de WSL (cambia en cada reinicio)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ip -4 addr show eth0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hostname -I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Puertos que escucha WSL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ss -tlnp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Desde Windows: probar el servicio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curl http://localhost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Test-NetConnection localhost -Port 80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5486400" y="2286000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Exponer WSL a la red local (PowerShell admin)</a:t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5486400" y="2542032"/>
            <a:ext cx="6217920" cy="131241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netsh interface portproxy add v4tov4 listenport=2222 listenaddress=0.0.0.0 connectport=2222 connectaddress=IP_DE_WSL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netsh interface portproxy show 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New-NetFirewallRule -DisplayName "WSL SSH" -Direction Inbound -Protocol TCP -LocalPort 2222 -Action Allow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Quitar el reenvío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netsh interface portproxy delete v4tov4 listenport=2222 listenaddress=0.0.0.0</a:t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5486400" y="3964178"/>
            <a:ext cx="6217920" cy="77724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5486400" y="3964178"/>
            <a:ext cx="54864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5623560" y="4009898"/>
            <a:ext cx="5989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En Windows 10 WSL 2 usa NAT; el modo de red "mirrored" requiere Windows 11. Los puertos que escucha WSL (y los publicados por Docker) suelen estar disponibles en localhost del host.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04 · SSH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Acceso SSH a Debian (WSL) con clave pública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457200" y="1097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1. Cliente (PowerShell): generar clave</a:t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457200" y="1353312"/>
            <a:ext cx="5486400" cy="8361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ssh-keygen -t ed25519 -C "ctt-wsl-key" -f $env:USERPROFILE\.ssh\id_ed25519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Alternativa RSA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ssh-keygen -t rsa -b 4096 -C "ctt-wsl-key"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457200" y="229920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2. Debian: instalar el servidor</a:t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457200" y="2555240"/>
            <a:ext cx="5486400" cy="99491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apt install -y openssh-server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nano /etc/ssh/sshd_config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Port 2222   (evita choque con el SSH de Windows)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systemctl enable --now ssh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ss -tlnp | grep 2222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6217920" y="1097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3. Copiar la clave y conectar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6217920" y="1353312"/>
            <a:ext cx="5486400" cy="99491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type $env:USERPROFILE\.ssh\id_ed25519.pub | ssh -p 2222 usuario@localhost "mkdir -p ~/.ssh &amp;&amp; cat &gt;&gt; ~/.ssh/authorized_keys &amp;&amp; chmod 700 ~/.ssh &amp;&amp; chmod 600 ~/.ssh/authorized_keys"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ssh -p 2222 -i $env:USERPROFILE\.ssh\id_ed25519 usuario@localhost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6217920" y="245795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4. Endurecer (solo cuando la clave ya funciona)</a:t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6217920" y="2713990"/>
            <a:ext cx="5486400" cy="11536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PubkeyAuthentication 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PasswordAuthentication no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PermitRootLogin no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AllowUsers usuario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sshd -t &amp;&amp; sudo systemctl restart ssh</a:t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457200" y="4023106"/>
            <a:ext cx="11247120" cy="579120"/>
          </a:xfrm>
          <a:prstGeom prst="rect">
            <a:avLst/>
          </a:prstGeom>
          <a:solidFill>
            <a:srgbClr val="2A1F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457200" y="4023106"/>
            <a:ext cx="54864" cy="57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594360" y="4068826"/>
            <a:ext cx="110185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Primera conexión con contraseña (PasswordAuthentication yes) para copiar la clave; recién después se desactiva. sshd -t valida la sintaxis antes de reiniciar.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05 · LAMP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Arquitectura de la pila LAMP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299" name="Google Shape;299;p24"/>
          <p:cNvSpPr/>
          <p:nvPr/>
        </p:nvSpPr>
        <p:spPr>
          <a:xfrm>
            <a:off x="457200" y="1188720"/>
            <a:ext cx="2697480" cy="155448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566928" y="1261872"/>
            <a:ext cx="2478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L · Linux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566928" y="1572768"/>
            <a:ext cx="247802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Sistema operativo. Aquí: Debian en WSL 2 o la imagen base del contenedor.</a:t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3291840" y="1188720"/>
            <a:ext cx="2697480" cy="155448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3401568" y="1261872"/>
            <a:ext cx="2478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A · Apache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3401568" y="1572768"/>
            <a:ext cx="247802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Servidor HTTP: mod_rewrite, VirtualHosts, SSL.</a:t>
            </a:r>
            <a:endParaRPr/>
          </a:p>
        </p:txBody>
      </p:sp>
      <p:sp>
        <p:nvSpPr>
          <p:cNvPr id="305" name="Google Shape;305;p24"/>
          <p:cNvSpPr/>
          <p:nvPr/>
        </p:nvSpPr>
        <p:spPr>
          <a:xfrm>
            <a:off x="6126480" y="1188720"/>
            <a:ext cx="2697480" cy="155448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6236208" y="1261872"/>
            <a:ext cx="2478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 · MySQL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6236208" y="1572768"/>
            <a:ext cx="247802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Base relacional (InnoDB, ACID). En Debian nativo se usa MariaDB, compatible.</a:t>
            </a:r>
            <a:endParaRPr/>
          </a:p>
        </p:txBody>
      </p:sp>
      <p:sp>
        <p:nvSpPr>
          <p:cNvPr id="308" name="Google Shape;308;p24"/>
          <p:cNvSpPr/>
          <p:nvPr/>
        </p:nvSpPr>
        <p:spPr>
          <a:xfrm>
            <a:off x="8961120" y="1188720"/>
            <a:ext cx="2697480" cy="155448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9070848" y="1261872"/>
            <a:ext cx="2478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 · PHP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9070848" y="1572768"/>
            <a:ext cx="247802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Lenguaje de servidor, PDO/mysqli, Composer.</a:t>
            </a:r>
            <a:endParaRPr/>
          </a:p>
        </p:txBody>
      </p:sp>
      <p:graphicFrame>
        <p:nvGraphicFramePr>
          <p:cNvPr id="311" name="Google Shape;311;p24"/>
          <p:cNvGraphicFramePr/>
          <p:nvPr/>
        </p:nvGraphicFramePr>
        <p:xfrm>
          <a:off x="457200" y="3108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{196C6FD1-5AD0-48A3-AC7F-3688BED2FF21}</a:tableStyleId>
              </a:tblPr>
              <a:tblGrid>
                <a:gridCol w="1687075"/>
                <a:gridCol w="5623550"/>
                <a:gridCol w="39365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Variante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Composición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Uso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F1E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LAMP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Linux + Apache + MySQL + PHP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Contenedores Docker / servidores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WAMP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Windows + Apache + MySQL + PHP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local en Windows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XAMPP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Multiplataforma + Apache + MariaDB + PHP + Perl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rápido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06 · Docker Desktop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Instalar Docker Desktop (backend WSL 2)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457200" y="1097280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PowerShell (admin)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457200" y="1353312"/>
            <a:ext cx="6583680" cy="1701355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Opción A: instalador descargado de docker.com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Start-Process 'Docker Desktop Installer.exe' -Wait install --accept-license --backend=wsl-2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Opción B: winget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winget install -e --id Docker.DockerDesktop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Reiniciar sesión de Windows si lo pide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Abrir Docker Desktop y esperar "Engine running"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457200" y="3164395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Verificar desde Debian</a:t>
            </a:r>
            <a:endParaRPr/>
          </a:p>
        </p:txBody>
      </p:sp>
      <p:sp>
        <p:nvSpPr>
          <p:cNvPr id="324" name="Google Shape;324;p25"/>
          <p:cNvSpPr/>
          <p:nvPr/>
        </p:nvSpPr>
        <p:spPr>
          <a:xfrm>
            <a:off x="457200" y="3420427"/>
            <a:ext cx="6583680" cy="86791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version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version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run --rm hello-world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context ls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7315200" y="10972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Activar la integración con Debian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7315200" y="1463040"/>
            <a:ext cx="4389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Settings → General: "Use the WSL 2 based engine"</a:t>
            </a:r>
            <a:endParaRPr/>
          </a:p>
          <a:p>
            <a:pPr indent="0" lvl="0" marL="0" marR="0" rtl="0" algn="l">
              <a:spcBef>
                <a:spcPts val="432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Settings → Resources → WSL Integration: activar Debian → Apply &amp; restart</a:t>
            </a:r>
            <a:endParaRPr/>
          </a:p>
          <a:p>
            <a:pPr indent="0" lvl="0" marL="0" marR="0" rtl="0" algn="l">
              <a:spcBef>
                <a:spcPts val="432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Abrir una terminal nueva de Debian y probar docker ps</a:t>
            </a:r>
            <a:endParaRPr/>
          </a:p>
          <a:p>
            <a:pPr indent="0" lvl="0" marL="0" marR="0" rtl="0" algn="l">
              <a:spcBef>
                <a:spcPts val="432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Los límites de recursos se definen en .wslconfig (diapositiva 7)</a:t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7315200" y="4023360"/>
            <a:ext cx="4389120" cy="1173480"/>
          </a:xfrm>
          <a:prstGeom prst="rect">
            <a:avLst/>
          </a:prstGeom>
          <a:solidFill>
            <a:srgbClr val="2A1F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7315200" y="4023360"/>
            <a:ext cx="54864" cy="1173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 txBox="1"/>
          <p:nvPr/>
        </p:nvSpPr>
        <p:spPr>
          <a:xfrm>
            <a:off x="7452360" y="4069080"/>
            <a:ext cx="4160520" cy="1082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Licencia: Docker Desktop es gratuito para uso personal, educación y empresas pequeñas; las organizaciones grandes requieren suscripción. Revisar los términos vigentes antes de usarlo en un laboratorio institucional.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06 · Arquitectura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Cómo llega docker desde Debian al motor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39" name="Google Shape;339;p26"/>
          <p:cNvSpPr/>
          <p:nvPr/>
        </p:nvSpPr>
        <p:spPr>
          <a:xfrm>
            <a:off x="457200" y="1280160"/>
            <a:ext cx="2468880" cy="914400"/>
          </a:xfrm>
          <a:prstGeom prst="roundRect">
            <a:avLst>
              <a:gd fmla="val 12000" name="adj"/>
            </a:avLst>
          </a:prstGeom>
          <a:solidFill>
            <a:srgbClr val="0C2418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Debian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docker compose up</a:t>
            </a:r>
            <a:endParaRPr/>
          </a:p>
        </p:txBody>
      </p:sp>
      <p:cxnSp>
        <p:nvCxnSpPr>
          <p:cNvPr id="340" name="Google Shape;340;p26"/>
          <p:cNvCxnSpPr/>
          <p:nvPr/>
        </p:nvCxnSpPr>
        <p:spPr>
          <a:xfrm>
            <a:off x="2926080" y="173736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1" name="Google Shape;341;p26"/>
          <p:cNvSpPr/>
          <p:nvPr/>
        </p:nvSpPr>
        <p:spPr>
          <a:xfrm>
            <a:off x="3383280" y="1280160"/>
            <a:ext cx="2468880" cy="91440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Integración WSL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docker.sock (proxy)</a:t>
            </a:r>
            <a:endParaRPr/>
          </a:p>
        </p:txBody>
      </p:sp>
      <p:cxnSp>
        <p:nvCxnSpPr>
          <p:cNvPr id="342" name="Google Shape;342;p26"/>
          <p:cNvCxnSpPr/>
          <p:nvPr/>
        </p:nvCxnSpPr>
        <p:spPr>
          <a:xfrm>
            <a:off x="5852160" y="173736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3" name="Google Shape;343;p26"/>
          <p:cNvSpPr/>
          <p:nvPr/>
        </p:nvSpPr>
        <p:spPr>
          <a:xfrm>
            <a:off x="6309360" y="1280160"/>
            <a:ext cx="2468880" cy="914400"/>
          </a:xfrm>
          <a:prstGeom prst="roundRect">
            <a:avLst>
              <a:gd fmla="val 12000" name="adj"/>
            </a:avLst>
          </a:prstGeom>
          <a:solidFill>
            <a:srgbClr val="2A1F0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docker-desktop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dockerd · containerd</a:t>
            </a:r>
            <a:endParaRPr/>
          </a:p>
        </p:txBody>
      </p:sp>
      <p:cxnSp>
        <p:nvCxnSpPr>
          <p:cNvPr id="344" name="Google Shape;344;p26"/>
          <p:cNvCxnSpPr/>
          <p:nvPr/>
        </p:nvCxnSpPr>
        <p:spPr>
          <a:xfrm>
            <a:off x="8778240" y="173736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5" name="Google Shape;345;p26"/>
          <p:cNvSpPr/>
          <p:nvPr/>
        </p:nvSpPr>
        <p:spPr>
          <a:xfrm>
            <a:off x="9235440" y="1280160"/>
            <a:ext cx="2468880" cy="914400"/>
          </a:xfrm>
          <a:prstGeom prst="roundRect">
            <a:avLst>
              <a:gd fmla="val 12000" name="adj"/>
            </a:avLst>
          </a:prstGeom>
          <a:solidFill>
            <a:srgbClr val="1C1533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Contenedores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www · db · pma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457200" y="2651760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Comprobar la integración</a:t>
            </a:r>
            <a:endParaRPr/>
          </a:p>
        </p:txBody>
      </p:sp>
      <p:sp>
        <p:nvSpPr>
          <p:cNvPr id="347" name="Google Shape;347;p26"/>
          <p:cNvSpPr/>
          <p:nvPr/>
        </p:nvSpPr>
        <p:spPr>
          <a:xfrm>
            <a:off x="457200" y="2907791"/>
            <a:ext cx="5943600" cy="1074293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context 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info | head -n 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ps -a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ls -l /var/run/docker.sock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-l -v          # (PowerShell) debe listar docker-desktop</a:t>
            </a:r>
            <a:endParaRPr/>
          </a:p>
        </p:txBody>
      </p:sp>
      <p:sp>
        <p:nvSpPr>
          <p:cNvPr id="348" name="Google Shape;348;p26"/>
          <p:cNvSpPr/>
          <p:nvPr/>
        </p:nvSpPr>
        <p:spPr>
          <a:xfrm>
            <a:off x="6675120" y="2651760"/>
            <a:ext cx="5029200" cy="117348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6675120" y="2651760"/>
            <a:ext cx="54864" cy="1173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 txBox="1"/>
          <p:nvPr/>
        </p:nvSpPr>
        <p:spPr>
          <a:xfrm>
            <a:off x="6812280" y="2697479"/>
            <a:ext cx="4800600" cy="1082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El cliente docker de Debian no ejecuta contenedores: envía las órdenes al motor que corre en la distro interna docker-desktop. Por eso los contenedores siguen vivos aunque se cierre la terminal de Debian, mientras Docker Desktop esté en ejecución.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07 · Docker vs Compose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Docker vs Docker Compose</a:t>
            </a:r>
            <a:endParaRPr/>
          </a:p>
        </p:txBody>
      </p:sp>
      <p:sp>
        <p:nvSpPr>
          <p:cNvPr id="358" name="Google Shape;358;p27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360" name="Google Shape;360;p27"/>
          <p:cNvSpPr/>
          <p:nvPr/>
        </p:nvSpPr>
        <p:spPr>
          <a:xfrm>
            <a:off x="457200" y="1097280"/>
            <a:ext cx="5486400" cy="141732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7"/>
          <p:cNvSpPr txBox="1"/>
          <p:nvPr/>
        </p:nvSpPr>
        <p:spPr>
          <a:xfrm>
            <a:off x="566928" y="1170432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Docker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566928" y="1481328"/>
            <a:ext cx="526694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Gestiona contenedores individuales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Usa un Dockerfile para construir imágenes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Comandos: build · run · stop · rm</a:t>
            </a:r>
            <a:endParaRPr/>
          </a:p>
        </p:txBody>
      </p:sp>
      <p:sp>
        <p:nvSpPr>
          <p:cNvPr id="363" name="Google Shape;363;p27"/>
          <p:cNvSpPr/>
          <p:nvPr/>
        </p:nvSpPr>
        <p:spPr>
          <a:xfrm>
            <a:off x="6217920" y="1097280"/>
            <a:ext cx="5486400" cy="141732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6327648" y="1170432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Docker Compose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6327648" y="1481328"/>
            <a:ext cx="526694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Gestiona varios contenedores a la vez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Servicios, redes y volúmenes en compose.yaml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Comandos: up -d · stop · down · ps · logs</a:t>
            </a:r>
            <a:endParaRPr/>
          </a:p>
        </p:txBody>
      </p:sp>
      <p:sp>
        <p:nvSpPr>
          <p:cNvPr id="366" name="Google Shape;366;p27"/>
          <p:cNvSpPr/>
          <p:nvPr/>
        </p:nvSpPr>
        <p:spPr>
          <a:xfrm>
            <a:off x="457200" y="2651760"/>
            <a:ext cx="11247120" cy="579120"/>
          </a:xfrm>
          <a:prstGeom prst="rect">
            <a:avLst/>
          </a:prstGeom>
          <a:solidFill>
            <a:srgbClr val="2A1F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7"/>
          <p:cNvSpPr/>
          <p:nvPr/>
        </p:nvSpPr>
        <p:spPr>
          <a:xfrm>
            <a:off x="457200" y="2651760"/>
            <a:ext cx="54864" cy="57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7"/>
          <p:cNvSpPr txBox="1"/>
          <p:nvPr/>
        </p:nvSpPr>
        <p:spPr>
          <a:xfrm>
            <a:off x="594360" y="2697479"/>
            <a:ext cx="110185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Sintaxis actual: Compose V2 se invoca como "docker compose" (con espacio), no docker-compose. La clave version: del YAML es obsoleta y links: está en desuso: los servicios de una misma red se resuelven por nombre.</a:t>
            </a:r>
            <a:endParaRPr/>
          </a:p>
        </p:txBody>
      </p:sp>
      <p:sp>
        <p:nvSpPr>
          <p:cNvPr id="369" name="Google Shape;369;p27"/>
          <p:cNvSpPr txBox="1"/>
          <p:nvPr/>
        </p:nvSpPr>
        <p:spPr>
          <a:xfrm>
            <a:off x="457200" y="3322320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Comandos Docker básicos</a:t>
            </a:r>
            <a:endParaRPr/>
          </a:p>
        </p:txBody>
      </p:sp>
      <p:sp>
        <p:nvSpPr>
          <p:cNvPr id="370" name="Google Shape;370;p27"/>
          <p:cNvSpPr/>
          <p:nvPr/>
        </p:nvSpPr>
        <p:spPr>
          <a:xfrm>
            <a:off x="457200" y="3578352"/>
            <a:ext cx="11247120" cy="1868043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build -t lamp-www:1.0 .                     # construir imagen desde el Dockerfile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run -d --name web -p 8081:80 lamp-www:1.0   # crear y arrancar contenedor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ps                                          # contenedores en ejecución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ps -a                                       # todos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logs -f web                                 # logs en vivo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exec -it web bash                           # shell dentro del contenedor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stop web &amp;&amp; docker rm web                   # detener y eliminar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images                                      # imágenes locales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system df                                   # espacio usado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system prune -f                             # limpiar recursos sin uso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07 · LAMP con Compose</a:t>
            </a:r>
            <a:endParaRPr/>
          </a:p>
        </p:txBody>
      </p:sp>
      <p:sp>
        <p:nvSpPr>
          <p:cNvPr id="377" name="Google Shape;377;p28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Diagrama de implementación: stack Compose</a:t>
            </a:r>
            <a:endParaRPr/>
          </a:p>
        </p:txBody>
      </p:sp>
      <p:sp>
        <p:nvSpPr>
          <p:cNvPr id="378" name="Google Shape;378;p2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379" name="Google Shape;379;p28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80" name="Google Shape;380;p28"/>
          <p:cNvSpPr/>
          <p:nvPr/>
        </p:nvSpPr>
        <p:spPr>
          <a:xfrm>
            <a:off x="457200" y="2286000"/>
            <a:ext cx="1645920" cy="91440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Navegador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Windows 10</a:t>
            </a:r>
            <a:endParaRPr/>
          </a:p>
        </p:txBody>
      </p:sp>
      <p:sp>
        <p:nvSpPr>
          <p:cNvPr id="381" name="Google Shape;381;p28"/>
          <p:cNvSpPr/>
          <p:nvPr/>
        </p:nvSpPr>
        <p:spPr>
          <a:xfrm>
            <a:off x="2560320" y="1188720"/>
            <a:ext cx="9144000" cy="3566160"/>
          </a:xfrm>
          <a:prstGeom prst="roundRect">
            <a:avLst>
              <a:gd fmla="val 6410" name="adj"/>
            </a:avLst>
          </a:prstGeom>
          <a:noFill/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2697480" y="12161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Red Compose: lamp_net (bridge)</a:t>
            </a:r>
            <a:endParaRPr/>
          </a:p>
        </p:txBody>
      </p:sp>
      <p:sp>
        <p:nvSpPr>
          <p:cNvPr id="383" name="Google Shape;383;p28"/>
          <p:cNvSpPr/>
          <p:nvPr/>
        </p:nvSpPr>
        <p:spPr>
          <a:xfrm>
            <a:off x="2926080" y="1645920"/>
            <a:ext cx="2926080" cy="1280160"/>
          </a:xfrm>
          <a:prstGeom prst="roundRect">
            <a:avLst>
              <a:gd fmla="val 12000" name="adj"/>
            </a:avLst>
          </a:prstGeom>
          <a:solidFill>
            <a:srgbClr val="0C2418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www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Apache + PHP 8.3 · :80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bind ./www → /var/www/html</a:t>
            </a:r>
            <a:endParaRPr/>
          </a:p>
        </p:txBody>
      </p:sp>
      <p:sp>
        <p:nvSpPr>
          <p:cNvPr id="384" name="Google Shape;384;p28"/>
          <p:cNvSpPr/>
          <p:nvPr/>
        </p:nvSpPr>
        <p:spPr>
          <a:xfrm>
            <a:off x="2926080" y="3200400"/>
            <a:ext cx="2926080" cy="1280160"/>
          </a:xfrm>
          <a:prstGeom prst="roundRect">
            <a:avLst>
              <a:gd fmla="val 12000" name="adj"/>
            </a:avLst>
          </a:prstGeom>
          <a:solidFill>
            <a:srgbClr val="0C2418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phpmyadmin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imagen oficial · :8080→80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PMA_HOST=db</a:t>
            </a:r>
            <a:endParaRPr/>
          </a:p>
        </p:txBody>
      </p:sp>
      <p:sp>
        <p:nvSpPr>
          <p:cNvPr id="385" name="Google Shape;385;p28"/>
          <p:cNvSpPr/>
          <p:nvPr/>
        </p:nvSpPr>
        <p:spPr>
          <a:xfrm>
            <a:off x="8229600" y="2377440"/>
            <a:ext cx="3108960" cy="1371600"/>
          </a:xfrm>
          <a:prstGeom prst="roundRect">
            <a:avLst>
              <a:gd fmla="val 12000" name="adj"/>
            </a:avLst>
          </a:prstGeom>
          <a:solidFill>
            <a:srgbClr val="2A1F0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MySQL 8.4 · :3306 interno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volumen db_data</a:t>
            </a:r>
            <a:endParaRPr/>
          </a:p>
        </p:txBody>
      </p:sp>
      <p:cxnSp>
        <p:nvCxnSpPr>
          <p:cNvPr id="386" name="Google Shape;386;p28"/>
          <p:cNvCxnSpPr/>
          <p:nvPr/>
        </p:nvCxnSpPr>
        <p:spPr>
          <a:xfrm flipH="1" rot="10800000">
            <a:off x="2103120" y="2194560"/>
            <a:ext cx="822960" cy="36576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87" name="Google Shape;387;p28"/>
          <p:cNvCxnSpPr/>
          <p:nvPr/>
        </p:nvCxnSpPr>
        <p:spPr>
          <a:xfrm>
            <a:off x="2103120" y="2926080"/>
            <a:ext cx="822960" cy="73152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8" name="Google Shape;388;p28"/>
          <p:cNvSpPr txBox="1"/>
          <p:nvPr/>
        </p:nvSpPr>
        <p:spPr>
          <a:xfrm>
            <a:off x="2103120" y="21031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:80</a:t>
            </a:r>
            <a:endParaRPr/>
          </a:p>
        </p:txBody>
      </p:sp>
      <p:sp>
        <p:nvSpPr>
          <p:cNvPr id="389" name="Google Shape;389;p28"/>
          <p:cNvSpPr txBox="1"/>
          <p:nvPr/>
        </p:nvSpPr>
        <p:spPr>
          <a:xfrm>
            <a:off x="2103120" y="32461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:8080</a:t>
            </a:r>
            <a:endParaRPr/>
          </a:p>
        </p:txBody>
      </p:sp>
      <p:cxnSp>
        <p:nvCxnSpPr>
          <p:cNvPr id="390" name="Google Shape;390;p28"/>
          <p:cNvCxnSpPr/>
          <p:nvPr/>
        </p:nvCxnSpPr>
        <p:spPr>
          <a:xfrm>
            <a:off x="5852160" y="2286000"/>
            <a:ext cx="2377440" cy="54864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1" name="Google Shape;391;p28"/>
          <p:cNvCxnSpPr/>
          <p:nvPr/>
        </p:nvCxnSpPr>
        <p:spPr>
          <a:xfrm flipH="1" rot="10800000">
            <a:off x="5852160" y="3383280"/>
            <a:ext cx="2377440" cy="45720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2" name="Google Shape;392;p28"/>
          <p:cNvSpPr/>
          <p:nvPr/>
        </p:nvSpPr>
        <p:spPr>
          <a:xfrm>
            <a:off x="457200" y="5029200"/>
            <a:ext cx="11247120" cy="579120"/>
          </a:xfrm>
          <a:prstGeom prst="rect">
            <a:avLst/>
          </a:prstGeom>
          <a:solidFill>
            <a:srgbClr val="0C24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457200" y="5029200"/>
            <a:ext cx="54864" cy="5791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8"/>
          <p:cNvSpPr txBox="1"/>
          <p:nvPr/>
        </p:nvSpPr>
        <p:spPr>
          <a:xfrm>
            <a:off x="594360" y="5074920"/>
            <a:ext cx="110185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La base de datos solo es alcanzable por www y phpmyadmin dentro de la red Compose. En desarrollo se puede publicar en 127.0.0.1:3306 (solo el equipo local); en producción no se publica.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9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07 · Código</a:t>
            </a:r>
            <a:endParaRPr/>
          </a:p>
        </p:txBody>
      </p:sp>
      <p:sp>
        <p:nvSpPr>
          <p:cNvPr id="401" name="Google Shape;401;p29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Dockerfile y archivo .env</a:t>
            </a:r>
            <a:endParaRPr/>
          </a:p>
        </p:txBody>
      </p:sp>
      <p:sp>
        <p:nvSpPr>
          <p:cNvPr id="402" name="Google Shape;402;p2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403" name="Google Shape;403;p29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404" name="Google Shape;404;p29"/>
          <p:cNvSpPr txBox="1"/>
          <p:nvPr/>
        </p:nvSpPr>
        <p:spPr>
          <a:xfrm>
            <a:off x="457200" y="1097280"/>
            <a:ext cx="6035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Dockerfile</a:t>
            </a:r>
            <a:endParaRPr/>
          </a:p>
        </p:txBody>
      </p:sp>
      <p:sp>
        <p:nvSpPr>
          <p:cNvPr id="405" name="Google Shape;405;p29"/>
          <p:cNvSpPr/>
          <p:nvPr/>
        </p:nvSpPr>
        <p:spPr>
          <a:xfrm>
            <a:off x="457200" y="1353312"/>
            <a:ext cx="6035040" cy="3201543"/>
          </a:xfrm>
          <a:prstGeom prst="roundRect">
            <a:avLst>
              <a:gd fmla="val 714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FROM php:8.3-apache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Sin preguntas interactivas durante la instalación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ARG DEBIAN_FRONTEND=noninteractive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Dependencias del sistema y extensiones PHP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RUN apt-get update 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&amp;&amp; apt-get install -y --no-install-recommends libzip-dev zlib1g-dev unzip 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&amp;&amp; docker-php-ext-install mysqli pdo pdo_mysql zip 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&amp;&amp; rm -rf /var/lib/apt/lists/*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Módulos de Apache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RUN a2enmod rewrite headers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Composer (opcional)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COPY --from=composer:2 /usr/bin/composer /usr/bin/composer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WORKDIR /var/www/html</a:t>
            </a:r>
            <a:endParaRPr/>
          </a:p>
        </p:txBody>
      </p:sp>
      <p:sp>
        <p:nvSpPr>
          <p:cNvPr id="406" name="Google Shape;406;p29"/>
          <p:cNvSpPr txBox="1"/>
          <p:nvPr/>
        </p:nvSpPr>
        <p:spPr>
          <a:xfrm>
            <a:off x="6766560" y="109728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.env (no se sube a Git)</a:t>
            </a:r>
            <a:endParaRPr/>
          </a:p>
        </p:txBody>
      </p:sp>
      <p:sp>
        <p:nvSpPr>
          <p:cNvPr id="407" name="Google Shape;407;p29"/>
          <p:cNvSpPr/>
          <p:nvPr/>
        </p:nvSpPr>
        <p:spPr>
          <a:xfrm>
            <a:off x="6766560" y="1353312"/>
            <a:ext cx="4937760" cy="86791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DB_NAME=php_lab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DB_USER=php_user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DB_PASS=cambiar_esta_clave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DB_ROOT_PASS=cambiar_clave_root</a:t>
            </a:r>
            <a:endParaRPr/>
          </a:p>
        </p:txBody>
      </p:sp>
      <p:sp>
        <p:nvSpPr>
          <p:cNvPr id="408" name="Google Shape;408;p29"/>
          <p:cNvSpPr txBox="1"/>
          <p:nvPr/>
        </p:nvSpPr>
        <p:spPr>
          <a:xfrm>
            <a:off x="6766560" y="2330958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.gitignore</a:t>
            </a:r>
            <a:endParaRPr/>
          </a:p>
        </p:txBody>
      </p:sp>
      <p:sp>
        <p:nvSpPr>
          <p:cNvPr id="409" name="Google Shape;409;p29"/>
          <p:cNvSpPr/>
          <p:nvPr/>
        </p:nvSpPr>
        <p:spPr>
          <a:xfrm>
            <a:off x="6766560" y="2586990"/>
            <a:ext cx="4937760" cy="701230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.env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dump/*.sql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backups/</a:t>
            </a:r>
            <a:endParaRPr/>
          </a:p>
        </p:txBody>
      </p:sp>
      <p:sp>
        <p:nvSpPr>
          <p:cNvPr id="410" name="Google Shape;410;p29"/>
          <p:cNvSpPr txBox="1"/>
          <p:nvPr/>
        </p:nvSpPr>
        <p:spPr>
          <a:xfrm>
            <a:off x="6766560" y="3397948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Proteger el archivo</a:t>
            </a:r>
            <a:endParaRPr/>
          </a:p>
        </p:txBody>
      </p:sp>
      <p:sp>
        <p:nvSpPr>
          <p:cNvPr id="411" name="Google Shape;411;p29"/>
          <p:cNvSpPr/>
          <p:nvPr/>
        </p:nvSpPr>
        <p:spPr>
          <a:xfrm>
            <a:off x="6766560" y="3653980"/>
            <a:ext cx="4937760" cy="534543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chmod 600 .env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git check-ignore -v .env</a:t>
            </a:r>
            <a:endParaRPr/>
          </a:p>
        </p:txBody>
      </p:sp>
      <p:sp>
        <p:nvSpPr>
          <p:cNvPr id="412" name="Google Shape;412;p29"/>
          <p:cNvSpPr/>
          <p:nvPr/>
        </p:nvSpPr>
        <p:spPr>
          <a:xfrm>
            <a:off x="6766560" y="4298251"/>
            <a:ext cx="4937760" cy="77724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6766560" y="4298251"/>
            <a:ext cx="54864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9"/>
          <p:cNvSpPr txBox="1"/>
          <p:nvPr/>
        </p:nvSpPr>
        <p:spPr>
          <a:xfrm>
            <a:off x="6903720" y="4343971"/>
            <a:ext cx="4709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PHP 8.3 sigue vigente; hay etiquetas más nuevas (php:8.4-apache). Cambiar la etiqueta y reconstruir con --build es suficiente.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0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07 · Código</a:t>
            </a:r>
            <a:endParaRPr/>
          </a:p>
        </p:txBody>
      </p:sp>
      <p:sp>
        <p:nvSpPr>
          <p:cNvPr id="421" name="Google Shape;421;p30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compose.yaml (versión corregida)</a:t>
            </a:r>
            <a:endParaRPr/>
          </a:p>
        </p:txBody>
      </p:sp>
      <p:sp>
        <p:nvSpPr>
          <p:cNvPr id="422" name="Google Shape;422;p3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423" name="Google Shape;423;p30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424" name="Google Shape;424;p30"/>
          <p:cNvSpPr txBox="1"/>
          <p:nvPr/>
        </p:nvSpPr>
        <p:spPr>
          <a:xfrm>
            <a:off x="457200" y="1097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Parte 1/2</a:t>
            </a:r>
            <a:endParaRPr/>
          </a:p>
        </p:txBody>
      </p:sp>
      <p:sp>
        <p:nvSpPr>
          <p:cNvPr id="425" name="Google Shape;425;p30"/>
          <p:cNvSpPr/>
          <p:nvPr/>
        </p:nvSpPr>
        <p:spPr>
          <a:xfrm>
            <a:off x="457200" y="1353312"/>
            <a:ext cx="5486400" cy="4804918"/>
          </a:xfrm>
          <a:prstGeom prst="roundRect">
            <a:avLst>
              <a:gd fmla="val 4757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services: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www: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build: 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ports: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- "80:80"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volumes: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- ./www:/var/www/html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environment: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DB_HOST: db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DB_NAME: ${DB_NAME}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DB_USER: ${DB_USER}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DB_PASS: ${DB_PASS}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depends_on: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db: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condition: service_healthy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networks: [lamp_net]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db: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image: mysql:8.4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ports: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- "127.0.0.1:3306:3306"   # solo desarrollo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environment: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MYSQL_DATABASE: ${DB_NAME}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MYSQL_USER: ${DB_USER}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MYSQL_PASSWORD: ${DB_PASS}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MYSQL_ROOT_PASSWORD: ${DB_ROOT_PASS}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volumes: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- ./dump:/docker-entrypoint-initdb.d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- db_data:/var/lib/mysql</a:t>
            </a:r>
            <a:endParaRPr/>
          </a:p>
        </p:txBody>
      </p:sp>
      <p:sp>
        <p:nvSpPr>
          <p:cNvPr id="426" name="Google Shape;426;p30"/>
          <p:cNvSpPr txBox="1"/>
          <p:nvPr/>
        </p:nvSpPr>
        <p:spPr>
          <a:xfrm>
            <a:off x="6217920" y="1097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Parte 2/2 (continúa dentro de db:)</a:t>
            </a:r>
            <a:endParaRPr/>
          </a:p>
        </p:txBody>
      </p:sp>
      <p:sp>
        <p:nvSpPr>
          <p:cNvPr id="427" name="Google Shape;427;p30"/>
          <p:cNvSpPr/>
          <p:nvPr/>
        </p:nvSpPr>
        <p:spPr>
          <a:xfrm>
            <a:off x="6217920" y="1353312"/>
            <a:ext cx="5486400" cy="3693668"/>
          </a:xfrm>
          <a:prstGeom prst="roundRect">
            <a:avLst>
              <a:gd fmla="val 6188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healthcheck: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test: ["CMD", "mysqladmin", "ping", "-h", "127.0.0.1", "--silent"]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interval: 10s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timeout: 5s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retries: 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networks: [lamp_net]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phpmyadmin: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image: phpmyadmin:5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ports: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- "8080:80"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environment: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PMA_HOST: db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depends_on: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- db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networks: [lamp_net]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networks: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lamp_net: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volumes: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db_data:</a:t>
            </a:r>
            <a:endParaRPr/>
          </a:p>
        </p:txBody>
      </p:sp>
      <p:sp>
        <p:nvSpPr>
          <p:cNvPr id="428" name="Google Shape;428;p30"/>
          <p:cNvSpPr/>
          <p:nvPr/>
        </p:nvSpPr>
        <p:spPr>
          <a:xfrm>
            <a:off x="6217920" y="5156708"/>
            <a:ext cx="5486400" cy="72771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0"/>
          <p:cNvSpPr/>
          <p:nvPr/>
        </p:nvSpPr>
        <p:spPr>
          <a:xfrm>
            <a:off x="6217920" y="5156708"/>
            <a:ext cx="54864" cy="72771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0"/>
          <p:cNvSpPr txBox="1"/>
          <p:nvPr/>
        </p:nvSpPr>
        <p:spPr>
          <a:xfrm>
            <a:off x="6355080" y="5202427"/>
            <a:ext cx="5257800" cy="636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Cambios: sin version ni links; red propia; depends_on con healthcheck; variables unificadas con el .env; MySQL 8.4 LTS (la rama 8.0 llegó al fin de su soporte en 2026); puerto 3306 limitado a localhost.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07 · Código</a:t>
            </a:r>
            <a:endParaRPr/>
          </a:p>
        </p:txBody>
      </p:sp>
      <p:sp>
        <p:nvSpPr>
          <p:cNvPr id="437" name="Google Shape;437;p31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Estructura del proyecto y prueba de conexión</a:t>
            </a:r>
            <a:endParaRPr/>
          </a:p>
        </p:txBody>
      </p:sp>
      <p:sp>
        <p:nvSpPr>
          <p:cNvPr id="438" name="Google Shape;438;p3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439" name="Google Shape;439;p31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440" name="Google Shape;440;p31"/>
          <p:cNvSpPr txBox="1"/>
          <p:nvPr/>
        </p:nvSpPr>
        <p:spPr>
          <a:xfrm>
            <a:off x="457200" y="109728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Estructura</a:t>
            </a:r>
            <a:endParaRPr/>
          </a:p>
        </p:txBody>
      </p:sp>
      <p:sp>
        <p:nvSpPr>
          <p:cNvPr id="441" name="Google Shape;441;p31"/>
          <p:cNvSpPr/>
          <p:nvPr/>
        </p:nvSpPr>
        <p:spPr>
          <a:xfrm>
            <a:off x="457200" y="1353312"/>
            <a:ext cx="5120640" cy="1947418"/>
          </a:xfrm>
          <a:prstGeom prst="roundRect">
            <a:avLst>
              <a:gd fmla="val 11738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php-lab-wsl/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|-- .env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|-- .gitignore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|-- Dockerfile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|-- compose.yaml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|-- dump/            # *.sql de inicialización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|-- www/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|   `-- index.php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`-- backups/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`-- db_backup.sh</a:t>
            </a:r>
            <a:endParaRPr/>
          </a:p>
        </p:txBody>
      </p:sp>
      <p:sp>
        <p:nvSpPr>
          <p:cNvPr id="442" name="Google Shape;442;p31"/>
          <p:cNvSpPr txBox="1"/>
          <p:nvPr/>
        </p:nvSpPr>
        <p:spPr>
          <a:xfrm>
            <a:off x="457200" y="341045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Crear la estructura</a:t>
            </a:r>
            <a:endParaRPr/>
          </a:p>
        </p:txBody>
      </p:sp>
      <p:sp>
        <p:nvSpPr>
          <p:cNvPr id="443" name="Google Shape;443;p31"/>
          <p:cNvSpPr/>
          <p:nvPr/>
        </p:nvSpPr>
        <p:spPr>
          <a:xfrm>
            <a:off x="457200" y="3666490"/>
            <a:ext cx="5120640" cy="701230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mkdir -p ~/php-lab-wsl/{www,dump,backups}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cd ~/php-lab-wsl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touch .env .gitignore Dockerfile compose.yaml www/index.php</a:t>
            </a:r>
            <a:endParaRPr/>
          </a:p>
        </p:txBody>
      </p:sp>
      <p:sp>
        <p:nvSpPr>
          <p:cNvPr id="444" name="Google Shape;444;p31"/>
          <p:cNvSpPr txBox="1"/>
          <p:nvPr/>
        </p:nvSpPr>
        <p:spPr>
          <a:xfrm>
            <a:off x="5852160" y="1097280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www/index.php</a:t>
            </a:r>
            <a:endParaRPr/>
          </a:p>
        </p:txBody>
      </p:sp>
      <p:sp>
        <p:nvSpPr>
          <p:cNvPr id="445" name="Google Shape;445;p31"/>
          <p:cNvSpPr/>
          <p:nvPr/>
        </p:nvSpPr>
        <p:spPr>
          <a:xfrm>
            <a:off x="5852160" y="1353312"/>
            <a:ext cx="5852160" cy="3034855"/>
          </a:xfrm>
          <a:prstGeom prst="roundRect">
            <a:avLst>
              <a:gd fmla="val 7532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&lt;?php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$host = getenv('DB_HOST') ?: 'db';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try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$pdo = new PDO(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"mysql:host=$host;dbname=" . getenv('DB_NAME') . ";charset=utf8mb4",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getenv('DB_USER'),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getenv('DB_PASS'),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[PDO::ATTR_ERRMODE =&gt; PDO::ERRMODE_EXCEPTION]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echo '&lt;h2&gt;Conexión exitosa&lt;/h2&gt;';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echo '&lt;p&gt;MySQL ' . htmlspecialchars($pdo-&gt;query('SELECT VERSION()')-&gt;fetchColumn()) . '&lt;/p&gt;';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 catch (PDOException $e)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http_response_code(500);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echo 'Error de conexión';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error_log($e-&gt;getMessage());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446" name="Google Shape;446;p31"/>
          <p:cNvSpPr/>
          <p:nvPr/>
        </p:nvSpPr>
        <p:spPr>
          <a:xfrm>
            <a:off x="5852160" y="4497895"/>
            <a:ext cx="5852160" cy="57912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1"/>
          <p:cNvSpPr/>
          <p:nvPr/>
        </p:nvSpPr>
        <p:spPr>
          <a:xfrm>
            <a:off x="5852160" y="4497895"/>
            <a:ext cx="54864" cy="57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 txBox="1"/>
          <p:nvPr/>
        </p:nvSpPr>
        <p:spPr>
          <a:xfrm>
            <a:off x="5989320" y="4543615"/>
            <a:ext cx="562356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Las credenciales llegan por variables de entorno definidas en compose.yaml. Los errores detallados van al log, no a la página.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2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07 · Operación</a:t>
            </a:r>
            <a:endParaRPr/>
          </a:p>
        </p:txBody>
      </p:sp>
      <p:sp>
        <p:nvSpPr>
          <p:cNvPr id="455" name="Google Shape;455;p32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Comandos de Docker Compose y verificación</a:t>
            </a:r>
            <a:endParaRPr/>
          </a:p>
        </p:txBody>
      </p:sp>
      <p:sp>
        <p:nvSpPr>
          <p:cNvPr id="456" name="Google Shape;456;p3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457" name="Google Shape;457;p32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458" name="Google Shape;458;p32"/>
          <p:cNvSpPr/>
          <p:nvPr/>
        </p:nvSpPr>
        <p:spPr>
          <a:xfrm>
            <a:off x="457200" y="1097280"/>
            <a:ext cx="5669280" cy="2264918"/>
          </a:xfrm>
          <a:prstGeom prst="roundRect">
            <a:avLst>
              <a:gd fmla="val 10093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cd ~/php-lab-wsl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config               # validar y ver el YAML resuelto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up -d --build        # construir y levantar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ps                   # estado de servicios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logs -f www          # logs en vivo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exec www bash        # shell dentro de www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exec db mysql -u root -p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restart www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stop                 # detener sin borrar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start                # volver a iniciar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down                 # elimina contenedores y red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down -v              # ... y volúmenes (BORRA la BD)</a:t>
            </a:r>
            <a:endParaRPr/>
          </a:p>
        </p:txBody>
      </p:sp>
      <p:sp>
        <p:nvSpPr>
          <p:cNvPr id="459" name="Google Shape;459;p32"/>
          <p:cNvSpPr txBox="1"/>
          <p:nvPr/>
        </p:nvSpPr>
        <p:spPr>
          <a:xfrm>
            <a:off x="6400800" y="1097280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Verificar</a:t>
            </a:r>
            <a:endParaRPr/>
          </a:p>
        </p:txBody>
      </p:sp>
      <p:sp>
        <p:nvSpPr>
          <p:cNvPr id="460" name="Google Shape;460;p32"/>
          <p:cNvSpPr/>
          <p:nvPr/>
        </p:nvSpPr>
        <p:spPr>
          <a:xfrm>
            <a:off x="6400800" y="1353312"/>
            <a:ext cx="5303520" cy="14711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Desde Debian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curl -I http://localhost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curl -I http://localhost:8080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Desde PowerShell (Windows)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Invoke-WebRequest http://localhost -UseBasicParsing | Select StatusCode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Start-Process http://localhost:8080</a:t>
            </a:r>
            <a:endParaRPr/>
          </a:p>
        </p:txBody>
      </p:sp>
      <p:sp>
        <p:nvSpPr>
          <p:cNvPr id="461" name="Google Shape;461;p32"/>
          <p:cNvSpPr txBox="1"/>
          <p:nvPr/>
        </p:nvSpPr>
        <p:spPr>
          <a:xfrm>
            <a:off x="6400800" y="2934208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Backup manual de la base</a:t>
            </a:r>
            <a:endParaRPr/>
          </a:p>
        </p:txBody>
      </p:sp>
      <p:sp>
        <p:nvSpPr>
          <p:cNvPr id="462" name="Google Shape;462;p32"/>
          <p:cNvSpPr/>
          <p:nvPr/>
        </p:nvSpPr>
        <p:spPr>
          <a:xfrm>
            <a:off x="6400800" y="3190240"/>
            <a:ext cx="5303520" cy="518667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exec -T db sh -c 'exec mysqldump -uroot -p"$MYSQL_ROOT_PASSWORD" "$MYSQL_DATABASE"' &gt; backups/db_$(date +%F).sql</a:t>
            </a:r>
            <a:endParaRPr/>
          </a:p>
        </p:txBody>
      </p:sp>
      <p:sp>
        <p:nvSpPr>
          <p:cNvPr id="463" name="Google Shape;463;p32"/>
          <p:cNvSpPr/>
          <p:nvPr/>
        </p:nvSpPr>
        <p:spPr>
          <a:xfrm>
            <a:off x="6400800" y="3818636"/>
            <a:ext cx="5303520" cy="579120"/>
          </a:xfrm>
          <a:prstGeom prst="rect">
            <a:avLst/>
          </a:prstGeom>
          <a:solidFill>
            <a:srgbClr val="2A1F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2"/>
          <p:cNvSpPr/>
          <p:nvPr/>
        </p:nvSpPr>
        <p:spPr>
          <a:xfrm>
            <a:off x="6400800" y="3818636"/>
            <a:ext cx="54864" cy="57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2"/>
          <p:cNvSpPr txBox="1"/>
          <p:nvPr/>
        </p:nvSpPr>
        <p:spPr>
          <a:xfrm>
            <a:off x="6537960" y="3864356"/>
            <a:ext cx="50749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down -v elimina el volumen con los datos. Usarlo solo para reiniciar el laboratorio desde cero.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08 · Instalación nativa</a:t>
            </a:r>
            <a:endParaRPr/>
          </a:p>
        </p:txBody>
      </p:sp>
      <p:sp>
        <p:nvSpPr>
          <p:cNvPr id="472" name="Google Shape;472;p33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PHP + base de datos nativos en Debian (script)</a:t>
            </a:r>
            <a:endParaRPr/>
          </a:p>
        </p:txBody>
      </p:sp>
      <p:sp>
        <p:nvSpPr>
          <p:cNvPr id="473" name="Google Shape;473;p33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474" name="Google Shape;474;p33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475" name="Google Shape;475;p33"/>
          <p:cNvSpPr txBox="1"/>
          <p:nvPr/>
        </p:nvSpPr>
        <p:spPr>
          <a:xfrm>
            <a:off x="457200" y="1097280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install_php_mysql_wsl.sh</a:t>
            </a:r>
            <a:endParaRPr/>
          </a:p>
        </p:txBody>
      </p:sp>
      <p:sp>
        <p:nvSpPr>
          <p:cNvPr id="476" name="Google Shape;476;p33"/>
          <p:cNvSpPr/>
          <p:nvPr/>
        </p:nvSpPr>
        <p:spPr>
          <a:xfrm>
            <a:off x="457200" y="1353312"/>
            <a:ext cx="11247120" cy="3534918"/>
          </a:xfrm>
          <a:prstGeom prst="roundRect">
            <a:avLst>
              <a:gd fmla="val 6466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#!/bin/bash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set -euo pipefail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[ -f .env ] || { echo "ERROR: falta el archivo .env"; exit 1;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set -a; source .env; set +a          # carga variables de forma segura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echo "Instalando paquetes..."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apt update -y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apt install -y apache2 libapache2-mod-php php php-cli php-mysql php-zip php-mbstring 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mariadb-server composer unzip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Módulos de Apache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a2enmod userdir rewrite headers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Servicios (con systemd activo)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systemctl enable --now apache2 mariadb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Sin systemd:  sudo service apache2 start &amp;&amp; sudo service mariadb start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echo "Instalación completada: http://localhost"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php -v | head -n 1</a:t>
            </a:r>
            <a:endParaRPr/>
          </a:p>
        </p:txBody>
      </p:sp>
      <p:sp>
        <p:nvSpPr>
          <p:cNvPr id="477" name="Google Shape;477;p33"/>
          <p:cNvSpPr/>
          <p:nvPr/>
        </p:nvSpPr>
        <p:spPr>
          <a:xfrm>
            <a:off x="457200" y="4997958"/>
            <a:ext cx="11247120" cy="562610"/>
          </a:xfrm>
          <a:prstGeom prst="rect">
            <a:avLst/>
          </a:prstGeom>
          <a:solidFill>
            <a:srgbClr val="2A1F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3"/>
          <p:cNvSpPr/>
          <p:nvPr/>
        </p:nvSpPr>
        <p:spPr>
          <a:xfrm>
            <a:off x="457200" y="4997958"/>
            <a:ext cx="54864" cy="56261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3"/>
          <p:cNvSpPr txBox="1"/>
          <p:nvPr/>
        </p:nvSpPr>
        <p:spPr>
          <a:xfrm>
            <a:off x="594360" y="5043678"/>
            <a:ext cx="11018520" cy="471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Importante en Debian: el paquete mysql-server no existe en los repositorios de Debian; el equivalente es MariaDB (mariadb-server), compatible con MySQL para esta práctica. La versión de PHP depende de la distro (8.2 en Debian 12, 8.4 en Debian 13). En Ubuntu 24.04 sí hay php8.3 y mysql-server.</a:t>
            </a:r>
            <a:endParaRPr/>
          </a:p>
        </p:txBody>
      </p:sp>
      <p:sp>
        <p:nvSpPr>
          <p:cNvPr id="480" name="Google Shape;480;p33"/>
          <p:cNvSpPr/>
          <p:nvPr/>
        </p:nvSpPr>
        <p:spPr>
          <a:xfrm>
            <a:off x="457200" y="5652008"/>
            <a:ext cx="11247120" cy="56261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3"/>
          <p:cNvSpPr/>
          <p:nvPr/>
        </p:nvSpPr>
        <p:spPr>
          <a:xfrm>
            <a:off x="457200" y="5652008"/>
            <a:ext cx="54864" cy="56261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594360" y="5697728"/>
            <a:ext cx="11018520" cy="471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Conflicto de puertos: Apache nativo y el contenedor www usan el puerto 80. Detener uno antes de usar el otro: sudo systemctl stop apache2. Ver quién escucha: sudo ss -tlnp | grep ':80'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4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08 · Base de datos</a:t>
            </a:r>
            <a:endParaRPr/>
          </a:p>
        </p:txBody>
      </p:sp>
      <p:sp>
        <p:nvSpPr>
          <p:cNvPr id="489" name="Google Shape;489;p34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Crear base de datos y usuario con mínimos privilegios</a:t>
            </a:r>
            <a:endParaRPr/>
          </a:p>
        </p:txBody>
      </p:sp>
      <p:sp>
        <p:nvSpPr>
          <p:cNvPr id="490" name="Google Shape;490;p3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491" name="Google Shape;491;p34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492" name="Google Shape;492;p34"/>
          <p:cNvSpPr txBox="1"/>
          <p:nvPr/>
        </p:nvSpPr>
        <p:spPr>
          <a:xfrm>
            <a:off x="457200" y="1097280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Continuación del script (usa las variables del .env)</a:t>
            </a:r>
            <a:endParaRPr/>
          </a:p>
        </p:txBody>
      </p:sp>
      <p:sp>
        <p:nvSpPr>
          <p:cNvPr id="493" name="Google Shape;493;p34"/>
          <p:cNvSpPr/>
          <p:nvPr/>
        </p:nvSpPr>
        <p:spPr>
          <a:xfrm>
            <a:off x="457200" y="1353312"/>
            <a:ext cx="5669280" cy="2201418"/>
          </a:xfrm>
          <a:prstGeom prst="roundRect">
            <a:avLst>
              <a:gd fmla="val 10384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mariadb &lt;&lt;SQL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CREATE DATABASE IF NOT EXISTS \`${DB_NAME}\`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CHARACTER SET utf8mb4 COLLATE utf8mb4_unicode_ci;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CREATE USER IF NOT EXISTS '${DB_USER}'@'localhost'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IDENTIFIED BY '${DB_PASS}';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GRANT ALL PRIVILEGES ON \`${DB_NAME}\`.*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TO '${DB_USER}'@'localhost';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FLUSH PRIVILEGES;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SQL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Probar con el usuario de la aplicación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mariadb -u "$DB_USER" -p"$DB_PASS" -e "SHOW DATABASES;"</a:t>
            </a:r>
            <a:endParaRPr/>
          </a:p>
        </p:txBody>
      </p:sp>
      <p:sp>
        <p:nvSpPr>
          <p:cNvPr id="494" name="Google Shape;494;p34"/>
          <p:cNvSpPr/>
          <p:nvPr/>
        </p:nvSpPr>
        <p:spPr>
          <a:xfrm>
            <a:off x="457200" y="3664458"/>
            <a:ext cx="5669280" cy="909320"/>
          </a:xfrm>
          <a:prstGeom prst="rect">
            <a:avLst/>
          </a:prstGeom>
          <a:solidFill>
            <a:srgbClr val="2A1F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4"/>
          <p:cNvSpPr/>
          <p:nvPr/>
        </p:nvSpPr>
        <p:spPr>
          <a:xfrm>
            <a:off x="457200" y="3664458"/>
            <a:ext cx="54864" cy="909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4"/>
          <p:cNvSpPr txBox="1"/>
          <p:nvPr/>
        </p:nvSpPr>
        <p:spPr>
          <a:xfrm>
            <a:off x="594360" y="3710178"/>
            <a:ext cx="5440680" cy="81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Los backticks se escriben como \` porque el heredoc &lt;&lt;SQL no está entre comillas y bash los interpretaría como sustitución de comandos. El usuario de la aplicación solo tiene permisos sobre su base: nunca usar root desde PHP. Evitar comillas simples en las contraseñas del .env.</a:t>
            </a:r>
            <a:endParaRPr/>
          </a:p>
        </p:txBody>
      </p:sp>
      <p:sp>
        <p:nvSpPr>
          <p:cNvPr id="497" name="Google Shape;497;p34"/>
          <p:cNvSpPr txBox="1"/>
          <p:nvPr/>
        </p:nvSpPr>
        <p:spPr>
          <a:xfrm>
            <a:off x="6400800" y="1097280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Asegurar el servidor</a:t>
            </a:r>
            <a:endParaRPr/>
          </a:p>
        </p:txBody>
      </p:sp>
      <p:sp>
        <p:nvSpPr>
          <p:cNvPr id="498" name="Google Shape;498;p34"/>
          <p:cNvSpPr/>
          <p:nvPr/>
        </p:nvSpPr>
        <p:spPr>
          <a:xfrm>
            <a:off x="6400800" y="1353312"/>
            <a:ext cx="5303520" cy="1701355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mariadb-secure-installation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Escuchar solo en local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nano /etc/mysql/mariadb.conf.d/50-server.cnf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bind-address = 127.0.0.1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systemctl restart mariadb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Verificar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ss -tlnp | grep 3306</a:t>
            </a:r>
            <a:endParaRPr/>
          </a:p>
        </p:txBody>
      </p:sp>
      <p:sp>
        <p:nvSpPr>
          <p:cNvPr id="499" name="Google Shape;499;p34"/>
          <p:cNvSpPr txBox="1"/>
          <p:nvPr/>
        </p:nvSpPr>
        <p:spPr>
          <a:xfrm>
            <a:off x="6400800" y="3164395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Sitio de usuario (userdir)</a:t>
            </a:r>
            <a:endParaRPr/>
          </a:p>
        </p:txBody>
      </p:sp>
      <p:sp>
        <p:nvSpPr>
          <p:cNvPr id="500" name="Google Shape;500;p34"/>
          <p:cNvSpPr/>
          <p:nvPr/>
        </p:nvSpPr>
        <p:spPr>
          <a:xfrm>
            <a:off x="6400800" y="3420427"/>
            <a:ext cx="5303520" cy="1201293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mkdir -p ~/public_html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echo '&lt;?php phpinfo();' &gt; ~/public_html/info.php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chmod 711 ~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chmod 755 ~/public_html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http://localhost/~tu_usuario/info.php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Borrar info.php al terminar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09 · Automatización</a:t>
            </a:r>
            <a:endParaRPr/>
          </a:p>
        </p:txBody>
      </p:sp>
      <p:sp>
        <p:nvSpPr>
          <p:cNvPr id="507" name="Google Shape;507;p35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Respaldo de la base con cron</a:t>
            </a:r>
            <a:endParaRPr/>
          </a:p>
        </p:txBody>
      </p:sp>
      <p:sp>
        <p:nvSpPr>
          <p:cNvPr id="508" name="Google Shape;508;p3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509" name="Google Shape;509;p35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510" name="Google Shape;510;p35"/>
          <p:cNvSpPr txBox="1"/>
          <p:nvPr/>
        </p:nvSpPr>
        <p:spPr>
          <a:xfrm>
            <a:off x="457200" y="1097280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~/.my.cnf (evita la clave en el script)</a:t>
            </a:r>
            <a:endParaRPr/>
          </a:p>
        </p:txBody>
      </p:sp>
      <p:sp>
        <p:nvSpPr>
          <p:cNvPr id="511" name="Google Shape;511;p35"/>
          <p:cNvSpPr/>
          <p:nvPr/>
        </p:nvSpPr>
        <p:spPr>
          <a:xfrm>
            <a:off x="457200" y="1353312"/>
            <a:ext cx="5669280" cy="1034605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[client]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user=php_user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password=cambiar_esta_clave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chmod 600 ~/.my.cnf</a:t>
            </a:r>
            <a:endParaRPr/>
          </a:p>
        </p:txBody>
      </p:sp>
      <p:sp>
        <p:nvSpPr>
          <p:cNvPr id="512" name="Google Shape;512;p35"/>
          <p:cNvSpPr txBox="1"/>
          <p:nvPr/>
        </p:nvSpPr>
        <p:spPr>
          <a:xfrm>
            <a:off x="457200" y="2497645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backups/db_backup.sh</a:t>
            </a:r>
            <a:endParaRPr/>
          </a:p>
        </p:txBody>
      </p:sp>
      <p:sp>
        <p:nvSpPr>
          <p:cNvPr id="513" name="Google Shape;513;p35"/>
          <p:cNvSpPr/>
          <p:nvPr/>
        </p:nvSpPr>
        <p:spPr>
          <a:xfrm>
            <a:off x="457200" y="2753677"/>
            <a:ext cx="5669280" cy="2264918"/>
          </a:xfrm>
          <a:prstGeom prst="roundRect">
            <a:avLst>
              <a:gd fmla="val 10093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#!/bin/bash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set -euo pipefail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source "$(dirname "$0")/../.env"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DATE=$(date +%Y-%m-%d_%H-%M)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BACKUP_DIR="$HOME/backups"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mkdir -p "$BACKUP_DIR"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mysqldump --single-transaction "$DB_NAME" 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&gt; "$BACKUP_DIR/${DB_NAME}_${DATE}.sql"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Borrar respaldos de más de 7 días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find "$BACKUP_DIR" -type f -name '*.sql' -mtime +7 -delete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echo "Backup: ${DB_NAME}_${DATE}.sql"</a:t>
            </a:r>
            <a:endParaRPr/>
          </a:p>
        </p:txBody>
      </p:sp>
      <p:sp>
        <p:nvSpPr>
          <p:cNvPr id="514" name="Google Shape;514;p35"/>
          <p:cNvSpPr txBox="1"/>
          <p:nvPr/>
        </p:nvSpPr>
        <p:spPr>
          <a:xfrm>
            <a:off x="6400800" y="1097280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Programar (domingo 02:00)</a:t>
            </a:r>
            <a:endParaRPr/>
          </a:p>
        </p:txBody>
      </p:sp>
      <p:sp>
        <p:nvSpPr>
          <p:cNvPr id="515" name="Google Shape;515;p35"/>
          <p:cNvSpPr/>
          <p:nvPr/>
        </p:nvSpPr>
        <p:spPr>
          <a:xfrm>
            <a:off x="6400800" y="1353312"/>
            <a:ext cx="5303520" cy="17886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chmod +x ~/php-lab-wsl/backups/db_backup.sh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apt install -y cron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systemctl enable --now cron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crontab -e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0 2 * * 0 /home/TU_USUARIO/php-lab-wsl/backups/db_backup.sh &gt;&gt; /home/TU_USUARIO/backups/backup.log 2&gt;&amp;1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crontab -l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systemctl status cron</a:t>
            </a:r>
            <a:endParaRPr/>
          </a:p>
        </p:txBody>
      </p:sp>
      <p:sp>
        <p:nvSpPr>
          <p:cNvPr id="516" name="Google Shape;516;p35"/>
          <p:cNvSpPr/>
          <p:nvPr/>
        </p:nvSpPr>
        <p:spPr>
          <a:xfrm>
            <a:off x="6400800" y="3251708"/>
            <a:ext cx="5303520" cy="727710"/>
          </a:xfrm>
          <a:prstGeom prst="rect">
            <a:avLst/>
          </a:prstGeom>
          <a:solidFill>
            <a:srgbClr val="2A1F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5"/>
          <p:cNvSpPr/>
          <p:nvPr/>
        </p:nvSpPr>
        <p:spPr>
          <a:xfrm>
            <a:off x="6400800" y="3251708"/>
            <a:ext cx="54864" cy="72771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5"/>
          <p:cNvSpPr txBox="1"/>
          <p:nvPr/>
        </p:nvSpPr>
        <p:spPr>
          <a:xfrm>
            <a:off x="6537960" y="3297427"/>
            <a:ext cx="5074920" cy="636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WSL se detiene cuando no hay procesos activos, y cron solo corre mientras la distro está encendida. Alternativa robusta: el programador de tareas de Windows.</a:t>
            </a:r>
            <a:endParaRPr/>
          </a:p>
        </p:txBody>
      </p:sp>
      <p:sp>
        <p:nvSpPr>
          <p:cNvPr id="519" name="Google Shape;519;p35"/>
          <p:cNvSpPr txBox="1"/>
          <p:nvPr/>
        </p:nvSpPr>
        <p:spPr>
          <a:xfrm>
            <a:off x="6400800" y="4070857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Programador de tareas de Windows</a:t>
            </a:r>
            <a:endParaRPr/>
          </a:p>
        </p:txBody>
      </p:sp>
      <p:sp>
        <p:nvSpPr>
          <p:cNvPr id="520" name="Google Shape;520;p35"/>
          <p:cNvSpPr/>
          <p:nvPr/>
        </p:nvSpPr>
        <p:spPr>
          <a:xfrm>
            <a:off x="6400800" y="4326890"/>
            <a:ext cx="5303520" cy="518667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schtasks /create /tn "BackupDB" /tr "wsl -d Debian -- /home/TU_USUARIO/php-lab-wsl/backups/db_backup.sh" /sc weekly /d SUN /st 02:00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6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10 · Seguridad</a:t>
            </a:r>
            <a:endParaRPr/>
          </a:p>
        </p:txBody>
      </p:sp>
      <p:sp>
        <p:nvSpPr>
          <p:cNvPr id="527" name="Google Shape;527;p36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Hardening: lista de control con comandos</a:t>
            </a:r>
            <a:endParaRPr/>
          </a:p>
        </p:txBody>
      </p:sp>
      <p:sp>
        <p:nvSpPr>
          <p:cNvPr id="528" name="Google Shape;528;p36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529" name="Google Shape;529;p36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530" name="Google Shape;530;p36"/>
          <p:cNvSpPr txBox="1"/>
          <p:nvPr/>
        </p:nvSpPr>
        <p:spPr>
          <a:xfrm>
            <a:off x="457200" y="109728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Secretos fuera del código</a:t>
            </a:r>
            <a:endParaRPr/>
          </a:p>
        </p:txBody>
      </p:sp>
      <p:sp>
        <p:nvSpPr>
          <p:cNvPr id="531" name="Google Shape;531;p36"/>
          <p:cNvSpPr/>
          <p:nvPr/>
        </p:nvSpPr>
        <p:spPr>
          <a:xfrm>
            <a:off x="457200" y="1353312"/>
            <a:ext cx="3611880" cy="7726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chmod 600 .env ~/.my.cnf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echo ".env" &gt;&gt; .gitignore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git ls-files | grep -E '\.env$'   # no debe listar nada</a:t>
            </a:r>
            <a:endParaRPr/>
          </a:p>
        </p:txBody>
      </p:sp>
      <p:sp>
        <p:nvSpPr>
          <p:cNvPr id="532" name="Google Shape;532;p36"/>
          <p:cNvSpPr txBox="1"/>
          <p:nvPr/>
        </p:nvSpPr>
        <p:spPr>
          <a:xfrm>
            <a:off x="4251960" y="109728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SSH con claves</a:t>
            </a:r>
            <a:endParaRPr/>
          </a:p>
        </p:txBody>
      </p:sp>
      <p:sp>
        <p:nvSpPr>
          <p:cNvPr id="533" name="Google Shape;533;p36"/>
          <p:cNvSpPr/>
          <p:nvPr/>
        </p:nvSpPr>
        <p:spPr>
          <a:xfrm>
            <a:off x="4251960" y="1353312"/>
            <a:ext cx="3611880" cy="7726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sshd -T | grep -Ei 'passwordauth|permitroot|port'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apt install -y fail2ban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systemctl enable --now fail2ban</a:t>
            </a:r>
            <a:endParaRPr/>
          </a:p>
        </p:txBody>
      </p:sp>
      <p:sp>
        <p:nvSpPr>
          <p:cNvPr id="534" name="Google Shape;534;p36"/>
          <p:cNvSpPr txBox="1"/>
          <p:nvPr/>
        </p:nvSpPr>
        <p:spPr>
          <a:xfrm>
            <a:off x="8046720" y="109728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Permisos web</a:t>
            </a:r>
            <a:endParaRPr/>
          </a:p>
        </p:txBody>
      </p:sp>
      <p:sp>
        <p:nvSpPr>
          <p:cNvPr id="535" name="Google Shape;535;p36"/>
          <p:cNvSpPr/>
          <p:nvPr/>
        </p:nvSpPr>
        <p:spPr>
          <a:xfrm>
            <a:off x="8046720" y="1353312"/>
            <a:ext cx="3611880" cy="915543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find /var/www/html -type d -exec chmod 755 {} \;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find /var/www/html -type f -exec chmod 644 {} \;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ls -ld /var/www/html</a:t>
            </a:r>
            <a:endParaRPr/>
          </a:p>
        </p:txBody>
      </p:sp>
      <p:sp>
        <p:nvSpPr>
          <p:cNvPr id="536" name="Google Shape;536;p36"/>
          <p:cNvSpPr txBox="1"/>
          <p:nvPr/>
        </p:nvSpPr>
        <p:spPr>
          <a:xfrm>
            <a:off x="457200" y="2424303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Base de datos</a:t>
            </a:r>
            <a:endParaRPr/>
          </a:p>
        </p:txBody>
      </p:sp>
      <p:sp>
        <p:nvSpPr>
          <p:cNvPr id="537" name="Google Shape;537;p36"/>
          <p:cNvSpPr/>
          <p:nvPr/>
        </p:nvSpPr>
        <p:spPr>
          <a:xfrm>
            <a:off x="457200" y="2680335"/>
            <a:ext cx="3611880" cy="629793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ss -tlnp | grep 3306   # debe ser 127.0.0.1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mariadb -u root -e "SELECT user,host FROM mysql.user;"</a:t>
            </a:r>
            <a:endParaRPr/>
          </a:p>
        </p:txBody>
      </p:sp>
      <p:sp>
        <p:nvSpPr>
          <p:cNvPr id="538" name="Google Shape;538;p36"/>
          <p:cNvSpPr txBox="1"/>
          <p:nvPr/>
        </p:nvSpPr>
        <p:spPr>
          <a:xfrm>
            <a:off x="4251960" y="2424303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Docker: aislar la BD</a:t>
            </a:r>
            <a:endParaRPr/>
          </a:p>
        </p:txBody>
      </p:sp>
      <p:sp>
        <p:nvSpPr>
          <p:cNvPr id="539" name="Google Shape;539;p36"/>
          <p:cNvSpPr/>
          <p:nvPr/>
        </p:nvSpPr>
        <p:spPr>
          <a:xfrm>
            <a:off x="4251960" y="2680335"/>
            <a:ext cx="3611880" cy="7726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ps --format "table {{.Name}}\t{{.Ports}}"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config | grep -A2 ports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En producción: db sin sección ports</a:t>
            </a:r>
            <a:endParaRPr/>
          </a:p>
        </p:txBody>
      </p:sp>
      <p:sp>
        <p:nvSpPr>
          <p:cNvPr id="540" name="Google Shape;540;p36"/>
          <p:cNvSpPr txBox="1"/>
          <p:nvPr/>
        </p:nvSpPr>
        <p:spPr>
          <a:xfrm>
            <a:off x="8046720" y="2424303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Actualizaciones</a:t>
            </a:r>
            <a:endParaRPr/>
          </a:p>
        </p:txBody>
      </p:sp>
      <p:sp>
        <p:nvSpPr>
          <p:cNvPr id="541" name="Google Shape;541;p36"/>
          <p:cNvSpPr/>
          <p:nvPr/>
        </p:nvSpPr>
        <p:spPr>
          <a:xfrm>
            <a:off x="8046720" y="2680335"/>
            <a:ext cx="3611880" cy="7726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apt update &amp;&amp; sudo apt upgrade -y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pull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up -d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image prune -f</a:t>
            </a:r>
            <a:endParaRPr/>
          </a:p>
        </p:txBody>
      </p:sp>
      <p:sp>
        <p:nvSpPr>
          <p:cNvPr id="542" name="Google Shape;542;p36"/>
          <p:cNvSpPr/>
          <p:nvPr/>
        </p:nvSpPr>
        <p:spPr>
          <a:xfrm>
            <a:off x="457200" y="3608451"/>
            <a:ext cx="11247120" cy="372745"/>
          </a:xfrm>
          <a:prstGeom prst="rect">
            <a:avLst/>
          </a:prstGeom>
          <a:solidFill>
            <a:srgbClr val="0C24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6"/>
          <p:cNvSpPr/>
          <p:nvPr/>
        </p:nvSpPr>
        <p:spPr>
          <a:xfrm>
            <a:off x="457200" y="3608451"/>
            <a:ext cx="54864" cy="37274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6"/>
          <p:cNvSpPr txBox="1"/>
          <p:nvPr/>
        </p:nvSpPr>
        <p:spPr>
          <a:xfrm>
            <a:off x="594360" y="3654171"/>
            <a:ext cx="11018520" cy="2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Fijar etiquetas concretas (mysql:8.4), no latest. En producción la base no publica puertos y las credenciales no van en el repositorio.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7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Módulo Final</a:t>
            </a:r>
            <a:endParaRPr/>
          </a:p>
        </p:txBody>
      </p:sp>
      <p:sp>
        <p:nvSpPr>
          <p:cNvPr id="551" name="Google Shape;551;p37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WSL nativo vs Docker Compose</a:t>
            </a:r>
            <a:endParaRPr/>
          </a:p>
        </p:txBody>
      </p:sp>
      <p:sp>
        <p:nvSpPr>
          <p:cNvPr id="552" name="Google Shape;552;p37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553" name="Google Shape;553;p37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graphicFrame>
        <p:nvGraphicFramePr>
          <p:cNvPr id="554" name="Google Shape;554;p37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{196C6FD1-5AD0-48A3-AC7F-3688BED2FF21}</a:tableStyleId>
              </a:tblPr>
              <a:tblGrid>
                <a:gridCol w="2811775"/>
                <a:gridCol w="3936500"/>
                <a:gridCol w="44988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Aspecto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Debian nativo (WSL)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Docker Compose (Docker Desktop)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F1E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Instalación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apt install + scripts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docker compose up -d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Reproducibilidad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 de la distro y versión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Idéntica en cualquier equipo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Portabilidad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Solo en esa instalación de WSL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Exportable a VPS o nube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Rendimiento I/O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Nativo (ext4)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Pequeña sobrecarga (capas/overlay)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Consumo de recursos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Bajo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Mayor (Docker Desktop + VM)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Aislamiento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Comparte la distro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Contenedores independientes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Curva de aprendizaje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Menor (Linux puro)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Mayor (Docker + YAML)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Ideal para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Aprender administración Linux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Proyectos reales y equipos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555" name="Google Shape;555;p37"/>
          <p:cNvSpPr/>
          <p:nvPr/>
        </p:nvSpPr>
        <p:spPr>
          <a:xfrm>
            <a:off x="457200" y="5486399"/>
            <a:ext cx="11247120" cy="381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7"/>
          <p:cNvSpPr/>
          <p:nvPr/>
        </p:nvSpPr>
        <p:spPr>
          <a:xfrm>
            <a:off x="457200" y="5486399"/>
            <a:ext cx="54864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7"/>
          <p:cNvSpPr txBox="1"/>
          <p:nvPr/>
        </p:nvSpPr>
        <p:spPr>
          <a:xfrm>
            <a:off x="594360" y="5532119"/>
            <a:ext cx="11018520" cy="289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Recomendación: WSL nativo para practicar Linux; Docker Compose para proyectos, equipos y despliegue.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8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Troubleshooting</a:t>
            </a:r>
            <a:endParaRPr/>
          </a:p>
        </p:txBody>
      </p:sp>
      <p:sp>
        <p:nvSpPr>
          <p:cNvPr id="564" name="Google Shape;564;p38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Problemas frecuentes y comandos de diagnóstico</a:t>
            </a:r>
            <a:endParaRPr/>
          </a:p>
        </p:txBody>
      </p:sp>
      <p:sp>
        <p:nvSpPr>
          <p:cNvPr id="565" name="Google Shape;565;p3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566" name="Google Shape;566;p38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567" name="Google Shape;567;p38"/>
          <p:cNvSpPr txBox="1"/>
          <p:nvPr/>
        </p:nvSpPr>
        <p:spPr>
          <a:xfrm>
            <a:off x="457200" y="1097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WSL no inicia (error de virtualización)</a:t>
            </a:r>
            <a:endParaRPr/>
          </a:p>
        </p:txBody>
      </p:sp>
      <p:sp>
        <p:nvSpPr>
          <p:cNvPr id="568" name="Google Shape;568;p38"/>
          <p:cNvSpPr/>
          <p:nvPr/>
        </p:nvSpPr>
        <p:spPr>
          <a:xfrm>
            <a:off x="457200" y="1353312"/>
            <a:ext cx="5486400" cy="11536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--status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--update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--shutdown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Habilitar virtualización en BIOS/UEFI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bcdedit /enum | findstr -i hypervisorlaunchtype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bcdedit /set hypervisorlaunchtype auto</a:t>
            </a:r>
            <a:endParaRPr/>
          </a:p>
        </p:txBody>
      </p:sp>
      <p:sp>
        <p:nvSpPr>
          <p:cNvPr id="569" name="Google Shape;569;p38"/>
          <p:cNvSpPr txBox="1"/>
          <p:nvPr/>
        </p:nvSpPr>
        <p:spPr>
          <a:xfrm>
            <a:off x="457200" y="261670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Docker Desktop no arranca</a:t>
            </a:r>
            <a:endParaRPr/>
          </a:p>
        </p:txBody>
      </p:sp>
      <p:sp>
        <p:nvSpPr>
          <p:cNvPr id="570" name="Google Shape;570;p38"/>
          <p:cNvSpPr/>
          <p:nvPr/>
        </p:nvSpPr>
        <p:spPr>
          <a:xfrm>
            <a:off x="457200" y="2872740"/>
            <a:ext cx="5486400" cy="8361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-l -v                 # docker-desktop en Running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--shutdown            # y reabrir Docker Desktop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context 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info</a:t>
            </a:r>
            <a:endParaRPr/>
          </a:p>
        </p:txBody>
      </p:sp>
      <p:sp>
        <p:nvSpPr>
          <p:cNvPr id="571" name="Google Shape;571;p38"/>
          <p:cNvSpPr txBox="1"/>
          <p:nvPr/>
        </p:nvSpPr>
        <p:spPr>
          <a:xfrm>
            <a:off x="457200" y="381863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El contenedor no ve la base</a:t>
            </a:r>
            <a:endParaRPr/>
          </a:p>
        </p:txBody>
      </p:sp>
      <p:sp>
        <p:nvSpPr>
          <p:cNvPr id="572" name="Google Shape;572;p38"/>
          <p:cNvSpPr/>
          <p:nvPr/>
        </p:nvSpPr>
        <p:spPr>
          <a:xfrm>
            <a:off x="457200" y="4074668"/>
            <a:ext cx="5486400" cy="67741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logs db | tail -n 30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exec www getent hosts db</a:t>
            </a:r>
            <a:endParaRPr/>
          </a:p>
        </p:txBody>
      </p:sp>
      <p:sp>
        <p:nvSpPr>
          <p:cNvPr id="573" name="Google Shape;573;p38"/>
          <p:cNvSpPr txBox="1"/>
          <p:nvPr/>
        </p:nvSpPr>
        <p:spPr>
          <a:xfrm>
            <a:off x="6217920" y="1097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Puerto en uso</a:t>
            </a:r>
            <a:endParaRPr/>
          </a:p>
        </p:txBody>
      </p:sp>
      <p:sp>
        <p:nvSpPr>
          <p:cNvPr id="574" name="Google Shape;574;p38"/>
          <p:cNvSpPr/>
          <p:nvPr/>
        </p:nvSpPr>
        <p:spPr>
          <a:xfrm>
            <a:off x="6217920" y="1353312"/>
            <a:ext cx="5486400" cy="99491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Linux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ss -tlnp | grep ':80'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Windows (PowerShell)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netstat -ano | findstr :80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Get-Process -Id NUMERO_PID</a:t>
            </a:r>
            <a:endParaRPr/>
          </a:p>
        </p:txBody>
      </p:sp>
      <p:sp>
        <p:nvSpPr>
          <p:cNvPr id="575" name="Google Shape;575;p38"/>
          <p:cNvSpPr txBox="1"/>
          <p:nvPr/>
        </p:nvSpPr>
        <p:spPr>
          <a:xfrm>
            <a:off x="6217920" y="245795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Mucha RAM consumida (vmmem / vmmemWSL)</a:t>
            </a:r>
            <a:endParaRPr/>
          </a:p>
        </p:txBody>
      </p:sp>
      <p:sp>
        <p:nvSpPr>
          <p:cNvPr id="576" name="Google Shape;576;p38"/>
          <p:cNvSpPr/>
          <p:nvPr/>
        </p:nvSpPr>
        <p:spPr>
          <a:xfrm>
            <a:off x="6217920" y="2713990"/>
            <a:ext cx="5486400" cy="99491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Limitar en %UserProfile%\.wslconfig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[wsl2]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memory=4GB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Aplicar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--shutdown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9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Referencia rápida</a:t>
            </a:r>
            <a:endParaRPr/>
          </a:p>
        </p:txBody>
      </p:sp>
      <p:sp>
        <p:nvSpPr>
          <p:cNvPr id="583" name="Google Shape;583;p39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Comandos esenciales</a:t>
            </a:r>
            <a:endParaRPr/>
          </a:p>
        </p:txBody>
      </p:sp>
      <p:sp>
        <p:nvSpPr>
          <p:cNvPr id="584" name="Google Shape;584;p3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585" name="Google Shape;585;p39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586" name="Google Shape;586;p39"/>
          <p:cNvSpPr txBox="1"/>
          <p:nvPr/>
        </p:nvSpPr>
        <p:spPr>
          <a:xfrm>
            <a:off x="457200" y="109728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WSL (PowerShell)</a:t>
            </a:r>
            <a:endParaRPr/>
          </a:p>
        </p:txBody>
      </p:sp>
      <p:sp>
        <p:nvSpPr>
          <p:cNvPr id="587" name="Google Shape;587;p39"/>
          <p:cNvSpPr/>
          <p:nvPr/>
        </p:nvSpPr>
        <p:spPr>
          <a:xfrm>
            <a:off x="457200" y="1353312"/>
            <a:ext cx="3611880" cy="11536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--install -d Debian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-l -v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--set-default-version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--shutdown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--update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--export Debian D:\d.tar</a:t>
            </a:r>
            <a:endParaRPr/>
          </a:p>
        </p:txBody>
      </p:sp>
      <p:sp>
        <p:nvSpPr>
          <p:cNvPr id="588" name="Google Shape;588;p39"/>
          <p:cNvSpPr txBox="1"/>
          <p:nvPr/>
        </p:nvSpPr>
        <p:spPr>
          <a:xfrm>
            <a:off x="4251960" y="109728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Docker Compose</a:t>
            </a:r>
            <a:endParaRPr/>
          </a:p>
        </p:txBody>
      </p:sp>
      <p:sp>
        <p:nvSpPr>
          <p:cNvPr id="589" name="Google Shape;589;p39"/>
          <p:cNvSpPr/>
          <p:nvPr/>
        </p:nvSpPr>
        <p:spPr>
          <a:xfrm>
            <a:off x="4251960" y="1353312"/>
            <a:ext cx="3611880" cy="11536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up -d --build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logs -f www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exec www bash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stop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down -v</a:t>
            </a:r>
            <a:endParaRPr/>
          </a:p>
        </p:txBody>
      </p:sp>
      <p:sp>
        <p:nvSpPr>
          <p:cNvPr id="590" name="Google Shape;590;p39"/>
          <p:cNvSpPr txBox="1"/>
          <p:nvPr/>
        </p:nvSpPr>
        <p:spPr>
          <a:xfrm>
            <a:off x="8046720" y="109728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Base de datos</a:t>
            </a:r>
            <a:endParaRPr/>
          </a:p>
        </p:txBody>
      </p:sp>
      <p:sp>
        <p:nvSpPr>
          <p:cNvPr id="591" name="Google Shape;591;p39"/>
          <p:cNvSpPr/>
          <p:nvPr/>
        </p:nvSpPr>
        <p:spPr>
          <a:xfrm>
            <a:off x="8046720" y="1353312"/>
            <a:ext cx="3611880" cy="11536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mariadb -u root -p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SHOW DATABASES;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USE php_lab;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mysqldump -u root -p php_lab 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&gt; backup.sql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mariadb php_lab &lt; backup.sql</a:t>
            </a:r>
            <a:endParaRPr/>
          </a:p>
        </p:txBody>
      </p:sp>
      <p:sp>
        <p:nvSpPr>
          <p:cNvPr id="592" name="Google Shape;592;p39"/>
          <p:cNvSpPr txBox="1"/>
          <p:nvPr/>
        </p:nvSpPr>
        <p:spPr>
          <a:xfrm>
            <a:off x="457200" y="266242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Apache + PHP</a:t>
            </a:r>
            <a:endParaRPr/>
          </a:p>
        </p:txBody>
      </p:sp>
      <p:sp>
        <p:nvSpPr>
          <p:cNvPr id="593" name="Google Shape;593;p39"/>
          <p:cNvSpPr/>
          <p:nvPr/>
        </p:nvSpPr>
        <p:spPr>
          <a:xfrm>
            <a:off x="457200" y="2918460"/>
            <a:ext cx="3611880" cy="11536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apache2ctl configtest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a2enmod rewrite headers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systemctl reload apache2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php -v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composer install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php -S 0.0.0.0:8000</a:t>
            </a:r>
            <a:endParaRPr/>
          </a:p>
        </p:txBody>
      </p:sp>
      <p:sp>
        <p:nvSpPr>
          <p:cNvPr id="594" name="Google Shape;594;p39"/>
          <p:cNvSpPr txBox="1"/>
          <p:nvPr/>
        </p:nvSpPr>
        <p:spPr>
          <a:xfrm>
            <a:off x="4251960" y="266242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Servicios (systemd)</a:t>
            </a:r>
            <a:endParaRPr/>
          </a:p>
        </p:txBody>
      </p:sp>
      <p:sp>
        <p:nvSpPr>
          <p:cNvPr id="595" name="Google Shape;595;p39"/>
          <p:cNvSpPr/>
          <p:nvPr/>
        </p:nvSpPr>
        <p:spPr>
          <a:xfrm>
            <a:off x="4251960" y="2918460"/>
            <a:ext cx="3611880" cy="8361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systemctl status apache2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systemctl restart mariadb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journalctl -u apache2 -n 50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tail -f /var/log/apache2/error.log</a:t>
            </a:r>
            <a:endParaRPr/>
          </a:p>
        </p:txBody>
      </p:sp>
      <p:sp>
        <p:nvSpPr>
          <p:cNvPr id="596" name="Google Shape;596;p39"/>
          <p:cNvSpPr txBox="1"/>
          <p:nvPr/>
        </p:nvSpPr>
        <p:spPr>
          <a:xfrm>
            <a:off x="8046720" y="266242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Red y archivos</a:t>
            </a:r>
            <a:endParaRPr/>
          </a:p>
        </p:txBody>
      </p:sp>
      <p:sp>
        <p:nvSpPr>
          <p:cNvPr id="597" name="Google Shape;597;p39"/>
          <p:cNvSpPr/>
          <p:nvPr/>
        </p:nvSpPr>
        <p:spPr>
          <a:xfrm>
            <a:off x="8046720" y="2918460"/>
            <a:ext cx="3611880" cy="99491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ip -4 addr show eth0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ss -tlnp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curl -I http://localhost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explorer.exe 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wslpath -w ~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$ echo 'Entorno configurado exitosamente' &amp;&amp; exit 0</a:t>
            </a:r>
            <a:endParaRPr/>
          </a:p>
        </p:txBody>
      </p:sp>
      <p:sp>
        <p:nvSpPr>
          <p:cNvPr id="604" name="Google Shape;604;p40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Resumen y laboratorio</a:t>
            </a:r>
            <a:endParaRPr/>
          </a:p>
        </p:txBody>
      </p:sp>
      <p:sp>
        <p:nvSpPr>
          <p:cNvPr id="605" name="Google Shape;605;p4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606" name="Google Shape;606;p40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607" name="Google Shape;607;p40"/>
          <p:cNvSpPr txBox="1"/>
          <p:nvPr/>
        </p:nvSpPr>
        <p:spPr>
          <a:xfrm>
            <a:off x="457200" y="10972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Lo aprendido</a:t>
            </a:r>
            <a:endParaRPr/>
          </a:p>
        </p:txBody>
      </p:sp>
      <p:sp>
        <p:nvSpPr>
          <p:cNvPr id="608" name="Google Shape;608;p40"/>
          <p:cNvSpPr txBox="1"/>
          <p:nvPr/>
        </p:nvSpPr>
        <p:spPr>
          <a:xfrm>
            <a:off x="457200" y="1463040"/>
            <a:ext cx="52120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WSL 2 corre Linux real sobre Windows 10 22H2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Docker Desktop usa WSL 2 como backend e integra Debian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Compose define el stack LAMP como código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Instalación nativa con Apache, PHP y MariaDB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Backups con cron o el programador de Windows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 Hardening: secretos, SSH, permisos y BD aislada</a:t>
            </a:r>
            <a:endParaRPr/>
          </a:p>
        </p:txBody>
      </p:sp>
      <p:sp>
        <p:nvSpPr>
          <p:cNvPr id="609" name="Google Shape;609;p40"/>
          <p:cNvSpPr txBox="1"/>
          <p:nvPr/>
        </p:nvSpPr>
        <p:spPr>
          <a:xfrm>
            <a:off x="5943600" y="1097280"/>
            <a:ext cx="5760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Checklist de laboratorio</a:t>
            </a:r>
            <a:endParaRPr/>
          </a:p>
        </p:txBody>
      </p:sp>
      <p:sp>
        <p:nvSpPr>
          <p:cNvPr id="610" name="Google Shape;610;p40"/>
          <p:cNvSpPr/>
          <p:nvPr/>
        </p:nvSpPr>
        <p:spPr>
          <a:xfrm>
            <a:off x="5943600" y="1353312"/>
            <a:ext cx="5760720" cy="2471293"/>
          </a:xfrm>
          <a:prstGeom prst="roundRect">
            <a:avLst>
              <a:gd fmla="val 925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1. WSL listo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-l -v                         # Debian en VERSION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2. Docker integrado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run --rm hello-world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3. Stack levantado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up -d --build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curl -I http://localhost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4. phpMyAdmin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Start-Process http://localhost:8080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5. Backup probado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ls -l backups/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6. BD no expuesta a la red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ps</a:t>
            </a:r>
            <a:endParaRPr/>
          </a:p>
        </p:txBody>
      </p:sp>
      <p:sp>
        <p:nvSpPr>
          <p:cNvPr id="611" name="Google Shape;611;p40"/>
          <p:cNvSpPr txBox="1"/>
          <p:nvPr/>
        </p:nvSpPr>
        <p:spPr>
          <a:xfrm>
            <a:off x="457200" y="5852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¡Manos al teclado!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1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Anexo · Práctica</a:t>
            </a:r>
            <a:endParaRPr/>
          </a:p>
        </p:txBody>
      </p:sp>
      <p:sp>
        <p:nvSpPr>
          <p:cNvPr id="618" name="Google Shape;618;p41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Ejercicios de laboratorio</a:t>
            </a:r>
            <a:endParaRPr/>
          </a:p>
        </p:txBody>
      </p:sp>
      <p:sp>
        <p:nvSpPr>
          <p:cNvPr id="619" name="Google Shape;619;p4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620" name="Google Shape;620;p41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621" name="Google Shape;621;p41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Resolver en orden. Cada ejercicio se verifica con un comando concreto (ver soluciones en la siguiente diapositiva).</a:t>
            </a:r>
            <a:endParaRPr/>
          </a:p>
        </p:txBody>
      </p:sp>
      <p:sp>
        <p:nvSpPr>
          <p:cNvPr id="622" name="Google Shape;622;p41"/>
          <p:cNvSpPr/>
          <p:nvPr/>
        </p:nvSpPr>
        <p:spPr>
          <a:xfrm>
            <a:off x="457200" y="1645920"/>
            <a:ext cx="5486400" cy="137160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1"/>
          <p:cNvSpPr txBox="1"/>
          <p:nvPr/>
        </p:nvSpPr>
        <p:spPr>
          <a:xfrm>
            <a:off x="566928" y="1719072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1. Instalar y verificar WSL 2</a:t>
            </a:r>
            <a:endParaRPr/>
          </a:p>
        </p:txBody>
      </p:sp>
      <p:sp>
        <p:nvSpPr>
          <p:cNvPr id="624" name="Google Shape;624;p41"/>
          <p:cNvSpPr txBox="1"/>
          <p:nvPr/>
        </p:nvSpPr>
        <p:spPr>
          <a:xfrm>
            <a:off x="566928" y="2029968"/>
            <a:ext cx="52669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Instalar Debian en WSL 2 y comprobar que la columna VERSION muestre 2.</a:t>
            </a:r>
            <a:endParaRPr/>
          </a:p>
        </p:txBody>
      </p:sp>
      <p:sp>
        <p:nvSpPr>
          <p:cNvPr id="625" name="Google Shape;625;p41"/>
          <p:cNvSpPr/>
          <p:nvPr/>
        </p:nvSpPr>
        <p:spPr>
          <a:xfrm>
            <a:off x="6126480" y="1645920"/>
            <a:ext cx="5486400" cy="137160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1"/>
          <p:cNvSpPr txBox="1"/>
          <p:nvPr/>
        </p:nvSpPr>
        <p:spPr>
          <a:xfrm>
            <a:off x="6236208" y="1719072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2. Limitar recursos</a:t>
            </a:r>
            <a:endParaRPr/>
          </a:p>
        </p:txBody>
      </p:sp>
      <p:sp>
        <p:nvSpPr>
          <p:cNvPr id="627" name="Google Shape;627;p41"/>
          <p:cNvSpPr txBox="1"/>
          <p:nvPr/>
        </p:nvSpPr>
        <p:spPr>
          <a:xfrm>
            <a:off x="6236208" y="2029968"/>
            <a:ext cx="52669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Configurar WSL con 3 GB de RAM y 2 procesadores. Verificar dentro de Debian con free -h y nproc.</a:t>
            </a:r>
            <a:endParaRPr/>
          </a:p>
        </p:txBody>
      </p:sp>
      <p:sp>
        <p:nvSpPr>
          <p:cNvPr id="628" name="Google Shape;628;p41"/>
          <p:cNvSpPr/>
          <p:nvPr/>
        </p:nvSpPr>
        <p:spPr>
          <a:xfrm>
            <a:off x="457200" y="3200400"/>
            <a:ext cx="5486400" cy="137160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1"/>
          <p:cNvSpPr txBox="1"/>
          <p:nvPr/>
        </p:nvSpPr>
        <p:spPr>
          <a:xfrm>
            <a:off x="566928" y="3273552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3. Levantar el stack</a:t>
            </a:r>
            <a:endParaRPr/>
          </a:p>
        </p:txBody>
      </p:sp>
      <p:sp>
        <p:nvSpPr>
          <p:cNvPr id="630" name="Google Shape;630;p41"/>
          <p:cNvSpPr txBox="1"/>
          <p:nvPr/>
        </p:nvSpPr>
        <p:spPr>
          <a:xfrm>
            <a:off x="566928" y="3584448"/>
            <a:ext cx="52669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Crear el proyecto php-lab-wsl, levantar Compose y comprobar que localhost y localhost:8080 responden.</a:t>
            </a:r>
            <a:endParaRPr/>
          </a:p>
        </p:txBody>
      </p:sp>
      <p:sp>
        <p:nvSpPr>
          <p:cNvPr id="631" name="Google Shape;631;p41"/>
          <p:cNvSpPr/>
          <p:nvPr/>
        </p:nvSpPr>
        <p:spPr>
          <a:xfrm>
            <a:off x="6126480" y="3200400"/>
            <a:ext cx="5486400" cy="137160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1"/>
          <p:cNvSpPr txBox="1"/>
          <p:nvPr/>
        </p:nvSpPr>
        <p:spPr>
          <a:xfrm>
            <a:off x="6236208" y="3273552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4. Datos desde la base</a:t>
            </a:r>
            <a:endParaRPr/>
          </a:p>
        </p:txBody>
      </p:sp>
      <p:sp>
        <p:nvSpPr>
          <p:cNvPr id="633" name="Google Shape;633;p41"/>
          <p:cNvSpPr txBox="1"/>
          <p:nvPr/>
        </p:nvSpPr>
        <p:spPr>
          <a:xfrm>
            <a:off x="6236208" y="3584448"/>
            <a:ext cx="52669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Crear la tabla alumnos con una fila usando el cliente mysql del contenedor y leerla.</a:t>
            </a:r>
            <a:endParaRPr/>
          </a:p>
        </p:txBody>
      </p:sp>
      <p:sp>
        <p:nvSpPr>
          <p:cNvPr id="634" name="Google Shape;634;p41"/>
          <p:cNvSpPr/>
          <p:nvPr/>
        </p:nvSpPr>
        <p:spPr>
          <a:xfrm>
            <a:off x="457200" y="4754880"/>
            <a:ext cx="5486400" cy="137160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1"/>
          <p:cNvSpPr txBox="1"/>
          <p:nvPr/>
        </p:nvSpPr>
        <p:spPr>
          <a:xfrm>
            <a:off x="566928" y="4828032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5. Persistencia</a:t>
            </a:r>
            <a:endParaRPr/>
          </a:p>
        </p:txBody>
      </p:sp>
      <p:sp>
        <p:nvSpPr>
          <p:cNvPr id="636" name="Google Shape;636;p41"/>
          <p:cNvSpPr txBox="1"/>
          <p:nvPr/>
        </p:nvSpPr>
        <p:spPr>
          <a:xfrm>
            <a:off x="566928" y="5138928"/>
            <a:ext cx="52669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Demostrar que los datos sobreviven a docker compose down / up -d y que se pierden con down -v.</a:t>
            </a:r>
            <a:endParaRPr/>
          </a:p>
        </p:txBody>
      </p:sp>
      <p:sp>
        <p:nvSpPr>
          <p:cNvPr id="637" name="Google Shape;637;p41"/>
          <p:cNvSpPr/>
          <p:nvPr/>
        </p:nvSpPr>
        <p:spPr>
          <a:xfrm>
            <a:off x="6126480" y="4754880"/>
            <a:ext cx="5486400" cy="1371600"/>
          </a:xfrm>
          <a:prstGeom prst="roundRect">
            <a:avLst>
              <a:gd fmla="val 12000" name="adj"/>
            </a:avLst>
          </a:prstGeom>
          <a:solidFill>
            <a:srgbClr val="0F1E3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1"/>
          <p:cNvSpPr txBox="1"/>
          <p:nvPr/>
        </p:nvSpPr>
        <p:spPr>
          <a:xfrm>
            <a:off x="6236208" y="4828032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6. Backup y restauración</a:t>
            </a:r>
            <a:endParaRPr/>
          </a:p>
        </p:txBody>
      </p:sp>
      <p:sp>
        <p:nvSpPr>
          <p:cNvPr id="639" name="Google Shape;639;p41"/>
          <p:cNvSpPr txBox="1"/>
          <p:nvPr/>
        </p:nvSpPr>
        <p:spPr>
          <a:xfrm>
            <a:off x="6236208" y="5138928"/>
            <a:ext cx="52669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Generar un dump de la base y restaurarlo en una base nueva llamada copia.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2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Anexo · Práctica</a:t>
            </a:r>
            <a:endParaRPr/>
          </a:p>
        </p:txBody>
      </p:sp>
      <p:sp>
        <p:nvSpPr>
          <p:cNvPr id="646" name="Google Shape;646;p42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Soluciones sugeridas</a:t>
            </a:r>
            <a:endParaRPr/>
          </a:p>
        </p:txBody>
      </p:sp>
      <p:sp>
        <p:nvSpPr>
          <p:cNvPr id="647" name="Google Shape;647;p4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CTT · Redes y Software</a:t>
            </a:r>
            <a:endParaRPr/>
          </a:p>
        </p:txBody>
      </p:sp>
      <p:sp>
        <p:nvSpPr>
          <p:cNvPr id="648" name="Google Shape;648;p42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649" name="Google Shape;649;p42"/>
          <p:cNvSpPr txBox="1"/>
          <p:nvPr/>
        </p:nvSpPr>
        <p:spPr>
          <a:xfrm>
            <a:off x="457200" y="1097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Ejercicios 1 y 2</a:t>
            </a:r>
            <a:endParaRPr/>
          </a:p>
        </p:txBody>
      </p:sp>
      <p:sp>
        <p:nvSpPr>
          <p:cNvPr id="650" name="Google Shape;650;p42"/>
          <p:cNvSpPr/>
          <p:nvPr/>
        </p:nvSpPr>
        <p:spPr>
          <a:xfrm>
            <a:off x="457200" y="1353312"/>
            <a:ext cx="5486400" cy="2010918"/>
          </a:xfrm>
          <a:prstGeom prst="roundRect">
            <a:avLst>
              <a:gd fmla="val 11367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1 (PowerShell admin)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--install -d Debian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-l -v                       # VERSION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2: %UserProfile%\.wslconfig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[wsl2]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memory=3GB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processors=2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Aplicar y verificar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--shutdown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-d Debian -- free -h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wsl -d Debian -- nproc</a:t>
            </a:r>
            <a:endParaRPr/>
          </a:p>
        </p:txBody>
      </p:sp>
      <p:sp>
        <p:nvSpPr>
          <p:cNvPr id="651" name="Google Shape;651;p42"/>
          <p:cNvSpPr txBox="1"/>
          <p:nvPr/>
        </p:nvSpPr>
        <p:spPr>
          <a:xfrm>
            <a:off x="457200" y="347395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Ejercicio 3</a:t>
            </a:r>
            <a:endParaRPr/>
          </a:p>
        </p:txBody>
      </p:sp>
      <p:sp>
        <p:nvSpPr>
          <p:cNvPr id="652" name="Google Shape;652;p42"/>
          <p:cNvSpPr/>
          <p:nvPr/>
        </p:nvSpPr>
        <p:spPr>
          <a:xfrm>
            <a:off x="457200" y="3729990"/>
            <a:ext cx="5486400" cy="80441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cd ~/php-lab-wsl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up -d --build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curl -I http://localhost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curl -I http://localhost:8080</a:t>
            </a:r>
            <a:endParaRPr/>
          </a:p>
        </p:txBody>
      </p:sp>
      <p:sp>
        <p:nvSpPr>
          <p:cNvPr id="653" name="Google Shape;653;p42"/>
          <p:cNvSpPr txBox="1"/>
          <p:nvPr/>
        </p:nvSpPr>
        <p:spPr>
          <a:xfrm>
            <a:off x="457200" y="464413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Ejercicio 4</a:t>
            </a:r>
            <a:endParaRPr/>
          </a:p>
        </p:txBody>
      </p:sp>
      <p:sp>
        <p:nvSpPr>
          <p:cNvPr id="654" name="Google Shape;654;p42"/>
          <p:cNvSpPr/>
          <p:nvPr/>
        </p:nvSpPr>
        <p:spPr>
          <a:xfrm>
            <a:off x="457200" y="4900168"/>
            <a:ext cx="5486400" cy="653605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exec db mysql -u root -p php_lab -e "CREATE TABLE alumnos (id INT AUTO_INCREMENT PRIMARY KEY, nombre VARCHAR(80)); INSERT INTO alumnos (nombre) VALUES ('Ana'); SELECT * FROM alumnos;"</a:t>
            </a:r>
            <a:endParaRPr/>
          </a:p>
        </p:txBody>
      </p:sp>
      <p:sp>
        <p:nvSpPr>
          <p:cNvPr id="655" name="Google Shape;655;p42"/>
          <p:cNvSpPr txBox="1"/>
          <p:nvPr/>
        </p:nvSpPr>
        <p:spPr>
          <a:xfrm>
            <a:off x="6217920" y="1097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Ejercicio 5</a:t>
            </a:r>
            <a:endParaRPr/>
          </a:p>
        </p:txBody>
      </p:sp>
      <p:sp>
        <p:nvSpPr>
          <p:cNvPr id="656" name="Google Shape;656;p42"/>
          <p:cNvSpPr/>
          <p:nvPr/>
        </p:nvSpPr>
        <p:spPr>
          <a:xfrm>
            <a:off x="6217920" y="1353312"/>
            <a:ext cx="5486400" cy="1407668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down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up -d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exec db mysql -u root -p php_lab -e "SELECT * FROM alumnos;"   # los datos siguen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down -v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up -d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Ahora la tabla ya no existe: el volumen db_data se eliminó</a:t>
            </a:r>
            <a:endParaRPr/>
          </a:p>
        </p:txBody>
      </p:sp>
      <p:sp>
        <p:nvSpPr>
          <p:cNvPr id="657" name="Google Shape;657;p42"/>
          <p:cNvSpPr txBox="1"/>
          <p:nvPr/>
        </p:nvSpPr>
        <p:spPr>
          <a:xfrm>
            <a:off x="6217920" y="287070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Ejercicio 6</a:t>
            </a:r>
            <a:endParaRPr/>
          </a:p>
        </p:txBody>
      </p:sp>
      <p:sp>
        <p:nvSpPr>
          <p:cNvPr id="658" name="Google Shape;658;p42"/>
          <p:cNvSpPr/>
          <p:nvPr/>
        </p:nvSpPr>
        <p:spPr>
          <a:xfrm>
            <a:off x="6217920" y="3126740"/>
            <a:ext cx="5486400" cy="1558480"/>
          </a:xfrm>
          <a:prstGeom prst="roundRect">
            <a:avLst>
              <a:gd fmla="val 12000" name="adj"/>
            </a:avLst>
          </a:prstGeom>
          <a:solidFill>
            <a:srgbClr val="0206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91425" spcFirstLastPara="1" rIns="9142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Dump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exec -T db sh -c 'exec mysqldump -uroot -p"$MYSQL_ROOT_PASSWORD" "$MYSQL_DATABASE"' &gt; backups/db.sql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Crear la base nueva y restaurar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exec db sh -c 'mysql -uroot -p"$MYSQL_ROOT_PASSWORD" -e "CREATE DATABASE IF NOT EXISTS copia"'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docker compose exec -T db sh -c 'exec mysql -uroot -p"$MYSQL_ROOT_PASSWORD" copia' &lt; backups/db.sql</a:t>
            </a:r>
            <a:endParaRPr/>
          </a:p>
        </p:txBody>
      </p:sp>
      <p:sp>
        <p:nvSpPr>
          <p:cNvPr id="659" name="Google Shape;659;p42"/>
          <p:cNvSpPr/>
          <p:nvPr/>
        </p:nvSpPr>
        <p:spPr>
          <a:xfrm>
            <a:off x="6217920" y="4794948"/>
            <a:ext cx="5486400" cy="5461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2"/>
          <p:cNvSpPr/>
          <p:nvPr/>
        </p:nvSpPr>
        <p:spPr>
          <a:xfrm>
            <a:off x="6217920" y="4794948"/>
            <a:ext cx="54864" cy="546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2"/>
          <p:cNvSpPr txBox="1"/>
          <p:nvPr/>
        </p:nvSpPr>
        <p:spPr>
          <a:xfrm>
            <a:off x="6355080" y="4840668"/>
            <a:ext cx="5257800" cy="454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En el ejercicio 5, el .env debe estar presente: sin él Compose no resuelve las variables al volver a levantar.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