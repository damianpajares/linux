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365760"/>
            <a:ext cx="1920240" cy="2103120"/>
          </a:xfrm>
          <a:prstGeom prst="rect">
            <a:avLst/>
          </a:prstGeom>
          <a:solidFill>
            <a:srgbClr val="243446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0" y="41148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🐧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040880" y="166420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0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6.x  ·  GNU/Linux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73152" cy="457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777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spc="400" kern="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INTRODUCCIÓN 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11887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58368" y="22677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· Kernel · GNU · Filosofía Unix · CLI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6172200" cy="1325880"/>
          </a:xfrm>
          <a:prstGeom prst="rect">
            <a:avLst/>
          </a:prstGeom>
          <a:solidFill>
            <a:srgbClr val="243446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127248"/>
            <a:ext cx="5806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Comprender qué es Linux, su filosofía y ecosistema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Conocer las distribuciones más utilizadas en el mercado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Dominar los primeros comandos en la terminal (CLI)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Explorar la estructura jerárquica del sistema de archivos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6172200" cy="50292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5806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- Técnico en Redes y Software  ·  Prof. Juan Damián Pajares García  ·  Semanas 1 y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6858000" cy="2971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48554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./inicio_clase.sh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//  ¿Qué es Linux realmente?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91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 · CTT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"Sistema Operativo" monolítico. Es un ecosistema modular.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88920" cy="3337560"/>
          </a:xfrm>
          <a:prstGeom prst="rect">
            <a:avLst/>
          </a:prstGeom>
          <a:solidFill>
            <a:srgbClr val="182535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278892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4475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🐧  Linux Kernel (1991)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" y="1865376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Núcleo del sistema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212848"/>
            <a:ext cx="242316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304288"/>
            <a:ext cx="2532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Linus Torvalds. Gestiona hardware, memoria, procesos y device drivers. Distribuido bajo GNU GPL. Sin él, el hardware es mudo.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788920" cy="3337560"/>
          </a:xfrm>
          <a:prstGeom prst="rect">
            <a:avLst/>
          </a:prstGeom>
          <a:solidFill>
            <a:srgbClr val="182535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25880"/>
            <a:ext cx="278892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44475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📜  GNU (1983)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28416" y="1865376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del sistema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28416" y="2212848"/>
            <a:ext cx="242316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304288"/>
            <a:ext cx="2532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Richard Stallman. Aportó GCC, Bash, coreutils y las herramientas base. El sistema que 'rodeó' al kernel para hacerlo usable.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788920" cy="3337560"/>
          </a:xfrm>
          <a:prstGeom prst="rect">
            <a:avLst/>
          </a:prstGeom>
          <a:solidFill>
            <a:srgbClr val="182535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325880"/>
            <a:ext cx="278892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44752"/>
            <a:ext cx="2532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GNU/Linux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54496" y="1865376"/>
            <a:ext cx="2532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real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2212848"/>
            <a:ext cx="242316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304288"/>
            <a:ext cx="253288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Multitarea, multiusuario, altamente seguro y estable. Kernel + herramientas libres = SO completo. Lo correcto es decir GNU/Linux.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 operating system is the software that makes the hardware work." — Linus Torvalds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//  Genealogía: La herencia de Unix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1005840" cy="594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9611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490472"/>
            <a:ext cx="0" cy="365760"/>
          </a:xfrm>
          <a:prstGeom prst="line">
            <a:avLst/>
          </a:prstGeom>
          <a:noFill/>
          <a:ln w="25400">
            <a:solidFill>
              <a:srgbClr val="FF8C42"/>
            </a:solidFill>
            <a:prstDash val="dot"/>
          </a:ln>
        </p:spPr>
      </p:sp>
      <p:sp>
        <p:nvSpPr>
          <p:cNvPr id="8" name="Text 6"/>
          <p:cNvSpPr/>
          <p:nvPr/>
        </p:nvSpPr>
        <p:spPr>
          <a:xfrm>
            <a:off x="1508760" y="89611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Nace Unix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19786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Labs (AT&amp;T). Ken Thompson y Dennis Ritchie. Portátil, elegante, multi-usuario. Rompe con la complejidad de la época.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1005840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85623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450592"/>
            <a:ext cx="0" cy="365760"/>
          </a:xfrm>
          <a:prstGeom prst="line">
            <a:avLst/>
          </a:prstGeom>
          <a:noFill/>
          <a:ln w="25400">
            <a:solidFill>
              <a:srgbClr val="4FC3F7"/>
            </a:solidFill>
            <a:prstDash val="dot"/>
          </a:ln>
        </p:spPr>
      </p:sp>
      <p:sp>
        <p:nvSpPr>
          <p:cNvPr id="13" name="Text 11"/>
          <p:cNvSpPr/>
          <p:nvPr/>
        </p:nvSpPr>
        <p:spPr>
          <a:xfrm>
            <a:off x="1508760" y="18562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GNU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15798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Stallman lanza GNU para un sistema 100% libre. Define las 4 libertades del software libre (FSF).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16352"/>
            <a:ext cx="100584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81635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410712"/>
            <a:ext cx="0" cy="365760"/>
          </a:xfrm>
          <a:prstGeom prst="line">
            <a:avLst/>
          </a:prstGeom>
          <a:noFill/>
          <a:ln w="25400">
            <a:solidFill>
              <a:srgbClr val="00D4AA"/>
            </a:solidFill>
            <a:prstDash val="dot"/>
          </a:ln>
        </p:spPr>
      </p:sp>
      <p:sp>
        <p:nvSpPr>
          <p:cNvPr id="18" name="Text 16"/>
          <p:cNvSpPr/>
          <p:nvPr/>
        </p:nvSpPr>
        <p:spPr>
          <a:xfrm>
            <a:off x="1508760" y="281635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Kernel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11810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doing a (free) OS (just a hobby, won't be big)" — Torvalds. El hobby que conquistó el mundo.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776472"/>
            <a:ext cx="1005840" cy="59436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77647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76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Dominio Total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07822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Top 500 supercomputadoras. Android. Toda la nube. El ISS. Mars Rovers. Tu router WiFi.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822960"/>
            <a:ext cx="3383280" cy="3840480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822960"/>
            <a:ext cx="338328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9144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Estándar POSIX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128016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debe comportarse un SO: gestión de procesos, shell, permisos de archivos y señales del sistema.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2240280"/>
            <a:ext cx="3200400" cy="685800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27685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784848" y="24048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500 Supercomputadoras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3017520"/>
            <a:ext cx="3200400" cy="685800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305409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~96%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784848" y="31821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cloud del mundo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3794760"/>
            <a:ext cx="3200400" cy="685800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38313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~74%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784848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(Android/Linux)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es el clon de Unix más exitoso de la historia. La herencia Unix = la base del internet moderno.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//  La Filosofía Unix — El ADN técnico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entienden esto, van a entender cómo resolver cualquier problema en Linux.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1691640"/>
          </a:xfrm>
          <a:prstGeom prst="rect">
            <a:avLst/>
          </a:prstGeom>
          <a:solidFill>
            <a:srgbClr val="18253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411480" cy="169164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13350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Hacer una cosa bien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682496"/>
            <a:ext cx="3520440" cy="24688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6824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wc -l archivo.txt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933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programas 'navaja suiza'. Comandos pequeños, modulares y ultra eficientes. ls lista, grep busca, wc cuenta. Cada uno maestro en su dominio.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60520" cy="1691640"/>
          </a:xfrm>
          <a:prstGeom prst="rect">
            <a:avLst/>
          </a:prstGeom>
          <a:solidFill>
            <a:srgbClr val="182535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61872"/>
            <a:ext cx="411480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261872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13350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 es un archivo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0" y="1682496"/>
            <a:ext cx="3520440" cy="24688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16824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/dev/sda  /dev/tty  /proc/cpuinfo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19933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Discos, terminales, procesos en RAM, impresoras. Todo se lee y escribe como un documento de texto. Una interfaz universal para todo el hardware.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4160520" cy="1691640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90672"/>
            <a:ext cx="411480" cy="16916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90672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31638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plano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" y="3511296"/>
            <a:ext cx="3520440" cy="24688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5112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/etc/nginx/nginx.conf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8221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configuraciones no usan registros binarios ocultos. Son archivos .conf legibles, editables por humanos, versionables con git y auditables.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090672"/>
            <a:ext cx="4160520" cy="1691640"/>
          </a:xfrm>
          <a:prstGeom prst="rect">
            <a:avLst/>
          </a:prstGeom>
          <a:solidFill>
            <a:srgbClr val="182535"/>
          </a:solidFill>
          <a:ln w="19050">
            <a:solidFill>
              <a:srgbClr val="00B8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90672"/>
            <a:ext cx="411480" cy="169164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90672"/>
            <a:ext cx="411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12080" y="316382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Pipes — Encadenamiento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12080" y="3511296"/>
            <a:ext cx="3520440" cy="24688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5112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| grep conf | wc -l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38221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de un programa es la entrada del siguiente. Las herramientas colaboran. El poder no está en un comando, sino en su composición.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programs that do one thing and do it well." — Doug McIlroy, Bell Labs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//  Las 4 Libertades del Software Libre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FSF / GNU — Richard Stallman, 1986 · La base filosófica que hace posible GNU/Linux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60520" cy="1600200"/>
          </a:xfrm>
          <a:prstGeom prst="rect">
            <a:avLst/>
          </a:prstGeom>
          <a:solidFill>
            <a:srgbClr val="18253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08176"/>
            <a:ext cx="594360" cy="5943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081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Nº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89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Libertad de Usar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756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programa para cualquier propósito, sin restricciones. Educativo, comercial, personal — sin pedir permiso.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160520" cy="1600200"/>
          </a:xfrm>
          <a:prstGeom prst="rect">
            <a:avLst/>
          </a:prstGeom>
          <a:solidFill>
            <a:srgbClr val="182535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408176"/>
            <a:ext cx="594360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4081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Nº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1389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🔍  Libertad de Estudiar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207568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cómo funciona el programa y adaptarlo a tus necesidades. El acceso al código fuente es condición necesaria.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54096"/>
            <a:ext cx="4160520" cy="1600200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163824"/>
            <a:ext cx="594360" cy="5943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638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Nº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📤  Libertad de Distribuir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83133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Redistribuir copias del programa para ayudar a tu comunidad. Podés venderlo o regalarlo libremente.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54096"/>
            <a:ext cx="4160520" cy="1600200"/>
          </a:xfrm>
          <a:prstGeom prst="rect">
            <a:avLst/>
          </a:prstGeom>
          <a:solidFill>
            <a:srgbClr val="182535"/>
          </a:solidFill>
          <a:ln w="19050">
            <a:solidFill>
              <a:srgbClr val="00B8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3163824"/>
            <a:ext cx="594360" cy="59436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1638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Nº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31455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Libertad de Mejorar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383133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programa y publicar tus mejoras para que toda la comunidad se beneficie. Requiere acceso al código fuente.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"Free software is a matter of liberty, not price." — Richard M. Stallman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//  Distribuciones — El mapa de sabores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comparten el mismo kernel Linux. La diferencia: ecosistema, gestor de paquetes y filosofía.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2834640" cy="3538728"/>
          </a:xfrm>
          <a:prstGeom prst="rect">
            <a:avLst/>
          </a:prstGeom>
          <a:solidFill>
            <a:srgbClr val="182535"/>
          </a:solidFill>
          <a:ln w="254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61872"/>
            <a:ext cx="283464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389888"/>
            <a:ext cx="658368" cy="6583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09928" y="1444752"/>
            <a:ext cx="1234440" cy="2560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09928" y="1444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NUESTRO CURSO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051560" y="14173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Debian / Ubuntu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" y="2084832"/>
            <a:ext cx="2615184" cy="25603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084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.deb  →  apt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" y="239572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Estabilidad extrema · Servidores · Escritorio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8328" y="2798064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" y="2834640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· Ubuntu · Kali · Raspberry Pi OS · Mint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38328" y="3383280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" y="3419856"/>
            <a:ext cx="26151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facto en la industria. Ciclo LTS (5 años). Comunidad enorme y documentación impecable. ¡La que usaremos en el curso!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0" y="1261872"/>
            <a:ext cx="2834640" cy="3538728"/>
          </a:xfrm>
          <a:prstGeom prst="rect">
            <a:avLst/>
          </a:prstGeom>
          <a:solidFill>
            <a:srgbClr val="182535"/>
          </a:solidFill>
          <a:ln w="25400">
            <a:solidFill>
              <a:srgbClr val="CC00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1261872"/>
            <a:ext cx="283464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389888"/>
            <a:ext cx="658368" cy="65836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681728" y="1444752"/>
            <a:ext cx="1234440" cy="2560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81728" y="1444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4023360" y="14173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RHEL / Rocky Linux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310128" y="2084832"/>
            <a:ext cx="2615184" cy="25603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83280" y="2084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.rpm  →  dnf / yum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310128" y="239572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Corporativo · Misión crítica · Certificaciones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310128" y="2798064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10128" y="2834640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RHEL · Rocky Linux · Alma Linux · Fedora · CentOS Stream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310128" y="3383280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10128" y="3419856"/>
            <a:ext cx="26151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empresarial mundial. Red Hat (IBM) vende soporte 24/7. Certificaciones RHCSA/RHCE son las más valoradas del mercado.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172200" y="1261872"/>
            <a:ext cx="2834640" cy="3538728"/>
          </a:xfrm>
          <a:prstGeom prst="rect">
            <a:avLst/>
          </a:prstGeom>
          <a:solidFill>
            <a:srgbClr val="182535"/>
          </a:solidFill>
          <a:ln w="25400">
            <a:solidFill>
              <a:srgbClr val="1793D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172200" y="1261872"/>
            <a:ext cx="2834640" cy="64008"/>
          </a:xfrm>
          <a:prstGeom prst="rect">
            <a:avLst/>
          </a:prstGeom>
          <a:solidFill>
            <a:srgbClr val="1793D1"/>
          </a:solidFill>
          <a:ln w="12700">
            <a:solidFill>
              <a:srgbClr val="1793D1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89888"/>
            <a:ext cx="658368" cy="65836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7653528" y="1444752"/>
            <a:ext cx="123444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7653528" y="1444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AVANZADO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995160" y="14173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93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 Linux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6281928" y="2084832"/>
            <a:ext cx="2615184" cy="256032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55080" y="20848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 pacman  →  AUR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6281928" y="2395728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Uso: Control total · Aprendizaje · Rolling release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281928" y="2798064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81928" y="2834640"/>
            <a:ext cx="26151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· Manjaro · EndeavourOS · SteamOS (Valve/Steam Deck)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281928" y="3383280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281928" y="3419856"/>
            <a:ext cx="261518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Armás el sistema bloque a bloque. Sin asistentes. Arch Wiki: la mejor documentación de Linux. Rolling release: siempre actual.</a:t>
            </a:r>
            <a:endParaRPr lang="en-US" sz="950" dirty="0"/>
          </a:p>
        </p:txBody>
      </p:sp>
      <p:sp>
        <p:nvSpPr>
          <p:cNvPr id="45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Fedora también: innovadora, banco de pruebas para RHEL.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//  Instalación de Linux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para probar e instalar el sistema sin romper tu PC actual.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834640" cy="3383280"/>
          </a:xfrm>
          <a:prstGeom prst="rect">
            <a:avLst/>
          </a:prstGeom>
          <a:solidFill>
            <a:srgbClr val="18253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28346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33502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Live USB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instalación — desde RAM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2496312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560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toca el disco duro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2944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Perfecto para probar sin comprometerse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Herramienta ideal para rescate de sistemas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749040"/>
            <a:ext cx="260604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8561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dd if=ubuntu.iso of=/dev/sdb bs=4M status=progress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0" y="1234440"/>
            <a:ext cx="2834640" cy="3383280"/>
          </a:xfrm>
          <a:prstGeom prst="rect">
            <a:avLst/>
          </a:prstGeom>
          <a:solidFill>
            <a:srgbClr val="182535"/>
          </a:solidFill>
          <a:ln w="317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234440"/>
            <a:ext cx="283464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77640" y="1325880"/>
            <a:ext cx="1261872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32588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RECOMENDADO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10128" y="133502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10128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Máquina Virtual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10128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o VMware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496312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560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sistema completo dentro de Windows/Mac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0128" y="2944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Snapshots: guardá y restaurá el estado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0128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Nuestra opción para el laboratorio del curso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3749040"/>
            <a:ext cx="260604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78561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VirtualBox → Nuevo → Linux → Ubuntu 64-bit → 4GB RAM, 25GB HDD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72200" y="1234440"/>
            <a:ext cx="2834640" cy="3383280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234440"/>
            <a:ext cx="283464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1335024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81928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Instalación en Disco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81928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Dual-boot o disco dedicado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81928" y="2496312"/>
            <a:ext cx="251460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2560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Rendimiento nativo completo (sin overhead)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81928" y="294436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Dual-boot: Linux y Windows en la misma PC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81928" y="332841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Opción recomendada para uso diario/profesional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3749040"/>
            <a:ext cx="2606040" cy="685800"/>
          </a:xfrm>
          <a:prstGeom prst="rect">
            <a:avLst/>
          </a:prstGeom>
          <a:solidFill>
            <a:srgbClr val="0D1117"/>
          </a:solidFill>
          <a:ln w="9525">
            <a:solidFill>
              <a:srgbClr val="FF8C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3785616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Particionado: / (25GB+), swap (=RAM), /home (resto)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Requisitos mínimos para el lab: CPU x64, 4GB RAM, 25GB disco. VirtualBox es gratuito.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//  Anatomía del Sistema y la Terminal (CLI)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96112"/>
            <a:ext cx="5120640" cy="749808"/>
          </a:xfrm>
          <a:prstGeom prst="rect">
            <a:avLst/>
          </a:prstGeom>
          <a:solidFill>
            <a:srgbClr val="18253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0" y="896112"/>
            <a:ext cx="384048" cy="7498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89611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950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Espacio de Usuario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2435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 · Demonios · BBDD · Herramientas GNU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0" y="16642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" y="1847088"/>
            <a:ext cx="4919472" cy="749808"/>
          </a:xfrm>
          <a:prstGeom prst="rect">
            <a:avLst/>
          </a:prstGeom>
          <a:solidFill>
            <a:srgbClr val="182535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" y="1847088"/>
            <a:ext cx="384048" cy="7498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1847088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" y="1901952"/>
            <a:ext cx="4370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(Bash / Zsh)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2194560"/>
            <a:ext cx="4370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Interfaz de poder → traduce comandos → syscalls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86000" y="261518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</a:rPr>
              <a:t>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" y="2798064"/>
            <a:ext cx="4718304" cy="749808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2798064"/>
            <a:ext cx="384048" cy="7498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798064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" y="2852928"/>
            <a:ext cx="4169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(Linux)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3145536"/>
            <a:ext cx="4169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Administrador: memoria · CPU · drivers · I/O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86000" y="35661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8C42"/>
                </a:solidFill>
              </a:rPr>
              <a:t>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" y="3749040"/>
            <a:ext cx="4517136" cy="749808"/>
          </a:xfrm>
          <a:prstGeom prst="rect">
            <a:avLst/>
          </a:prstGeom>
          <a:solidFill>
            <a:srgbClr val="182535"/>
          </a:solidFill>
          <a:ln w="19050">
            <a:solidFill>
              <a:srgbClr val="8BA9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01752" y="3749040"/>
            <a:ext cx="384048" cy="749808"/>
          </a:xfrm>
          <a:prstGeom prst="rect">
            <a:avLst/>
          </a:prstGeom>
          <a:solidFill>
            <a:srgbClr val="8BA9C1"/>
          </a:solidFill>
          <a:ln w="12700">
            <a:solidFill>
              <a:srgbClr val="8BA9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3749040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3803904"/>
            <a:ext cx="3968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096512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· RAM · Discos · Tarjetas de 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94960" y="822960"/>
            <a:ext cx="3474720" cy="3840480"/>
          </a:xfrm>
          <a:prstGeom prst="rect">
            <a:avLst/>
          </a:prstGeom>
          <a:solidFill>
            <a:srgbClr val="182535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822960"/>
            <a:ext cx="347472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91440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(CLI)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12618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1627632"/>
            <a:ext cx="3218688" cy="585216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664208"/>
            <a:ext cx="411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53328" y="1664208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eficiente y poderosa que la GUI para administración de sistemas, redes y desarrollo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2304288"/>
            <a:ext cx="3218688" cy="585216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2340864"/>
            <a:ext cx="411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053328" y="2340864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Automatizable: un script puede ejecutar miles de comandos mientras dormís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32120" y="2980944"/>
            <a:ext cx="3218688" cy="585216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3017520"/>
            <a:ext cx="411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53328" y="3017520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de producción NO tienen interfaz gráfica — la CLI es obligatoria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32120" y="3657600"/>
            <a:ext cx="3218688" cy="585216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694176"/>
            <a:ext cx="411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⌨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3694176"/>
            <a:ext cx="2633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 clave: Ctrl + Alt + T para abrir terminal en entornos gráficos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capa expone una interfaz para la capa superior — principio fundamental de abstracción.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//  Estructura del Sistema de Archivos (FHS)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no usa 'C:'. Todo cuelga de una única raíz jerárquica.  Referencia: man hier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86200" y="1188720"/>
            <a:ext cx="1371600" cy="5029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86200" y="1188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(Raíz)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691640"/>
            <a:ext cx="0" cy="22860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20240"/>
            <a:ext cx="7498080" cy="0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920240"/>
            <a:ext cx="0" cy="256032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2176272"/>
            <a:ext cx="1627632" cy="43891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" y="217627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2633472"/>
            <a:ext cx="1627632" cy="1170432"/>
          </a:xfrm>
          <a:prstGeom prst="rect">
            <a:avLst/>
          </a:prstGeom>
          <a:solidFill>
            <a:srgbClr val="1825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8833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Carpetas personales de usuarios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3072384"/>
            <a:ext cx="141732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10896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~/.bashrc · ~/Documentos · ~/Escritorio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79192" y="1920240"/>
            <a:ext cx="0" cy="256032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176272"/>
            <a:ext cx="1627632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65960" y="217627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965960" y="2633472"/>
            <a:ext cx="1627632" cy="1170432"/>
          </a:xfrm>
          <a:prstGeom prst="rect">
            <a:avLst/>
          </a:prstGeom>
          <a:solidFill>
            <a:srgbClr val="18253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268833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sistema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39112" y="3072384"/>
            <a:ext cx="141732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39112" y="310896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 · passwd · fstab · hosts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62272" y="1920240"/>
            <a:ext cx="0" cy="256032"/>
          </a:xfrm>
          <a:prstGeom prst="line">
            <a:avLst/>
          </a:prstGeom>
          <a:noFill/>
          <a:ln w="19050">
            <a:solidFill>
              <a:srgbClr val="F6C90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49040" y="2176272"/>
            <a:ext cx="1627632" cy="43891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217627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49040" y="2633472"/>
            <a:ext cx="1627632" cy="1170432"/>
          </a:xfrm>
          <a:prstGeom prst="rect">
            <a:avLst/>
          </a:prstGeom>
          <a:solidFill>
            <a:srgbClr val="182535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68833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variables del sistema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22192" y="3072384"/>
            <a:ext cx="141732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2192" y="310896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log/ · lib/ · cache/ · mail/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45352" y="1920240"/>
            <a:ext cx="0" cy="256032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2120" y="2176272"/>
            <a:ext cx="1627632" cy="43891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217627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32120" y="2633472"/>
            <a:ext cx="1627632" cy="1170432"/>
          </a:xfrm>
          <a:prstGeom prst="rect">
            <a:avLst/>
          </a:prstGeom>
          <a:solidFill>
            <a:srgbClr val="18253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05272" y="268833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y librerías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05272" y="3072384"/>
            <a:ext cx="141732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05272" y="310896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 · lib/ · local/ · share/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28432" y="1920240"/>
            <a:ext cx="0" cy="256032"/>
          </a:xfrm>
          <a:prstGeom prst="line">
            <a:avLst/>
          </a:prstGeom>
          <a:noFill/>
          <a:ln w="19050">
            <a:solidFill>
              <a:srgbClr val="FF8C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2176272"/>
            <a:ext cx="1627632" cy="43891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0" y="2176272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/dev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15200" y="2633472"/>
            <a:ext cx="1627632" cy="1170432"/>
          </a:xfrm>
          <a:prstGeom prst="rect">
            <a:avLst/>
          </a:prstGeom>
          <a:solidFill>
            <a:srgbClr val="182535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88352" y="268833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hardware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88352" y="3072384"/>
            <a:ext cx="1417320" cy="0"/>
          </a:xfrm>
          <a:prstGeom prst="line">
            <a:avLst/>
          </a:prstGeom>
          <a:noFill/>
          <a:ln w="12700">
            <a:solidFill>
              <a:srgbClr val="2434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108960"/>
            <a:ext cx="14813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sda · tty · null · urandom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" y="3886200"/>
            <a:ext cx="8778240" cy="548640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931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/bin /sbin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1696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Ejecutables esenciales del sistema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32888" y="3931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/proc /sys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32888" y="41696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Pseudo-FS: kernel en tiempo real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45736" y="3931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45736" y="41696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temporales (se borra al reiniciar)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58584" y="3931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/boot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58584" y="416966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Kernel, initrd, GRUB bootloader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 Hierarchy Standard (FHS) — define dónde va cada cosa. /bin != /sbin != /usr/bin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//  Comandos Básicos y Navegación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859536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user@ubuntu:~$  _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896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Bienvenidos a la terminal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4160520" cy="347472"/>
          </a:xfrm>
          <a:prstGeom prst="rect">
            <a:avLst/>
          </a:prstGeom>
          <a:solidFill>
            <a:srgbClr val="243446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 NAVEGACIÓN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91640"/>
            <a:ext cx="804672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91640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1728216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Working Directory — muestra dónde estás parado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33856" y="2002536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  → /home/usuario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0008"/>
            <a:ext cx="804672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50008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3856" y="2386584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archivos del directorio actual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33856" y="2660904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 (detallado con ocultos y permisos)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008376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08376"/>
            <a:ext cx="804672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08376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3856" y="30449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 — navegar entre carpetas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33856" y="3319272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/etc    $ cd ..    $ cd ~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666744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666744"/>
            <a:ext cx="804672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66744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3856" y="3703320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Directory — crear directorio nuevo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33856" y="3977640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proyecto    $ mkdir -p a/b/c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325112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325112"/>
            <a:ext cx="804672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25112"/>
            <a:ext cx="804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33856" y="4361688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archivo vacío o actualizar fecha de modificación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3856" y="4636008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index.html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1280160"/>
            <a:ext cx="4160520" cy="347472"/>
          </a:xfrm>
          <a:prstGeom prst="rect">
            <a:avLst/>
          </a:prstGeom>
          <a:solidFill>
            <a:srgbClr val="243446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 MANIPULACIÓN DE ARCHIVOS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691640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691640"/>
            <a:ext cx="685800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69164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9824" y="17282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archivos o directorios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49824" y="2002536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archivo.txt destino/    $ cp -r carpeta/ backup/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2350008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2350008"/>
            <a:ext cx="685800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350008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9824" y="23865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o renombrar archivos y carpetas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49824" y="2660904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viejo.txt nuevo.txt    $ mv file /tmp/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09160" y="3008376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09160" y="3008376"/>
            <a:ext cx="685800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3008376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49824" y="30449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archivos (¡sin papelera!)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49824" y="3319272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archivo.txt    $ rm -r carpeta/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09160" y="3666744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3666744"/>
            <a:ext cx="685800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666744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49824" y="37033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contenido de un archivo de texto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49824" y="397764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/etc/os-release    $ cat archivo.log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09160" y="4325112"/>
            <a:ext cx="4160520" cy="594360"/>
          </a:xfrm>
          <a:prstGeom prst="rect">
            <a:avLst/>
          </a:prstGeom>
          <a:solidFill>
            <a:srgbClr val="182535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9160" y="4325112"/>
            <a:ext cx="685800" cy="594360"/>
          </a:xfrm>
          <a:prstGeom prst="rect">
            <a:avLst/>
          </a:prstGeom>
          <a:solidFill>
            <a:srgbClr val="243446"/>
          </a:solidFill>
          <a:ln w="12700">
            <a:solidFill>
              <a:srgbClr val="24344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4325112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49824" y="436168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texto dentro de archivos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49824" y="463600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9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grep 'error' /var/log/syslog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4864608"/>
            <a:ext cx="8595360" cy="265176"/>
          </a:xfrm>
          <a:prstGeom prst="rect">
            <a:avLst/>
          </a:prstGeom>
          <a:solidFill>
            <a:srgbClr val="3D1A1A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8737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rm -rf /directorio  elimina TODO sin confirmación. En Linux NO HAY papelera de reciclaje en la terminal.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 01  //  Práctica en Terminal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sus terminales. Hoy no usamos el mouse.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234440"/>
            <a:ext cx="347472" cy="1554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344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" y="128930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Exploración inicial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" y="1636776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6642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pwd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9224" y="214884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 pwd para saber dónde están parados. Luego ls para ver archivos del directorio.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234440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234440"/>
            <a:ext cx="347472" cy="1554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2344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3592" y="128930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 estructura de trabajo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93592" y="1636776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16642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mi_proyecto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touch mi_proyecto/README.md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93592" y="214884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 una carpeta de trabajo y un archivo dentro con touch.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17336" y="1234440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234440"/>
            <a:ext cx="347472" cy="1554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7336" y="1234440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128930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 y renombrar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1636776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11112" y="1664208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README.md docs.txt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docs.txt /tmp/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214884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Muevan el archivo a otra ubicación y cámbienle el nombre con mv.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953512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F6C9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953512"/>
            <a:ext cx="347472" cy="155448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9535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" y="300837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Desafío CTT 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" y="3355848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F6C9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" y="3383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proyecto/{src,bin,logs,config}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" y="386791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 la estructura completa de una sola vez con brace expansion. ¡Un solo comando!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72968" y="2953512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00B89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72968" y="2953512"/>
            <a:ext cx="347472" cy="15544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29535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93592" y="300837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Información del sistema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93592" y="3355848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66744" y="3383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/etc/os-release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/etc | wc -l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93592" y="386791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info del OS, particiones y conteo de archivos con pipe.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17336" y="2953512"/>
            <a:ext cx="2816352" cy="1554480"/>
          </a:xfrm>
          <a:prstGeom prst="rect">
            <a:avLst/>
          </a:prstGeom>
          <a:solidFill>
            <a:srgbClr val="182535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17336" y="2953512"/>
            <a:ext cx="347472" cy="1554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17336" y="2953512"/>
            <a:ext cx="347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37960" y="300837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Limpieza final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37960" y="3355848"/>
            <a:ext cx="2322576" cy="475488"/>
          </a:xfrm>
          <a:prstGeom prst="rect">
            <a:avLst/>
          </a:prstGeom>
          <a:solidFill>
            <a:srgbClr val="0D1117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338328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-r mi_proyecto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rm /tmp/docs.txt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37960" y="386791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Eliminen los archivos de prueba. Recuerden: no hay papelera en la terminal.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85546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⏱  45 min  ·  Trabajen en pares  ·  Documenten la salida de cada comando  ·  La terminal no muerde (si no usan rm -rf / siendo root)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 CLASE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Introducción a Linux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CTT · Técnico en Redes y Software  ·  Prof. Juan Damián Pajares García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vimos hoy: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Qué es el Kernel Linux vs GNU  ·  Genealogía Unix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Filosofía Unix: 4 principios  ·  Las 4 Libertades FSF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Distribuciones: Debian, RHEL, Arch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Instalación: Live USB, VM, disco dedicado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Anatomía del sistema en capas + CLI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FHS: Estructura /etc /home /var /usr /proc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Comandos: pwd ls cd mkdir touch cp mv rm cat grep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709160" y="2852928"/>
            <a:ext cx="4160520" cy="1874520"/>
          </a:xfrm>
          <a:prstGeom prst="rect">
            <a:avLst/>
          </a:prstGeom>
          <a:solidFill>
            <a:srgbClr val="182535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852928"/>
            <a:ext cx="416052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94436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🗺  Hoja de Ruta del Curso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3337560"/>
            <a:ext cx="3977640" cy="384048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3337560"/>
            <a:ext cx="658368" cy="38404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337560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13832" y="33558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Permisos y Usuarios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13832" y="35387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· chown · grupos · seguridad base · umask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3776472"/>
            <a:ext cx="3977640" cy="384048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776472"/>
            <a:ext cx="658368" cy="38404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76472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13832" y="37947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13832" y="39776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· condicionales · parámetros · loops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4215384"/>
            <a:ext cx="3977640" cy="384048"/>
          </a:xfrm>
          <a:prstGeom prst="rect">
            <a:avLst/>
          </a:prstGeom>
          <a:solidFill>
            <a:srgbClr val="243446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4215384"/>
            <a:ext cx="658368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215384"/>
            <a:ext cx="658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13832" y="42336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 y Servicios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13832" y="44165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9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 · ping · ss · demonios · systemctl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shutdown -h now   # ¡Hasta la próxima clase!  🐧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Linux - CTT</dc:title>
  <dc:subject>PptxGenJS Presentation</dc:subject>
  <dc:creator>Prof. Juan Damián Pajares García</dc:creator>
  <cp:lastModifiedBy>Prof. Juan Damián Pajares García</cp:lastModifiedBy>
  <cp:revision>1</cp:revision>
  <dcterms:created xsi:type="dcterms:W3CDTF">2026-03-11T04:53:20Z</dcterms:created>
  <dcterms:modified xsi:type="dcterms:W3CDTF">2026-03-11T04:53:20Z</dcterms:modified>
</cp:coreProperties>
</file>