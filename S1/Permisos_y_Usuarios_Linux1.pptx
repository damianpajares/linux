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ariel@linux1</a:t>
            </a:r>
            <a:pPr algn="l" indent="0" marL="0">
              <a:buNone/>
            </a:pPr>
            <a:r>
              <a:rPr lang="en-US" sz="15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:~$ </a:t>
            </a:r>
            <a:pPr algn="l" indent="0" marL="0">
              <a:buNone/>
            </a:pPr>
            <a:r>
              <a:rPr lang="en-US" sz="15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ls -l respaldo.sh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548640" y="1965960"/>
            <a:ext cx="7863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0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Permisos y Usuarios</a:t>
            </a:r>
            <a:endParaRPr lang="en-US" sz="5000" dirty="0"/>
          </a:p>
        </p:txBody>
      </p:sp>
      <p:sp>
        <p:nvSpPr>
          <p:cNvPr id="4" name="Text 2"/>
          <p:cNvSpPr/>
          <p:nvPr/>
        </p:nvSpPr>
        <p:spPr>
          <a:xfrm>
            <a:off x="548640" y="3154680"/>
            <a:ext cx="7498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dirty="0">
                <a:solidFill>
                  <a:srgbClr val="56D3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chmod · chown · setuid · usuarios y grupos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548640" y="370332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Linux 1 — Teoría en la práctica · Bloque 1 de 3 · proyecto: respaldo.sh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7818120" y="3931920"/>
            <a:ext cx="3794760" cy="2377440"/>
          </a:xfrm>
          <a:prstGeom prst="roundRect">
            <a:avLst>
              <a:gd name="adj" fmla="val 3077"/>
            </a:avLst>
          </a:prstGeom>
          <a:solidFill>
            <a:srgbClr val="12171E"/>
          </a:solidFill>
          <a:ln w="12700">
            <a:solidFill>
              <a:srgbClr val="2A313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055864" y="4187952"/>
            <a:ext cx="118872" cy="118872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8" name="Shape 6"/>
          <p:cNvSpPr/>
          <p:nvPr/>
        </p:nvSpPr>
        <p:spPr>
          <a:xfrm>
            <a:off x="8257032" y="4187952"/>
            <a:ext cx="118872" cy="118872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9" name="Shape 7"/>
          <p:cNvSpPr/>
          <p:nvPr/>
        </p:nvSpPr>
        <p:spPr>
          <a:xfrm>
            <a:off x="8458200" y="4187952"/>
            <a:ext cx="118872" cy="118872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10" name="Text 8"/>
          <p:cNvSpPr/>
          <p:nvPr/>
        </p:nvSpPr>
        <p:spPr>
          <a:xfrm>
            <a:off x="8961120" y="4087368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terminal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7982712" y="4498848"/>
            <a:ext cx="3465576" cy="0"/>
          </a:xfrm>
          <a:prstGeom prst="line">
            <a:avLst/>
          </a:prstGeom>
          <a:noFill/>
          <a:ln w="12700">
            <a:solidFill>
              <a:srgbClr val="2A313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110728" y="4663440"/>
            <a:ext cx="3264408" cy="1481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1250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</a:t>
            </a:r>
            <a:pPr algn="l" indent="0" marL="0">
              <a:lnSpc>
                <a:spcPct val="124000"/>
              </a:lnSpc>
              <a:buNone/>
            </a:pPr>
            <a:r>
              <a:rPr lang="en-US" sz="12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ls -l respaldo.sh</a:t>
            </a:r>
            <a:endParaRPr lang="en-US" sz="1250" dirty="0"/>
          </a:p>
          <a:p>
            <a:pPr algn="l" indent="0" marL="0">
              <a:lnSpc>
                <a:spcPct val="124000"/>
              </a:lnSpc>
              <a:buNone/>
            </a:pPr>
            <a:r>
              <a:rPr lang="en-US" sz="1250" dirty="0">
                <a:solidFill>
                  <a:srgbClr val="56D3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-rwxr-x--- </a:t>
            </a:r>
            <a:pPr algn="l" indent="0" marL="0">
              <a:lnSpc>
                <a:spcPct val="124000"/>
              </a:lnSpc>
              <a:buNone/>
            </a:pPr>
            <a:r>
              <a:rPr lang="en-US" sz="12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 backup</a:t>
            </a:r>
            <a:endParaRPr lang="en-US" sz="1250" dirty="0"/>
          </a:p>
          <a:p>
            <a:pPr algn="l" indent="0" marL="0">
              <a:lnSpc>
                <a:spcPct val="124000"/>
              </a:lnSpc>
              <a:buNone/>
            </a:pPr>
            <a:r>
              <a:rPr lang="en-US" sz="12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backup 812 respaldo.sh</a:t>
            </a:r>
            <a:endParaRPr lang="en-US" sz="1250" dirty="0"/>
          </a:p>
          <a:p>
            <a:pPr algn="l" indent="0" marL="0">
              <a:lnSpc>
                <a:spcPct val="124000"/>
              </a:lnSpc>
              <a:buNone/>
            </a:pPr>
            <a:r>
              <a:rPr lang="en-US" sz="600" dirty="0">
                <a:solidFill>
                  <a:srgbClr val="000000"/>
                </a:solidFill>
              </a:rPr>
              <a:t> </a:t>
            </a:r>
            <a:endParaRPr lang="en-US" sz="1250" dirty="0"/>
          </a:p>
          <a:p>
            <a:pPr algn="l" indent="0" marL="0">
              <a:lnSpc>
                <a:spcPct val="124000"/>
              </a:lnSpc>
              <a:buNone/>
            </a:pPr>
            <a:r>
              <a:rPr lang="en-US" sz="12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¿quién puede leerlo,</a:t>
            </a:r>
            <a:endParaRPr lang="en-US" sz="1250" dirty="0"/>
          </a:p>
          <a:p>
            <a:pPr algn="l" indent="0" marL="0">
              <a:lnSpc>
                <a:spcPct val="124000"/>
              </a:lnSpc>
              <a:buNone/>
            </a:pPr>
            <a:r>
              <a:rPr lang="en-US" sz="12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 escribirlo, ejecutarlo?</a:t>
            </a:r>
            <a:endParaRPr lang="en-US" sz="1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proyecto: respaldo.sh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48640" y="1078992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lo largo de los 3 bloques construimos un script real de respaldo y monitoreo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3520440" cy="3383280"/>
          </a:xfrm>
          <a:prstGeom prst="roundRect">
            <a:avLst>
              <a:gd name="adj" fmla="val 2432"/>
            </a:avLst>
          </a:prstGeom>
          <a:solidFill>
            <a:srgbClr val="161B22"/>
          </a:solidFill>
          <a:ln w="12700">
            <a:solidFill>
              <a:srgbClr val="2A313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2267712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868680" y="2944368"/>
            <a:ext cx="2880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7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Permisos y usuarios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886968" y="3703320"/>
            <a:ext cx="2862072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20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Asegurar el script y sus datos</a:t>
            </a:r>
            <a:endParaRPr lang="en-US" sz="1250" dirty="0"/>
          </a:p>
          <a:p>
            <a:pPr marL="177800" indent="-177800">
              <a:lnSpc>
                <a:spcPct val="1020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Dueño y grupo correctos</a:t>
            </a:r>
            <a:endParaRPr lang="en-US" sz="1250" dirty="0"/>
          </a:p>
          <a:p>
            <a:pPr marL="177800" indent="-177800">
              <a:lnSpc>
                <a:spcPct val="1020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umask, setuid, setgid, sticky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251960" y="2011680"/>
            <a:ext cx="3520440" cy="3383280"/>
          </a:xfrm>
          <a:prstGeom prst="roundRect">
            <a:avLst>
              <a:gd name="adj" fmla="val 2432"/>
            </a:avLst>
          </a:prstGeom>
          <a:solidFill>
            <a:srgbClr val="161B22"/>
          </a:solidFill>
          <a:ln w="12700">
            <a:solidFill>
              <a:srgbClr val="2A313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0" y="2267712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3A8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3400" dirty="0"/>
          </a:p>
        </p:txBody>
      </p:sp>
      <p:sp>
        <p:nvSpPr>
          <p:cNvPr id="10" name="Text 8"/>
          <p:cNvSpPr/>
          <p:nvPr/>
        </p:nvSpPr>
        <p:spPr>
          <a:xfrm>
            <a:off x="4572000" y="2944368"/>
            <a:ext cx="2880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7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Procesos y trabajos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4590288" y="3703320"/>
            <a:ext cx="2862072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20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Verificar si ya está corriendo</a:t>
            </a:r>
            <a:endParaRPr lang="en-US" sz="1250" dirty="0"/>
          </a:p>
          <a:p>
            <a:pPr marL="177800" indent="-177800">
              <a:lnSpc>
                <a:spcPct val="1020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Ejecutarlo en segundo plano</a:t>
            </a:r>
            <a:endParaRPr lang="en-US" sz="1250" dirty="0"/>
          </a:p>
          <a:p>
            <a:pPr marL="177800" indent="-177800">
              <a:lnSpc>
                <a:spcPct val="1020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Señales, nice, nohup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7955280" y="2011680"/>
            <a:ext cx="3520440" cy="3383280"/>
          </a:xfrm>
          <a:prstGeom prst="roundRect">
            <a:avLst>
              <a:gd name="adj" fmla="val 2432"/>
            </a:avLst>
          </a:prstGeom>
          <a:solidFill>
            <a:srgbClr val="161B22"/>
          </a:solidFill>
          <a:ln w="12700">
            <a:solidFill>
              <a:srgbClr val="2A313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75320" y="2267712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58A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3400" dirty="0"/>
          </a:p>
        </p:txBody>
      </p:sp>
      <p:sp>
        <p:nvSpPr>
          <p:cNvPr id="14" name="Text 12"/>
          <p:cNvSpPr/>
          <p:nvPr/>
        </p:nvSpPr>
        <p:spPr>
          <a:xfrm>
            <a:off x="8275320" y="2944368"/>
            <a:ext cx="2880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7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de archivos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8293608" y="3703320"/>
            <a:ext cx="2862072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20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Dónde viven los respaldos (FHS)</a:t>
            </a:r>
            <a:endParaRPr lang="en-US" sz="1250" dirty="0"/>
          </a:p>
          <a:p>
            <a:pPr marL="177800" indent="-177800">
              <a:lnSpc>
                <a:spcPct val="1020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Rotar y borrar los viejos</a:t>
            </a:r>
            <a:endParaRPr lang="en-US" sz="1250" dirty="0"/>
          </a:p>
          <a:p>
            <a:pPr marL="177800" indent="-177800">
              <a:lnSpc>
                <a:spcPct val="1020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tar, find, enlaces, espacio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548640" y="562356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6D3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Este bloque:  </a:t>
            </a:r>
            <a:pPr indent="0" marL="0">
              <a:buNone/>
            </a:pPr>
            <a:r>
              <a:rPr lang="en-US" sz="13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dejar respaldo.sh y su carpeta con los permisos y dueños correctos.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modelo de permisos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48640" y="1078992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archivo tiene 3 permisos (rwx) para 3 clases: dueño, grupo y otros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11064240" cy="1737360"/>
          </a:xfrm>
          <a:prstGeom prst="roundRect">
            <a:avLst>
              <a:gd name="adj" fmla="val 4737"/>
            </a:avLst>
          </a:prstGeom>
          <a:solidFill>
            <a:srgbClr val="161B22"/>
          </a:solidFill>
          <a:ln w="12700">
            <a:solidFill>
              <a:srgbClr val="2A313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280160" y="2331720"/>
            <a:ext cx="457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1828800" y="233172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rwx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3566160" y="233172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E3A8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r-x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5303520" y="233172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58A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r--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1143000" y="301752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E76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tipo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828800" y="301752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dueño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566160" y="301752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3A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grupo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303520" y="301752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otros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7680960" y="246888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</a:t>
            </a:r>
            <a:pPr indent="0" marL="0">
              <a:buNone/>
            </a:pPr>
            <a:r>
              <a:rPr lang="en-US" sz="13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archivo   </a:t>
            </a:r>
            <a:pPr indent="0" marL="0">
              <a:buNone/>
            </a:pPr>
            <a:r>
              <a:rPr lang="en-US" sz="1300" dirty="0">
                <a:solidFill>
                  <a:srgbClr val="56D3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 </a:t>
            </a:r>
            <a:pPr indent="0" marL="0">
              <a:buNone/>
            </a:pPr>
            <a:r>
              <a:rPr lang="en-US" sz="13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directorio   </a:t>
            </a:r>
            <a:pPr indent="0" marL="0">
              <a:buNone/>
            </a:pPr>
            <a:r>
              <a:rPr lang="en-US" sz="1300" dirty="0">
                <a:solidFill>
                  <a:srgbClr val="56D3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 </a:t>
            </a:r>
            <a:pPr indent="0" marL="0">
              <a:buNone/>
            </a:pPr>
            <a:r>
              <a:rPr lang="en-US" sz="13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enlace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7680960" y="2880360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primer carácter indica el tipo; luego 3 tríadas rwx.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548640" y="3977640"/>
            <a:ext cx="566928" cy="566928"/>
          </a:xfrm>
          <a:prstGeom prst="ellipse">
            <a:avLst/>
          </a:prstGeom>
          <a:solidFill>
            <a:srgbClr val="12171E"/>
          </a:solidFill>
          <a:ln w="22225">
            <a:solidFill>
              <a:srgbClr val="3FB95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38912" y="3977640"/>
            <a:ext cx="7863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371600" y="3950208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(4)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371600" y="4251960"/>
            <a:ext cx="4663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Archivo: leer el contenido.  Directorio: listar los nombres (ls).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548640" y="5074920"/>
            <a:ext cx="566928" cy="566928"/>
          </a:xfrm>
          <a:prstGeom prst="ellipse">
            <a:avLst/>
          </a:prstGeom>
          <a:solidFill>
            <a:srgbClr val="12171E"/>
          </a:solidFill>
          <a:ln w="22225">
            <a:solidFill>
              <a:srgbClr val="E3A85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38912" y="5074920"/>
            <a:ext cx="7863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3A8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371600" y="5047488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(2)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371600" y="5349240"/>
            <a:ext cx="4663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Archivo: modificarlo.  Directorio: crear o borrar entradas.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6263640" y="3977640"/>
            <a:ext cx="566928" cy="566928"/>
          </a:xfrm>
          <a:prstGeom prst="ellipse">
            <a:avLst/>
          </a:prstGeom>
          <a:solidFill>
            <a:srgbClr val="12171E"/>
          </a:solidFill>
          <a:ln w="22225">
            <a:solidFill>
              <a:srgbClr val="58A6F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153912" y="3977640"/>
            <a:ext cx="7863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58A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7086600" y="3950208"/>
            <a:ext cx="4526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execute (1)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7086600" y="4251960"/>
            <a:ext cx="4526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Archivo: ejecutarlo.  Directorio: entrar / atravesar (cd).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6263640" y="5074920"/>
            <a:ext cx="5349240" cy="914400"/>
          </a:xfrm>
          <a:prstGeom prst="roundRect">
            <a:avLst>
              <a:gd name="adj" fmla="val 9000"/>
            </a:avLst>
          </a:prstGeom>
          <a:solidFill>
            <a:srgbClr val="161B22"/>
          </a:solidFill>
          <a:ln w="12700">
            <a:solidFill>
              <a:srgbClr val="2A313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583680" y="5230368"/>
            <a:ext cx="4754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56D3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Clave: </a:t>
            </a:r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un directorio, sin x no podés entrar aunque tengas r. respaldo.sh necesita x para correr.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Permisos en octal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48640" y="1078992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Sumando r=4, w=2, x=1 se obtiene un dígito por clase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3520440" cy="1737360"/>
          </a:xfrm>
          <a:prstGeom prst="roundRect">
            <a:avLst>
              <a:gd name="adj" fmla="val 4737"/>
            </a:avLst>
          </a:prstGeom>
          <a:solidFill>
            <a:srgbClr val="161B22"/>
          </a:solidFill>
          <a:ln w="12700">
            <a:solidFill>
              <a:srgbClr val="2A313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2203704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56D3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755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2194560" y="2295144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3A8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rwxr-xr-x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886968" y="2926080"/>
            <a:ext cx="28620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Scripts y directorios de uso general.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251960" y="1965960"/>
            <a:ext cx="3520440" cy="1737360"/>
          </a:xfrm>
          <a:prstGeom prst="roundRect">
            <a:avLst>
              <a:gd name="adj" fmla="val 4737"/>
            </a:avLst>
          </a:prstGeom>
          <a:solidFill>
            <a:srgbClr val="161B22"/>
          </a:solidFill>
          <a:ln w="12700">
            <a:solidFill>
              <a:srgbClr val="2A313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0" y="2203704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56D3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644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5897880" y="2295144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3A8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rw-r--r--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4590288" y="2926080"/>
            <a:ext cx="28620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Archivos normales (lectura para todos).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7955280" y="1965960"/>
            <a:ext cx="3520440" cy="1737360"/>
          </a:xfrm>
          <a:prstGeom prst="roundRect">
            <a:avLst>
              <a:gd name="adj" fmla="val 4737"/>
            </a:avLst>
          </a:prstGeom>
          <a:solidFill>
            <a:srgbClr val="161B22"/>
          </a:solidFill>
          <a:ln w="12700">
            <a:solidFill>
              <a:srgbClr val="2A313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75320" y="2203704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56D3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700</a:t>
            </a:r>
            <a:endParaRPr lang="en-US" sz="3200" dirty="0"/>
          </a:p>
        </p:txBody>
      </p:sp>
      <p:sp>
        <p:nvSpPr>
          <p:cNvPr id="14" name="Text 12"/>
          <p:cNvSpPr/>
          <p:nvPr/>
        </p:nvSpPr>
        <p:spPr>
          <a:xfrm>
            <a:off x="9601200" y="2295144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3A8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rwx------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8293608" y="2926080"/>
            <a:ext cx="28620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Privado: solo el dueño entra o ejecuta.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48640" y="3886200"/>
            <a:ext cx="11064240" cy="1920240"/>
          </a:xfrm>
          <a:prstGeom prst="roundRect">
            <a:avLst>
              <a:gd name="adj" fmla="val 4286"/>
            </a:avLst>
          </a:prstGeom>
          <a:solidFill>
            <a:srgbClr val="161B22"/>
          </a:solidFill>
          <a:ln w="12700">
            <a:solidFill>
              <a:srgbClr val="2A313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68680" y="4069080"/>
            <a:ext cx="5486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Cómo se arma cada dígito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868680" y="4526280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 </a:t>
            </a:r>
            <a:pPr indent="0" marL="0">
              <a:buNone/>
            </a:pPr>
            <a:r>
              <a:rPr lang="en-US" sz="15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   </a:t>
            </a:r>
            <a:pPr indent="0" marL="0">
              <a:buNone/>
            </a:pPr>
            <a:r>
              <a:rPr lang="en-US" sz="1500" b="1" dirty="0">
                <a:solidFill>
                  <a:srgbClr val="E3A8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 </a:t>
            </a:r>
            <a:pPr indent="0" marL="0">
              <a:buNone/>
            </a:pPr>
            <a:r>
              <a:rPr lang="en-US" sz="15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   </a:t>
            </a:r>
            <a:pPr indent="0" marL="0">
              <a:buNone/>
            </a:pPr>
            <a:r>
              <a:rPr lang="en-US" sz="1500" b="1" dirty="0">
                <a:solidFill>
                  <a:srgbClr val="58A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 </a:t>
            </a:r>
            <a:pPr indent="0" marL="0">
              <a:buNone/>
            </a:pPr>
            <a:r>
              <a:rPr lang="en-US" sz="15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        </a:t>
            </a:r>
            <a:pPr indent="0" marL="0">
              <a:buNone/>
            </a:pPr>
            <a:r>
              <a:rPr lang="en-US" sz="15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 rwx = 4+2+1 = </a:t>
            </a:r>
            <a:pPr indent="0" marL="0">
              <a:buNone/>
            </a:pPr>
            <a:r>
              <a:rPr lang="en-US" sz="1500" b="1" dirty="0">
                <a:solidFill>
                  <a:srgbClr val="56D3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</a:t>
            </a:r>
            <a:pPr indent="0" marL="0">
              <a:buNone/>
            </a:pPr>
            <a:r>
              <a:rPr lang="en-US" sz="15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r-x = 4+1 = </a:t>
            </a:r>
            <a:pPr indent="0" marL="0">
              <a:buNone/>
            </a:pPr>
            <a:r>
              <a:rPr lang="en-US" sz="1500" b="1" dirty="0">
                <a:solidFill>
                  <a:srgbClr val="56D3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pPr indent="0" marL="0">
              <a:buNone/>
            </a:pPr>
            <a:r>
              <a:rPr lang="en-US" sz="15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rw- = 4+2 = </a:t>
            </a:r>
            <a:pPr indent="0" marL="0">
              <a:buNone/>
            </a:pPr>
            <a:r>
              <a:rPr lang="en-US" sz="1500" b="1" dirty="0">
                <a:solidFill>
                  <a:srgbClr val="56D3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868680" y="5166360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Así, 750 = rwx (dueño) · r-x (grupo) · --- (otros): exactamente lo que querremos para respaldo.sh.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chmod — cambiar permisos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48640" y="1078992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 formas: simbólica (relativa) u octal (absoluta)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566928" cy="566928"/>
          </a:xfrm>
          <a:prstGeom prst="ellipse">
            <a:avLst/>
          </a:prstGeom>
          <a:solidFill>
            <a:srgbClr val="12171E"/>
          </a:solidFill>
          <a:ln w="22225">
            <a:solidFill>
              <a:srgbClr val="3FB95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38912" y="1874520"/>
            <a:ext cx="7863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u+x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371600" y="1847088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Simbólica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371600" y="2148840"/>
            <a:ext cx="4663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u/g/o/a con + - = y r/w/x: chmod u+x, chmod go-w, chmod a+r.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48640" y="3017520"/>
            <a:ext cx="566928" cy="566928"/>
          </a:xfrm>
          <a:prstGeom prst="ellipse">
            <a:avLst/>
          </a:prstGeom>
          <a:solidFill>
            <a:srgbClr val="12171E"/>
          </a:solidFill>
          <a:ln w="22225">
            <a:solidFill>
              <a:srgbClr val="E3A85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3017520"/>
            <a:ext cx="7863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3A8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750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371600" y="2990088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Octal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371600" y="3291840"/>
            <a:ext cx="4663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Fija los tres dígitos de una vez: chmod 750 respaldo.sh.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48640" y="4160520"/>
            <a:ext cx="566928" cy="566928"/>
          </a:xfrm>
          <a:prstGeom prst="ellipse">
            <a:avLst/>
          </a:prstGeom>
          <a:solidFill>
            <a:srgbClr val="12171E"/>
          </a:solidFill>
          <a:ln w="22225">
            <a:solidFill>
              <a:srgbClr val="58A6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38912" y="4160520"/>
            <a:ext cx="7863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58A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-R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371600" y="4133088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Recursiva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371600" y="4434840"/>
            <a:ext cx="4663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chmod -R aplica a un directorio y todo su contenido. Con cuidado.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537960" y="1783080"/>
            <a:ext cx="5074920" cy="3977640"/>
          </a:xfrm>
          <a:prstGeom prst="roundRect">
            <a:avLst>
              <a:gd name="adj" fmla="val 1839"/>
            </a:avLst>
          </a:prstGeom>
          <a:solidFill>
            <a:srgbClr val="12171E"/>
          </a:solidFill>
          <a:ln w="12700">
            <a:solidFill>
              <a:srgbClr val="2A313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775704" y="2039112"/>
            <a:ext cx="118872" cy="118872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18" name="Shape 16"/>
          <p:cNvSpPr/>
          <p:nvPr/>
        </p:nvSpPr>
        <p:spPr>
          <a:xfrm>
            <a:off x="6976872" y="2039112"/>
            <a:ext cx="118872" cy="118872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19" name="Shape 17"/>
          <p:cNvSpPr/>
          <p:nvPr/>
        </p:nvSpPr>
        <p:spPr>
          <a:xfrm>
            <a:off x="7178040" y="2039112"/>
            <a:ext cx="118872" cy="118872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20" name="Text 18"/>
          <p:cNvSpPr/>
          <p:nvPr/>
        </p:nvSpPr>
        <p:spPr>
          <a:xfrm>
            <a:off x="8961120" y="1938528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terminal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702552" y="2350008"/>
            <a:ext cx="4745736" cy="0"/>
          </a:xfrm>
          <a:prstGeom prst="line">
            <a:avLst/>
          </a:prstGeom>
          <a:noFill/>
          <a:ln w="12700">
            <a:solidFill>
              <a:srgbClr val="2A313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830568" y="2514600"/>
            <a:ext cx="4544568" cy="3081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1250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</a:t>
            </a:r>
            <a:pPr algn="l" indent="0" marL="0">
              <a:lnSpc>
                <a:spcPct val="124000"/>
              </a:lnSpc>
              <a:buNone/>
            </a:pPr>
            <a:r>
              <a:rPr lang="en-US" sz="12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ls -l respaldo.sh</a:t>
            </a:r>
            <a:endParaRPr lang="en-US" sz="1250" dirty="0"/>
          </a:p>
          <a:p>
            <a:pPr algn="l" indent="0" marL="0">
              <a:lnSpc>
                <a:spcPct val="124000"/>
              </a:lnSpc>
              <a:buNone/>
            </a:pPr>
            <a:r>
              <a:rPr lang="en-US" sz="12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-rw-r--r-- </a:t>
            </a:r>
            <a:pPr algn="l" indent="0" marL="0">
              <a:lnSpc>
                <a:spcPct val="124000"/>
              </a:lnSpc>
              <a:buNone/>
            </a:pPr>
            <a:r>
              <a:rPr lang="en-US" sz="12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… respaldo.sh</a:t>
            </a:r>
            <a:endParaRPr lang="en-US" sz="1250" dirty="0"/>
          </a:p>
          <a:p>
            <a:pPr algn="l" indent="0" marL="0">
              <a:lnSpc>
                <a:spcPct val="124000"/>
              </a:lnSpc>
              <a:buNone/>
            </a:pPr>
            <a:r>
              <a:rPr lang="en-US" sz="600" dirty="0">
                <a:solidFill>
                  <a:srgbClr val="000000"/>
                </a:solidFill>
              </a:rPr>
              <a:t> </a:t>
            </a:r>
            <a:endParaRPr lang="en-US" sz="1250" dirty="0"/>
          </a:p>
          <a:p>
            <a:pPr algn="l" indent="0" marL="0">
              <a:lnSpc>
                <a:spcPct val="124000"/>
              </a:lnSpc>
              <a:buNone/>
            </a:pPr>
            <a:r>
              <a:rPr lang="en-US" sz="1250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</a:t>
            </a:r>
            <a:pPr algn="l" indent="0" marL="0">
              <a:lnSpc>
                <a:spcPct val="124000"/>
              </a:lnSpc>
              <a:buNone/>
            </a:pPr>
            <a:r>
              <a:rPr lang="en-US" sz="12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chmod </a:t>
            </a:r>
            <a:pPr algn="l" indent="0" marL="0">
              <a:lnSpc>
                <a:spcPct val="124000"/>
              </a:lnSpc>
              <a:buNone/>
            </a:pPr>
            <a:r>
              <a:rPr lang="en-US" sz="1250" dirty="0">
                <a:solidFill>
                  <a:srgbClr val="56D3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u+x</a:t>
            </a:r>
            <a:pPr algn="l" indent="0" marL="0">
              <a:lnSpc>
                <a:spcPct val="124000"/>
              </a:lnSpc>
              <a:buNone/>
            </a:pPr>
            <a:r>
              <a:rPr lang="en-US" sz="12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respaldo.sh</a:t>
            </a:r>
            <a:endParaRPr lang="en-US" sz="1250" dirty="0"/>
          </a:p>
          <a:p>
            <a:pPr algn="l" indent="0" marL="0">
              <a:lnSpc>
                <a:spcPct val="124000"/>
              </a:lnSpc>
              <a:buNone/>
            </a:pPr>
            <a:r>
              <a:rPr lang="en-US" sz="1250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</a:t>
            </a:r>
            <a:pPr algn="l" indent="0" marL="0">
              <a:lnSpc>
                <a:spcPct val="124000"/>
              </a:lnSpc>
              <a:buNone/>
            </a:pPr>
            <a:r>
              <a:rPr lang="en-US" sz="12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chmod </a:t>
            </a:r>
            <a:pPr algn="l" indent="0" marL="0">
              <a:lnSpc>
                <a:spcPct val="124000"/>
              </a:lnSpc>
              <a:buNone/>
            </a:pPr>
            <a:r>
              <a:rPr lang="en-US" sz="1250" dirty="0">
                <a:solidFill>
                  <a:srgbClr val="56D3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750</a:t>
            </a:r>
            <a:pPr algn="l" indent="0" marL="0">
              <a:lnSpc>
                <a:spcPct val="124000"/>
              </a:lnSpc>
              <a:buNone/>
            </a:pPr>
            <a:r>
              <a:rPr lang="en-US" sz="12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respaldo.sh</a:t>
            </a:r>
            <a:endParaRPr lang="en-US" sz="1250" dirty="0"/>
          </a:p>
          <a:p>
            <a:pPr algn="l" indent="0" marL="0">
              <a:lnSpc>
                <a:spcPct val="124000"/>
              </a:lnSpc>
              <a:buNone/>
            </a:pPr>
            <a:r>
              <a:rPr lang="en-US" sz="1250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</a:t>
            </a:r>
            <a:pPr algn="l" indent="0" marL="0">
              <a:lnSpc>
                <a:spcPct val="124000"/>
              </a:lnSpc>
              <a:buNone/>
            </a:pPr>
            <a:r>
              <a:rPr lang="en-US" sz="12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ls -l respaldo.sh</a:t>
            </a:r>
            <a:endParaRPr lang="en-US" sz="1250" dirty="0"/>
          </a:p>
          <a:p>
            <a:pPr algn="l" indent="0" marL="0">
              <a:lnSpc>
                <a:spcPct val="124000"/>
              </a:lnSpc>
              <a:buNone/>
            </a:pPr>
            <a:r>
              <a:rPr lang="en-US" sz="1250" dirty="0">
                <a:solidFill>
                  <a:srgbClr val="56D3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-rwxr-x--- </a:t>
            </a:r>
            <a:pPr algn="l" indent="0" marL="0">
              <a:lnSpc>
                <a:spcPct val="124000"/>
              </a:lnSpc>
              <a:buNone/>
            </a:pPr>
            <a:r>
              <a:rPr lang="en-US" sz="12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… respaldo.sh</a:t>
            </a:r>
            <a:endParaRPr lang="en-US" sz="1250" dirty="0"/>
          </a:p>
          <a:p>
            <a:pPr algn="l" indent="0" marL="0">
              <a:lnSpc>
                <a:spcPct val="124000"/>
              </a:lnSpc>
              <a:buNone/>
            </a:pPr>
            <a:r>
              <a:rPr lang="en-US" sz="600" dirty="0">
                <a:solidFill>
                  <a:srgbClr val="000000"/>
                </a:solidFill>
              </a:rPr>
              <a:t> </a:t>
            </a:r>
            <a:endParaRPr lang="en-US" sz="1250" dirty="0"/>
          </a:p>
          <a:p>
            <a:pPr algn="l" indent="0" marL="0">
              <a:lnSpc>
                <a:spcPct val="124000"/>
              </a:lnSpc>
              <a:buNone/>
            </a:pPr>
            <a:r>
              <a:rPr lang="en-US" sz="1250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</a:t>
            </a:r>
            <a:pPr algn="l" indent="0" marL="0">
              <a:lnSpc>
                <a:spcPct val="124000"/>
              </a:lnSpc>
              <a:buNone/>
            </a:pPr>
            <a:r>
              <a:rPr lang="en-US" sz="12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chmod </a:t>
            </a:r>
            <a:pPr algn="l" indent="0" marL="0">
              <a:lnSpc>
                <a:spcPct val="124000"/>
              </a:lnSpc>
              <a:buNone/>
            </a:pPr>
            <a:r>
              <a:rPr lang="en-US" sz="1250" dirty="0">
                <a:solidFill>
                  <a:srgbClr val="56D3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-R</a:t>
            </a:r>
            <a:pPr algn="l" indent="0" marL="0">
              <a:lnSpc>
                <a:spcPct val="124000"/>
              </a:lnSpc>
              <a:buNone/>
            </a:pPr>
            <a:r>
              <a:rPr lang="en-US" sz="12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go-w /var/backups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umask — permisos al crear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48640" y="1078992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archivos nuevos nacen con permisos base menos la máscara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5486400" cy="1554480"/>
          </a:xfrm>
          <a:prstGeom prst="roundRect">
            <a:avLst>
              <a:gd name="adj" fmla="val 5294"/>
            </a:avLst>
          </a:prstGeom>
          <a:solidFill>
            <a:srgbClr val="161B22"/>
          </a:solidFill>
          <a:ln w="12700">
            <a:solidFill>
              <a:srgbClr val="2A313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2075688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56D3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umask 022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86968" y="2514600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máscara por defecto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86968" y="2807208"/>
            <a:ext cx="4800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Resta permisos: quita w a grupo y otros. Archivos → 644, directorios → 755.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48640" y="3611880"/>
            <a:ext cx="5486400" cy="1554480"/>
          </a:xfrm>
          <a:prstGeom prst="roundRect">
            <a:avLst>
              <a:gd name="adj" fmla="val 5294"/>
            </a:avLst>
          </a:prstGeom>
          <a:solidFill>
            <a:srgbClr val="161B22"/>
          </a:solidFill>
          <a:ln w="12700">
            <a:solidFill>
              <a:srgbClr val="2A313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68680" y="3813048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56D3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umask 077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86968" y="4251960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Máscara privada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886968" y="4544568"/>
            <a:ext cx="4800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 para el dueño y nada para el resto. Archivos → 600, directorios → 700.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548640" y="5394960"/>
            <a:ext cx="5577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b="1" i="1" dirty="0">
                <a:solidFill>
                  <a:srgbClr val="56D3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Ojo: </a:t>
            </a:r>
            <a:pPr indent="0" marL="0">
              <a:lnSpc>
                <a:spcPct val="105000"/>
              </a:lnSpc>
              <a:buNone/>
            </a:pPr>
            <a:r>
              <a:rPr lang="en-US" sz="125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archivos nuevos nunca reciben x; por eso un script recién creado hay que marcarlo con chmod +x.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537960" y="1783080"/>
            <a:ext cx="5074920" cy="3977640"/>
          </a:xfrm>
          <a:prstGeom prst="roundRect">
            <a:avLst>
              <a:gd name="adj" fmla="val 1839"/>
            </a:avLst>
          </a:prstGeom>
          <a:solidFill>
            <a:srgbClr val="12171E"/>
          </a:solidFill>
          <a:ln w="12700">
            <a:solidFill>
              <a:srgbClr val="2A313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775704" y="2039112"/>
            <a:ext cx="118872" cy="118872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15" name="Shape 13"/>
          <p:cNvSpPr/>
          <p:nvPr/>
        </p:nvSpPr>
        <p:spPr>
          <a:xfrm>
            <a:off x="6976872" y="2039112"/>
            <a:ext cx="118872" cy="118872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16" name="Shape 14"/>
          <p:cNvSpPr/>
          <p:nvPr/>
        </p:nvSpPr>
        <p:spPr>
          <a:xfrm>
            <a:off x="7178040" y="2039112"/>
            <a:ext cx="118872" cy="118872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17" name="Text 15"/>
          <p:cNvSpPr/>
          <p:nvPr/>
        </p:nvSpPr>
        <p:spPr>
          <a:xfrm>
            <a:off x="8961120" y="1938528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respaldo.sh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702552" y="2350008"/>
            <a:ext cx="4745736" cy="0"/>
          </a:xfrm>
          <a:prstGeom prst="line">
            <a:avLst/>
          </a:prstGeom>
          <a:noFill/>
          <a:ln w="12700">
            <a:solidFill>
              <a:srgbClr val="2A313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830568" y="2514600"/>
            <a:ext cx="4544568" cy="3081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12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#!/bin/bash</a:t>
            </a:r>
            <a:endParaRPr lang="en-US" sz="1250" dirty="0"/>
          </a:p>
          <a:p>
            <a:pPr algn="l" indent="0" marL="0">
              <a:lnSpc>
                <a:spcPct val="124000"/>
              </a:lnSpc>
              <a:buNone/>
            </a:pPr>
            <a:r>
              <a:rPr lang="en-US" sz="1250" dirty="0">
                <a:solidFill>
                  <a:srgbClr val="56D3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umask 077</a:t>
            </a:r>
            <a:pPr algn="l" indent="0" marL="0">
              <a:lnSpc>
                <a:spcPct val="124000"/>
              </a:lnSpc>
              <a:buNone/>
            </a:pPr>
            <a:r>
              <a:rPr lang="en-US" sz="12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</a:t>
            </a:r>
            <a:pPr algn="l" indent="0" marL="0">
              <a:lnSpc>
                <a:spcPct val="124000"/>
              </a:lnSpc>
              <a:buNone/>
            </a:pPr>
            <a:r>
              <a:rPr lang="en-US" sz="12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respaldos privados</a:t>
            </a:r>
            <a:endParaRPr lang="en-US" sz="1250" dirty="0"/>
          </a:p>
          <a:p>
            <a:pPr algn="l" indent="0" marL="0">
              <a:lnSpc>
                <a:spcPct val="124000"/>
              </a:lnSpc>
              <a:buNone/>
            </a:pPr>
            <a:r>
              <a:rPr lang="en-US" sz="600" dirty="0">
                <a:solidFill>
                  <a:srgbClr val="000000"/>
                </a:solidFill>
              </a:rPr>
              <a:t> </a:t>
            </a:r>
            <a:endParaRPr lang="en-US" sz="1250" dirty="0"/>
          </a:p>
          <a:p>
            <a:pPr algn="l" indent="0" marL="0">
              <a:lnSpc>
                <a:spcPct val="124000"/>
              </a:lnSpc>
              <a:buNone/>
            </a:pPr>
            <a:r>
              <a:rPr lang="en-US" sz="1250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</a:t>
            </a:r>
            <a:pPr algn="l" indent="0" marL="0">
              <a:lnSpc>
                <a:spcPct val="124000"/>
              </a:lnSpc>
              <a:buNone/>
            </a:pPr>
            <a:r>
              <a:rPr lang="en-US" sz="12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touch datos.txt; ls -l datos.txt</a:t>
            </a:r>
            <a:endParaRPr lang="en-US" sz="1250" dirty="0"/>
          </a:p>
          <a:p>
            <a:pPr algn="l" indent="0" marL="0">
              <a:lnSpc>
                <a:spcPct val="124000"/>
              </a:lnSpc>
              <a:buNone/>
            </a:pPr>
            <a:r>
              <a:rPr lang="en-US" sz="12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-rw------- </a:t>
            </a:r>
            <a:pPr algn="l" indent="0" marL="0">
              <a:lnSpc>
                <a:spcPct val="124000"/>
              </a:lnSpc>
              <a:buNone/>
            </a:pPr>
            <a:r>
              <a:rPr lang="en-US" sz="12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… datos.txt</a:t>
            </a:r>
            <a:endParaRPr lang="en-US" sz="1250" dirty="0"/>
          </a:p>
          <a:p>
            <a:pPr algn="l" indent="0" marL="0">
              <a:lnSpc>
                <a:spcPct val="124000"/>
              </a:lnSpc>
              <a:buNone/>
            </a:pPr>
            <a:r>
              <a:rPr lang="en-US" sz="600" dirty="0">
                <a:solidFill>
                  <a:srgbClr val="000000"/>
                </a:solidFill>
              </a:rPr>
              <a:t> </a:t>
            </a:r>
            <a:endParaRPr lang="en-US" sz="1250" dirty="0"/>
          </a:p>
          <a:p>
            <a:pPr algn="l" indent="0" marL="0">
              <a:lnSpc>
                <a:spcPct val="124000"/>
              </a:lnSpc>
              <a:buNone/>
            </a:pPr>
            <a:r>
              <a:rPr lang="en-US" sz="1250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</a:t>
            </a:r>
            <a:pPr algn="l" indent="0" marL="0">
              <a:lnSpc>
                <a:spcPct val="124000"/>
              </a:lnSpc>
              <a:buNone/>
            </a:pPr>
            <a:r>
              <a:rPr lang="en-US" sz="12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mkdir d; ls -ld d</a:t>
            </a:r>
            <a:endParaRPr lang="en-US" sz="1250" dirty="0"/>
          </a:p>
          <a:p>
            <a:pPr algn="l" indent="0" marL="0">
              <a:lnSpc>
                <a:spcPct val="124000"/>
              </a:lnSpc>
              <a:buNone/>
            </a:pPr>
            <a:r>
              <a:rPr lang="en-US" sz="12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drwx------ </a:t>
            </a:r>
            <a:pPr algn="l" indent="0" marL="0">
              <a:lnSpc>
                <a:spcPct val="124000"/>
              </a:lnSpc>
              <a:buNone/>
            </a:pPr>
            <a:r>
              <a:rPr lang="en-US" sz="12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… d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chown y chgrp — dueño y grupo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48640" y="1078992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Definir a quién pertenece un archivo y qué grupo lo comparte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566928" cy="566928"/>
          </a:xfrm>
          <a:prstGeom prst="ellipse">
            <a:avLst/>
          </a:prstGeom>
          <a:solidFill>
            <a:srgbClr val="12171E"/>
          </a:solidFill>
          <a:ln w="22225">
            <a:solidFill>
              <a:srgbClr val="3FB95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38912" y="1874520"/>
            <a:ext cx="7863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u:g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371600" y="1847088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chown usuario:grupo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371600" y="2148840"/>
            <a:ext cx="4663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Cambia dueño y grupo a la vez: chown backup:backup archivo.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48640" y="3017520"/>
            <a:ext cx="566928" cy="566928"/>
          </a:xfrm>
          <a:prstGeom prst="ellipse">
            <a:avLst/>
          </a:prstGeom>
          <a:solidFill>
            <a:srgbClr val="12171E"/>
          </a:solidFill>
          <a:ln w="22225">
            <a:solidFill>
              <a:srgbClr val="E3A85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3017520"/>
            <a:ext cx="7863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3A8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:g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371600" y="2990088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solo el grupo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371600" y="3291840"/>
            <a:ext cx="4663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chown :backup archivo (o chgrp backup) cambia únicamente el grupo.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48640" y="4160520"/>
            <a:ext cx="566928" cy="566928"/>
          </a:xfrm>
          <a:prstGeom prst="ellipse">
            <a:avLst/>
          </a:prstGeom>
          <a:solidFill>
            <a:srgbClr val="12171E"/>
          </a:solidFill>
          <a:ln w="22225">
            <a:solidFill>
              <a:srgbClr val="58A6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38912" y="4160520"/>
            <a:ext cx="7863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58A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-R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371600" y="4133088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recursiva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371600" y="4434840"/>
            <a:ext cx="4663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chown -R backup:backup /var/backups aplica a toda la carpeta.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48640" y="5257800"/>
            <a:ext cx="5486400" cy="868680"/>
          </a:xfrm>
          <a:prstGeom prst="roundRect">
            <a:avLst>
              <a:gd name="adj" fmla="val 9474"/>
            </a:avLst>
          </a:prstGeom>
          <a:solidFill>
            <a:srgbClr val="161B22"/>
          </a:solidFill>
          <a:ln w="12700">
            <a:solidFill>
              <a:srgbClr val="2A313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68680" y="5440680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56D3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Regla: </a:t>
            </a:r>
            <a:pPr indent="0" marL="0">
              <a:buNone/>
            </a:pPr>
            <a:r>
              <a:rPr lang="en-US" sz="12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solo root puede cambiar el dueño; por eso se usa sudo.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6537960" y="1783080"/>
            <a:ext cx="5074920" cy="3977640"/>
          </a:xfrm>
          <a:prstGeom prst="roundRect">
            <a:avLst>
              <a:gd name="adj" fmla="val 1839"/>
            </a:avLst>
          </a:prstGeom>
          <a:solidFill>
            <a:srgbClr val="12171E"/>
          </a:solidFill>
          <a:ln w="12700">
            <a:solidFill>
              <a:srgbClr val="2A313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775704" y="2039112"/>
            <a:ext cx="118872" cy="118872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20" name="Shape 18"/>
          <p:cNvSpPr/>
          <p:nvPr/>
        </p:nvSpPr>
        <p:spPr>
          <a:xfrm>
            <a:off x="6976872" y="2039112"/>
            <a:ext cx="118872" cy="118872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21" name="Shape 19"/>
          <p:cNvSpPr/>
          <p:nvPr/>
        </p:nvSpPr>
        <p:spPr>
          <a:xfrm>
            <a:off x="7178040" y="2039112"/>
            <a:ext cx="118872" cy="118872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22" name="Text 20"/>
          <p:cNvSpPr/>
          <p:nvPr/>
        </p:nvSpPr>
        <p:spPr>
          <a:xfrm>
            <a:off x="8961120" y="1938528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terminal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702552" y="2350008"/>
            <a:ext cx="4745736" cy="0"/>
          </a:xfrm>
          <a:prstGeom prst="line">
            <a:avLst/>
          </a:prstGeom>
          <a:noFill/>
          <a:ln w="12700">
            <a:solidFill>
              <a:srgbClr val="2A313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830568" y="2514600"/>
            <a:ext cx="4544568" cy="3081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1250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</a:t>
            </a:r>
            <a:pPr algn="l" indent="0" marL="0">
              <a:lnSpc>
                <a:spcPct val="124000"/>
              </a:lnSpc>
              <a:buNone/>
            </a:pPr>
            <a:r>
              <a:rPr lang="en-US" sz="12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sudo chown </a:t>
            </a:r>
            <a:pPr algn="l" indent="0" marL="0">
              <a:lnSpc>
                <a:spcPct val="124000"/>
              </a:lnSpc>
              <a:buNone/>
            </a:pPr>
            <a:r>
              <a:rPr lang="en-US" sz="1250" dirty="0">
                <a:solidFill>
                  <a:srgbClr val="56D3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backup:backup</a:t>
            </a:r>
            <a:pPr algn="l" indent="0" marL="0">
              <a:lnSpc>
                <a:spcPct val="124000"/>
              </a:lnSpc>
              <a:buNone/>
            </a:pPr>
            <a:r>
              <a:rPr lang="en-US" sz="12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\</a:t>
            </a:r>
            <a:endParaRPr lang="en-US" sz="1250" dirty="0"/>
          </a:p>
          <a:p>
            <a:pPr algn="l" indent="0" marL="0">
              <a:lnSpc>
                <a:spcPct val="124000"/>
              </a:lnSpc>
              <a:buNone/>
            </a:pPr>
            <a:r>
              <a:rPr lang="en-US" sz="12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</a:t>
            </a:r>
            <a:pPr algn="l" indent="0" marL="0">
              <a:lnSpc>
                <a:spcPct val="124000"/>
              </a:lnSpc>
              <a:buNone/>
            </a:pPr>
            <a:r>
              <a:rPr lang="en-US" sz="12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/var/backups/datos</a:t>
            </a:r>
            <a:endParaRPr lang="en-US" sz="1250" dirty="0"/>
          </a:p>
          <a:p>
            <a:pPr algn="l" indent="0" marL="0">
              <a:lnSpc>
                <a:spcPct val="124000"/>
              </a:lnSpc>
              <a:buNone/>
            </a:pPr>
            <a:r>
              <a:rPr lang="en-US" sz="600" dirty="0">
                <a:solidFill>
                  <a:srgbClr val="000000"/>
                </a:solidFill>
              </a:rPr>
              <a:t> </a:t>
            </a:r>
            <a:endParaRPr lang="en-US" sz="1250" dirty="0"/>
          </a:p>
          <a:p>
            <a:pPr algn="l" indent="0" marL="0">
              <a:lnSpc>
                <a:spcPct val="124000"/>
              </a:lnSpc>
              <a:buNone/>
            </a:pPr>
            <a:r>
              <a:rPr lang="en-US" sz="1250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</a:t>
            </a:r>
            <a:pPr algn="l" indent="0" marL="0">
              <a:lnSpc>
                <a:spcPct val="124000"/>
              </a:lnSpc>
              <a:buNone/>
            </a:pPr>
            <a:r>
              <a:rPr lang="en-US" sz="12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ls -ld /var/backups/datos</a:t>
            </a:r>
            <a:endParaRPr lang="en-US" sz="1250" dirty="0"/>
          </a:p>
          <a:p>
            <a:pPr algn="l" indent="0" marL="0">
              <a:lnSpc>
                <a:spcPct val="124000"/>
              </a:lnSpc>
              <a:buNone/>
            </a:pPr>
            <a:r>
              <a:rPr lang="en-US" sz="12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drwxr-x--- </a:t>
            </a:r>
            <a:pPr algn="l" indent="0" marL="0">
              <a:lnSpc>
                <a:spcPct val="124000"/>
              </a:lnSpc>
              <a:buNone/>
            </a:pPr>
            <a:r>
              <a:rPr lang="en-US" sz="1250" dirty="0">
                <a:solidFill>
                  <a:srgbClr val="56D3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backup backup …</a:t>
            </a:r>
            <a:endParaRPr lang="en-US" sz="1250" dirty="0"/>
          </a:p>
          <a:p>
            <a:pPr algn="l" indent="0" marL="0">
              <a:lnSpc>
                <a:spcPct val="124000"/>
              </a:lnSpc>
              <a:buNone/>
            </a:pPr>
            <a:r>
              <a:rPr lang="en-US" sz="600" dirty="0">
                <a:solidFill>
                  <a:srgbClr val="000000"/>
                </a:solidFill>
              </a:rPr>
              <a:t> </a:t>
            </a:r>
            <a:endParaRPr lang="en-US" sz="1250" dirty="0"/>
          </a:p>
          <a:p>
            <a:pPr algn="l" indent="0" marL="0">
              <a:lnSpc>
                <a:spcPct val="124000"/>
              </a:lnSpc>
              <a:buNone/>
            </a:pPr>
            <a:r>
              <a:rPr lang="en-US" sz="1250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</a:t>
            </a:r>
            <a:pPr algn="l" indent="0" marL="0">
              <a:lnSpc>
                <a:spcPct val="124000"/>
              </a:lnSpc>
              <a:buNone/>
            </a:pPr>
            <a:r>
              <a:rPr lang="en-US" sz="12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sudo chgrp </a:t>
            </a:r>
            <a:pPr algn="l" indent="0" marL="0">
              <a:lnSpc>
                <a:spcPct val="124000"/>
              </a:lnSpc>
              <a:buNone/>
            </a:pPr>
            <a:r>
              <a:rPr lang="en-US" sz="1250" dirty="0">
                <a:solidFill>
                  <a:srgbClr val="56D3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-R</a:t>
            </a:r>
            <a:pPr algn="l" indent="0" marL="0">
              <a:lnSpc>
                <a:spcPct val="124000"/>
              </a:lnSpc>
              <a:buNone/>
            </a:pPr>
            <a:r>
              <a:rPr lang="en-US" sz="12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backup /var/backups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Permisos especiales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48640" y="1078992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Tres bits extra que cambian cómo se ejecuta o se comparte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3520440" cy="3063240"/>
          </a:xfrm>
          <a:prstGeom prst="roundRect">
            <a:avLst>
              <a:gd name="adj" fmla="val 2687"/>
            </a:avLst>
          </a:prstGeom>
          <a:solidFill>
            <a:srgbClr val="161B22"/>
          </a:solidFill>
          <a:ln w="12700">
            <a:solidFill>
              <a:srgbClr val="2A313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2221992"/>
            <a:ext cx="2880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56D3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setuid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868680" y="2697480"/>
            <a:ext cx="2880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3A8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4000  </a:t>
            </a:r>
            <a:pPr indent="0" marL="0">
              <a:buNone/>
            </a:pPr>
            <a:r>
              <a:rPr lang="en-US" sz="1600" b="1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68680" y="3200400"/>
            <a:ext cx="2953512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un ejecutable, corre con los privilegios de su DUEÑO, no de quien lo llama. Ej.: /usr/bin/passwd. chmod u+s.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251960" y="1965960"/>
            <a:ext cx="3520440" cy="3063240"/>
          </a:xfrm>
          <a:prstGeom prst="roundRect">
            <a:avLst>
              <a:gd name="adj" fmla="val 2687"/>
            </a:avLst>
          </a:prstGeom>
          <a:solidFill>
            <a:srgbClr val="161B22"/>
          </a:solidFill>
          <a:ln w="12700">
            <a:solidFill>
              <a:srgbClr val="2A313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0" y="2221992"/>
            <a:ext cx="2880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56D3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setgid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4572000" y="2697480"/>
            <a:ext cx="2880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3A8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2000  </a:t>
            </a:r>
            <a:pPr indent="0" marL="0">
              <a:buNone/>
            </a:pPr>
            <a:r>
              <a:rPr lang="en-US" sz="1600" b="1" dirty="0">
                <a:solidFill>
                  <a:srgbClr val="E3A8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572000" y="3200400"/>
            <a:ext cx="2953512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un directorio, los archivos nuevos heredan su GRUPO — ideal para carpetas compartidas de respaldo. chmod g+s.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7955280" y="1965960"/>
            <a:ext cx="3520440" cy="3063240"/>
          </a:xfrm>
          <a:prstGeom prst="roundRect">
            <a:avLst>
              <a:gd name="adj" fmla="val 2687"/>
            </a:avLst>
          </a:prstGeom>
          <a:solidFill>
            <a:srgbClr val="161B22"/>
          </a:solidFill>
          <a:ln w="12700">
            <a:solidFill>
              <a:srgbClr val="2A313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75320" y="2221992"/>
            <a:ext cx="2880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56D3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sticky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8275320" y="2697480"/>
            <a:ext cx="2880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3A8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1000  </a:t>
            </a:r>
            <a:pPr indent="0" marL="0">
              <a:buNone/>
            </a:pPr>
            <a:r>
              <a:rPr lang="en-US" sz="1600" b="1" dirty="0">
                <a:solidFill>
                  <a:srgbClr val="58A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275320" y="3200400"/>
            <a:ext cx="2953512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un directorio, solo el dueño de cada archivo puede borrarlo. Ej.: /tmp (drwxrwxrwt). chmod +t.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548640" y="53492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56D3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ven en ls: </a:t>
            </a:r>
            <a:pPr indent="0" marL="0">
              <a:buNone/>
            </a:pPr>
            <a:r>
              <a:rPr lang="en-US" sz="1250" b="1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-rws</a:t>
            </a:r>
            <a:pPr indent="0" marL="0">
              <a:buNone/>
            </a:pPr>
            <a:r>
              <a:rPr lang="en-US" sz="12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(setuid)    </a:t>
            </a:r>
            <a:pPr indent="0" marL="0">
              <a:buNone/>
            </a:pPr>
            <a:r>
              <a:rPr lang="en-US" sz="1250" b="1" dirty="0">
                <a:solidFill>
                  <a:srgbClr val="E3A8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drwxrws</a:t>
            </a:r>
            <a:pPr indent="0" marL="0">
              <a:buNone/>
            </a:pPr>
            <a:r>
              <a:rPr lang="en-US" sz="12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(setgid)    </a:t>
            </a:r>
            <a:pPr indent="0" marL="0">
              <a:buNone/>
            </a:pPr>
            <a:r>
              <a:rPr lang="en-US" sz="1250" b="1" dirty="0">
                <a:solidFill>
                  <a:srgbClr val="58A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drwxrwxrwt</a:t>
            </a:r>
            <a:pPr indent="0" marL="0">
              <a:buNone/>
            </a:pPr>
            <a:r>
              <a:rPr lang="en-US" sz="12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(sticky)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Usuarios y grupos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48640" y="1078992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Quién es quién en el sistema — la base de todos los permisos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566928" cy="566928"/>
          </a:xfrm>
          <a:prstGeom prst="ellipse">
            <a:avLst/>
          </a:prstGeom>
          <a:solidFill>
            <a:srgbClr val="12171E"/>
          </a:solidFill>
          <a:ln w="22225">
            <a:solidFill>
              <a:srgbClr val="3FB95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38912" y="1874520"/>
            <a:ext cx="7863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371600" y="1847088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Quién soy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371600" y="2148840"/>
            <a:ext cx="4663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id, whoami y groups muestran tu usuario (UID), grupo (GID) y grupos extra.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48640" y="3017520"/>
            <a:ext cx="566928" cy="566928"/>
          </a:xfrm>
          <a:prstGeom prst="ellipse">
            <a:avLst/>
          </a:prstGeom>
          <a:solidFill>
            <a:srgbClr val="12171E"/>
          </a:solidFill>
          <a:ln w="22225">
            <a:solidFill>
              <a:srgbClr val="E3A85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3017520"/>
            <a:ext cx="7863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3A8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pwd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371600" y="2990088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/etc/passwd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371600" y="3291840"/>
            <a:ext cx="4663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línea por usuario: nombre:x:UID:GID:info:home:shell.  UID 0 = root.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48640" y="4160520"/>
            <a:ext cx="566928" cy="566928"/>
          </a:xfrm>
          <a:prstGeom prst="ellipse">
            <a:avLst/>
          </a:prstGeom>
          <a:solidFill>
            <a:srgbClr val="12171E"/>
          </a:solidFill>
          <a:ln w="22225">
            <a:solidFill>
              <a:srgbClr val="58A6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38912" y="4160520"/>
            <a:ext cx="7863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8A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grp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371600" y="4133088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/etc/group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371600" y="4434840"/>
            <a:ext cx="4663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línea por grupo: nombre:x:GID:miembros.  Define quién comparte permisos.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48640" y="5303520"/>
            <a:ext cx="566928" cy="566928"/>
          </a:xfrm>
          <a:prstGeom prst="ellipse">
            <a:avLst/>
          </a:prstGeom>
          <a:solidFill>
            <a:srgbClr val="12171E"/>
          </a:solidFill>
          <a:ln w="22225">
            <a:solidFill>
              <a:srgbClr val="3FB95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38912" y="5303520"/>
            <a:ext cx="7863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add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371600" y="5276088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Administrar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371600" y="5577840"/>
            <a:ext cx="4663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useradd, usermod -aG grupo usuario, groupadd — requieren root.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6537960" y="1783080"/>
            <a:ext cx="5074920" cy="3977640"/>
          </a:xfrm>
          <a:prstGeom prst="roundRect">
            <a:avLst>
              <a:gd name="adj" fmla="val 1839"/>
            </a:avLst>
          </a:prstGeom>
          <a:solidFill>
            <a:srgbClr val="12171E"/>
          </a:solidFill>
          <a:ln w="12700">
            <a:solidFill>
              <a:srgbClr val="2A313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775704" y="2039112"/>
            <a:ext cx="118872" cy="118872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22" name="Shape 20"/>
          <p:cNvSpPr/>
          <p:nvPr/>
        </p:nvSpPr>
        <p:spPr>
          <a:xfrm>
            <a:off x="6976872" y="2039112"/>
            <a:ext cx="118872" cy="118872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23" name="Shape 21"/>
          <p:cNvSpPr/>
          <p:nvPr/>
        </p:nvSpPr>
        <p:spPr>
          <a:xfrm>
            <a:off x="7178040" y="2039112"/>
            <a:ext cx="118872" cy="118872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24" name="Text 22"/>
          <p:cNvSpPr/>
          <p:nvPr/>
        </p:nvSpPr>
        <p:spPr>
          <a:xfrm>
            <a:off x="8961120" y="1938528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terminal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702552" y="2350008"/>
            <a:ext cx="4745736" cy="0"/>
          </a:xfrm>
          <a:prstGeom prst="line">
            <a:avLst/>
          </a:prstGeom>
          <a:noFill/>
          <a:ln w="12700">
            <a:solidFill>
              <a:srgbClr val="2A313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830568" y="2514600"/>
            <a:ext cx="4544568" cy="3081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1250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</a:t>
            </a:r>
            <a:pPr algn="l" indent="0" marL="0">
              <a:lnSpc>
                <a:spcPct val="124000"/>
              </a:lnSpc>
              <a:buNone/>
            </a:pPr>
            <a:r>
              <a:rPr lang="en-US" sz="12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</a:t>
            </a:r>
            <a:endParaRPr lang="en-US" sz="1250" dirty="0"/>
          </a:p>
          <a:p>
            <a:pPr algn="l" indent="0" marL="0">
              <a:lnSpc>
                <a:spcPct val="124000"/>
              </a:lnSpc>
              <a:buNone/>
            </a:pPr>
            <a:r>
              <a:rPr lang="en-US" sz="12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uid=1000(ariel) gid=1000</a:t>
            </a:r>
            <a:endParaRPr lang="en-US" sz="1250" dirty="0"/>
          </a:p>
          <a:p>
            <a:pPr algn="l" indent="0" marL="0">
              <a:lnSpc>
                <a:spcPct val="124000"/>
              </a:lnSpc>
              <a:buNone/>
            </a:pPr>
            <a:r>
              <a:rPr lang="en-US" sz="12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(ariel) groups=…,sudo</a:t>
            </a:r>
            <a:endParaRPr lang="en-US" sz="1250" dirty="0"/>
          </a:p>
          <a:p>
            <a:pPr algn="l" indent="0" marL="0">
              <a:lnSpc>
                <a:spcPct val="124000"/>
              </a:lnSpc>
              <a:buNone/>
            </a:pPr>
            <a:r>
              <a:rPr lang="en-US" sz="600" dirty="0">
                <a:solidFill>
                  <a:srgbClr val="000000"/>
                </a:solidFill>
              </a:rPr>
              <a:t> </a:t>
            </a:r>
            <a:endParaRPr lang="en-US" sz="1250" dirty="0"/>
          </a:p>
          <a:p>
            <a:pPr algn="l" indent="0" marL="0">
              <a:lnSpc>
                <a:spcPct val="124000"/>
              </a:lnSpc>
              <a:buNone/>
            </a:pPr>
            <a:r>
              <a:rPr lang="en-US" sz="1250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</a:t>
            </a:r>
            <a:pPr algn="l" indent="0" marL="0">
              <a:lnSpc>
                <a:spcPct val="124000"/>
              </a:lnSpc>
              <a:buNone/>
            </a:pPr>
            <a:r>
              <a:rPr lang="en-US" sz="12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grep </a:t>
            </a:r>
            <a:pPr algn="l" indent="0" marL="0">
              <a:lnSpc>
                <a:spcPct val="124000"/>
              </a:lnSpc>
              <a:buNone/>
            </a:pPr>
            <a:r>
              <a:rPr lang="en-US" sz="1250" dirty="0">
                <a:solidFill>
                  <a:srgbClr val="56D3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^backup</a:t>
            </a:r>
            <a:pPr algn="l" indent="0" marL="0">
              <a:lnSpc>
                <a:spcPct val="124000"/>
              </a:lnSpc>
              <a:buNone/>
            </a:pPr>
            <a:r>
              <a:rPr lang="en-US" sz="12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/etc/passwd</a:t>
            </a:r>
            <a:endParaRPr lang="en-US" sz="1250" dirty="0"/>
          </a:p>
          <a:p>
            <a:pPr algn="l" indent="0" marL="0">
              <a:lnSpc>
                <a:spcPct val="124000"/>
              </a:lnSpc>
              <a:buNone/>
            </a:pPr>
            <a:r>
              <a:rPr lang="en-US" sz="12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backup:x:997:997::</a:t>
            </a:r>
            <a:endParaRPr lang="en-US" sz="1250" dirty="0"/>
          </a:p>
          <a:p>
            <a:pPr algn="l" indent="0" marL="0">
              <a:lnSpc>
                <a:spcPct val="124000"/>
              </a:lnSpc>
              <a:buNone/>
            </a:pPr>
            <a:r>
              <a:rPr lang="en-US" sz="12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/var/backups:/usr/sbin/nologin</a:t>
            </a:r>
            <a:endParaRPr lang="en-US" sz="1250" dirty="0"/>
          </a:p>
          <a:p>
            <a:pPr algn="l" indent="0" marL="0">
              <a:lnSpc>
                <a:spcPct val="124000"/>
              </a:lnSpc>
              <a:buNone/>
            </a:pPr>
            <a:r>
              <a:rPr lang="en-US" sz="600" dirty="0">
                <a:solidFill>
                  <a:srgbClr val="000000"/>
                </a:solidFill>
              </a:rPr>
              <a:t> </a:t>
            </a:r>
            <a:endParaRPr lang="en-US" sz="1250" dirty="0"/>
          </a:p>
          <a:p>
            <a:pPr algn="l" indent="0" marL="0">
              <a:lnSpc>
                <a:spcPct val="124000"/>
              </a:lnSpc>
              <a:buNone/>
            </a:pPr>
            <a:r>
              <a:rPr lang="en-US" sz="1250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</a:t>
            </a:r>
            <a:pPr algn="l" indent="0" marL="0">
              <a:lnSpc>
                <a:spcPct val="124000"/>
              </a:lnSpc>
              <a:buNone/>
            </a:pPr>
            <a:r>
              <a:rPr lang="en-US" sz="12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sudo usermod </a:t>
            </a:r>
            <a:pPr algn="l" indent="0" marL="0">
              <a:lnSpc>
                <a:spcPct val="124000"/>
              </a:lnSpc>
              <a:buNone/>
            </a:pPr>
            <a:r>
              <a:rPr lang="en-US" sz="1250" dirty="0">
                <a:solidFill>
                  <a:srgbClr val="56D3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-aG</a:t>
            </a:r>
            <a:pPr algn="l" indent="0" marL="0">
              <a:lnSpc>
                <a:spcPct val="124000"/>
              </a:lnSpc>
              <a:buNone/>
            </a:pPr>
            <a:r>
              <a:rPr lang="en-US" sz="12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backup ariel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práctica: asegurar respaldo.sh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48640" y="1078992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Juntamos todo — un usuario de servicio, una carpeta privada y el script ejecutable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5440680" cy="3977640"/>
          </a:xfrm>
          <a:prstGeom prst="roundRect">
            <a:avLst>
              <a:gd name="adj" fmla="val 2069"/>
            </a:avLst>
          </a:prstGeom>
          <a:solidFill>
            <a:srgbClr val="161B22"/>
          </a:solidFill>
          <a:ln w="12700">
            <a:solidFill>
              <a:srgbClr val="2A313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2103120"/>
            <a:ext cx="4846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56D3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Checklist de seguridad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86968" y="2606040"/>
            <a:ext cx="489204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>
              <a:lnSpc>
                <a:spcPct val="102000"/>
              </a:lnSpc>
              <a:spcAft>
                <a:spcPts val="900"/>
              </a:spcAft>
              <a:buSzPct val="100000"/>
              <a:buChar char="✓"/>
            </a:pPr>
            <a:r>
              <a:rPr lang="en-US" sz="13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Usuario de servicio sin login (backup)</a:t>
            </a:r>
            <a:endParaRPr lang="en-US" sz="1300" dirty="0"/>
          </a:p>
          <a:p>
            <a:pPr marL="254000" indent="-254000">
              <a:lnSpc>
                <a:spcPct val="102000"/>
              </a:lnSpc>
              <a:spcAft>
                <a:spcPts val="900"/>
              </a:spcAft>
              <a:buSzPct val="100000"/>
              <a:buChar char="✓"/>
            </a:pPr>
            <a:r>
              <a:rPr lang="en-US" sz="13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Carpeta de datos privada: chmod 750</a:t>
            </a:r>
            <a:endParaRPr lang="en-US" sz="1300" dirty="0"/>
          </a:p>
          <a:p>
            <a:pPr marL="254000" indent="-254000">
              <a:lnSpc>
                <a:spcPct val="102000"/>
              </a:lnSpc>
              <a:spcAft>
                <a:spcPts val="900"/>
              </a:spcAft>
              <a:buSzPct val="100000"/>
              <a:buChar char="✓"/>
            </a:pPr>
            <a:r>
              <a:rPr lang="en-US" sz="13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Dueño y grupo backup:backup</a:t>
            </a:r>
            <a:endParaRPr lang="en-US" sz="1300" dirty="0"/>
          </a:p>
          <a:p>
            <a:pPr marL="254000" indent="-254000">
              <a:lnSpc>
                <a:spcPct val="102000"/>
              </a:lnSpc>
              <a:spcAft>
                <a:spcPts val="900"/>
              </a:spcAft>
              <a:buSzPct val="100000"/>
              <a:buChar char="✓"/>
            </a:pPr>
            <a:r>
              <a:rPr lang="en-US" sz="13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Script ejecutable solo por su dueño y grupo</a:t>
            </a:r>
            <a:endParaRPr lang="en-US" sz="1300" dirty="0"/>
          </a:p>
          <a:p>
            <a:pPr marL="254000" indent="-254000">
              <a:lnSpc>
                <a:spcPct val="102000"/>
              </a:lnSpc>
              <a:spcAft>
                <a:spcPts val="900"/>
              </a:spcAft>
              <a:buSzPct val="100000"/>
              <a:buChar char="✓"/>
            </a:pPr>
            <a:r>
              <a:rPr lang="en-US" sz="13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umask 077 dentro del script</a:t>
            </a:r>
            <a:endParaRPr lang="en-US" sz="1300" dirty="0"/>
          </a:p>
          <a:p>
            <a:pPr marL="254000" indent="-254000">
              <a:lnSpc>
                <a:spcPct val="102000"/>
              </a:lnSpc>
              <a:spcAft>
                <a:spcPts val="900"/>
              </a:spcAft>
              <a:buSzPct val="100000"/>
              <a:buChar char="✓"/>
            </a:pPr>
            <a:r>
              <a:rPr lang="en-US" sz="13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setgid en la carpeta para heredar el grupo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172200" y="1874520"/>
            <a:ext cx="5440680" cy="3977640"/>
          </a:xfrm>
          <a:prstGeom prst="roundRect">
            <a:avLst>
              <a:gd name="adj" fmla="val 1839"/>
            </a:avLst>
          </a:prstGeom>
          <a:solidFill>
            <a:srgbClr val="12171E"/>
          </a:solidFill>
          <a:ln w="12700">
            <a:solidFill>
              <a:srgbClr val="2A313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409944" y="2130552"/>
            <a:ext cx="118872" cy="118872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9" name="Shape 7"/>
          <p:cNvSpPr/>
          <p:nvPr/>
        </p:nvSpPr>
        <p:spPr>
          <a:xfrm>
            <a:off x="6611112" y="2130552"/>
            <a:ext cx="118872" cy="118872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10" name="Shape 8"/>
          <p:cNvSpPr/>
          <p:nvPr/>
        </p:nvSpPr>
        <p:spPr>
          <a:xfrm>
            <a:off x="6812280" y="2130552"/>
            <a:ext cx="118872" cy="118872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11" name="Text 9"/>
          <p:cNvSpPr/>
          <p:nvPr/>
        </p:nvSpPr>
        <p:spPr>
          <a:xfrm>
            <a:off x="8961120" y="2029968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setup.sh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336792" y="2441448"/>
            <a:ext cx="5111496" cy="0"/>
          </a:xfrm>
          <a:prstGeom prst="line">
            <a:avLst/>
          </a:prstGeom>
          <a:noFill/>
          <a:ln w="12700">
            <a:solidFill>
              <a:srgbClr val="2A313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64808" y="2606040"/>
            <a:ext cx="4910328" cy="3081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12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usuario de servicio, sin shell</a:t>
            </a:r>
            <a:endParaRPr lang="en-US" sz="1250" dirty="0"/>
          </a:p>
          <a:p>
            <a:pPr algn="l" indent="0" marL="0">
              <a:lnSpc>
                <a:spcPct val="124000"/>
              </a:lnSpc>
              <a:buNone/>
            </a:pPr>
            <a:r>
              <a:rPr lang="en-US" sz="12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sudo useradd -r -s /usr/sbin/nologin backup</a:t>
            </a:r>
            <a:endParaRPr lang="en-US" sz="1250" dirty="0"/>
          </a:p>
          <a:p>
            <a:pPr algn="l" indent="0" marL="0">
              <a:lnSpc>
                <a:spcPct val="124000"/>
              </a:lnSpc>
              <a:buNone/>
            </a:pPr>
            <a:r>
              <a:rPr lang="en-US" sz="600" dirty="0">
                <a:solidFill>
                  <a:srgbClr val="000000"/>
                </a:solidFill>
              </a:rPr>
              <a:t> </a:t>
            </a:r>
            <a:endParaRPr lang="en-US" sz="1250" dirty="0"/>
          </a:p>
          <a:p>
            <a:pPr algn="l" indent="0" marL="0">
              <a:lnSpc>
                <a:spcPct val="124000"/>
              </a:lnSpc>
              <a:buNone/>
            </a:pPr>
            <a:r>
              <a:rPr lang="en-US" sz="12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carpeta de respaldos</a:t>
            </a:r>
            <a:endParaRPr lang="en-US" sz="1250" dirty="0"/>
          </a:p>
          <a:p>
            <a:pPr algn="l" indent="0" marL="0">
              <a:lnSpc>
                <a:spcPct val="124000"/>
              </a:lnSpc>
              <a:buNone/>
            </a:pPr>
            <a:r>
              <a:rPr lang="en-US" sz="12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sudo mkdir -p /var/backups/datos</a:t>
            </a:r>
            <a:endParaRPr lang="en-US" sz="1250" dirty="0"/>
          </a:p>
          <a:p>
            <a:pPr algn="l" indent="0" marL="0">
              <a:lnSpc>
                <a:spcPct val="124000"/>
              </a:lnSpc>
              <a:buNone/>
            </a:pPr>
            <a:r>
              <a:rPr lang="en-US" sz="12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sudo chown </a:t>
            </a:r>
            <a:pPr algn="l" indent="0" marL="0">
              <a:lnSpc>
                <a:spcPct val="124000"/>
              </a:lnSpc>
              <a:buNone/>
            </a:pPr>
            <a:r>
              <a:rPr lang="en-US" sz="1250" dirty="0">
                <a:solidFill>
                  <a:srgbClr val="56D3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backup:backup</a:t>
            </a:r>
            <a:pPr algn="l" indent="0" marL="0">
              <a:lnSpc>
                <a:spcPct val="124000"/>
              </a:lnSpc>
              <a:buNone/>
            </a:pPr>
            <a:r>
              <a:rPr lang="en-US" sz="12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/var/backups/datos</a:t>
            </a:r>
            <a:endParaRPr lang="en-US" sz="1250" dirty="0"/>
          </a:p>
          <a:p>
            <a:pPr algn="l" indent="0" marL="0">
              <a:lnSpc>
                <a:spcPct val="124000"/>
              </a:lnSpc>
              <a:buNone/>
            </a:pPr>
            <a:r>
              <a:rPr lang="en-US" sz="12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sudo chmod </a:t>
            </a:r>
            <a:pPr algn="l" indent="0" marL="0">
              <a:lnSpc>
                <a:spcPct val="124000"/>
              </a:lnSpc>
              <a:buNone/>
            </a:pPr>
            <a:r>
              <a:rPr lang="en-US" sz="1250" dirty="0">
                <a:solidFill>
                  <a:srgbClr val="56D3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2750</a:t>
            </a:r>
            <a:pPr algn="l" indent="0" marL="0">
              <a:lnSpc>
                <a:spcPct val="124000"/>
              </a:lnSpc>
              <a:buNone/>
            </a:pPr>
            <a:r>
              <a:rPr lang="en-US" sz="12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/var/backups/datos</a:t>
            </a:r>
            <a:endParaRPr lang="en-US" sz="1250" dirty="0"/>
          </a:p>
          <a:p>
            <a:pPr algn="l" indent="0" marL="0">
              <a:lnSpc>
                <a:spcPct val="124000"/>
              </a:lnSpc>
              <a:buNone/>
            </a:pPr>
            <a:r>
              <a:rPr lang="en-US" sz="600" dirty="0">
                <a:solidFill>
                  <a:srgbClr val="000000"/>
                </a:solidFill>
              </a:rPr>
              <a:t> </a:t>
            </a:r>
            <a:endParaRPr lang="en-US" sz="1250" dirty="0"/>
          </a:p>
          <a:p>
            <a:pPr algn="l" indent="0" marL="0">
              <a:lnSpc>
                <a:spcPct val="124000"/>
              </a:lnSpc>
              <a:buNone/>
            </a:pPr>
            <a:r>
              <a:rPr lang="en-US" sz="12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el script, ejecutable</a:t>
            </a:r>
            <a:endParaRPr lang="en-US" sz="1250" dirty="0"/>
          </a:p>
          <a:p>
            <a:pPr algn="l" indent="0" marL="0">
              <a:lnSpc>
                <a:spcPct val="124000"/>
              </a:lnSpc>
              <a:buNone/>
            </a:pPr>
            <a:r>
              <a:rPr lang="en-US" sz="12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chmod </a:t>
            </a:r>
            <a:pPr algn="l" indent="0" marL="0">
              <a:lnSpc>
                <a:spcPct val="124000"/>
              </a:lnSpc>
              <a:buNone/>
            </a:pPr>
            <a:r>
              <a:rPr lang="en-US" sz="1250" dirty="0">
                <a:solidFill>
                  <a:srgbClr val="56D3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750</a:t>
            </a:r>
            <a:pPr algn="l" indent="0" marL="0">
              <a:lnSpc>
                <a:spcPct val="124000"/>
              </a:lnSpc>
              <a:buNone/>
            </a:pPr>
            <a:r>
              <a:rPr lang="en-US" sz="12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respaldo.sh</a:t>
            </a:r>
            <a:endParaRPr lang="en-US" sz="12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Auditar permisos con find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48640" y="1078992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Buscar archivos inseguros — el primer paso del monitoreo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566928" cy="566928"/>
          </a:xfrm>
          <a:prstGeom prst="ellipse">
            <a:avLst/>
          </a:prstGeom>
          <a:solidFill>
            <a:srgbClr val="12171E"/>
          </a:solidFill>
          <a:ln w="22225">
            <a:solidFill>
              <a:srgbClr val="3FB95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38912" y="1874520"/>
            <a:ext cx="7863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-perm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371600" y="1847088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permisos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371600" y="2148840"/>
            <a:ext cx="4663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busca según los bits: -perm exactos, o -perm -MODO (que incluyan esos bits).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48640" y="3017520"/>
            <a:ext cx="566928" cy="566928"/>
          </a:xfrm>
          <a:prstGeom prst="ellipse">
            <a:avLst/>
          </a:prstGeom>
          <a:solidFill>
            <a:srgbClr val="12171E"/>
          </a:solidFill>
          <a:ln w="22225">
            <a:solidFill>
              <a:srgbClr val="E3A85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3017520"/>
            <a:ext cx="7863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3A8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-002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371600" y="2990088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Escribibles por todos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371600" y="3291840"/>
            <a:ext cx="4663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… -perm -002 encuentra archivos que cualquiera puede modificar (peligroso).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48640" y="4160520"/>
            <a:ext cx="566928" cy="566928"/>
          </a:xfrm>
          <a:prstGeom prst="ellipse">
            <a:avLst/>
          </a:prstGeom>
          <a:solidFill>
            <a:srgbClr val="12171E"/>
          </a:solidFill>
          <a:ln w="22225">
            <a:solidFill>
              <a:srgbClr val="58A6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38912" y="4160520"/>
            <a:ext cx="7863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8A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-4000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371600" y="4133088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setuid sueltos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371600" y="4434840"/>
            <a:ext cx="4663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/ -perm -4000 lista ejecutables con setuid: candidatos a revisar.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48640" y="5257800"/>
            <a:ext cx="5486400" cy="868680"/>
          </a:xfrm>
          <a:prstGeom prst="roundRect">
            <a:avLst>
              <a:gd name="adj" fmla="val 9474"/>
            </a:avLst>
          </a:prstGeom>
          <a:solidFill>
            <a:srgbClr val="161B22"/>
          </a:solidFill>
          <a:ln w="12700">
            <a:solidFill>
              <a:srgbClr val="2A313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68680" y="5440680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56D3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Idea: </a:t>
            </a:r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guardá la salida con fecha y comparala; los cambios inesperados son alertas.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6537960" y="1783080"/>
            <a:ext cx="5074920" cy="3977640"/>
          </a:xfrm>
          <a:prstGeom prst="roundRect">
            <a:avLst>
              <a:gd name="adj" fmla="val 1839"/>
            </a:avLst>
          </a:prstGeom>
          <a:solidFill>
            <a:srgbClr val="12171E"/>
          </a:solidFill>
          <a:ln w="12700">
            <a:solidFill>
              <a:srgbClr val="2A313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775704" y="2039112"/>
            <a:ext cx="118872" cy="118872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20" name="Shape 18"/>
          <p:cNvSpPr/>
          <p:nvPr/>
        </p:nvSpPr>
        <p:spPr>
          <a:xfrm>
            <a:off x="6976872" y="2039112"/>
            <a:ext cx="118872" cy="118872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21" name="Shape 19"/>
          <p:cNvSpPr/>
          <p:nvPr/>
        </p:nvSpPr>
        <p:spPr>
          <a:xfrm>
            <a:off x="7178040" y="2039112"/>
            <a:ext cx="118872" cy="118872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22" name="Text 20"/>
          <p:cNvSpPr/>
          <p:nvPr/>
        </p:nvSpPr>
        <p:spPr>
          <a:xfrm>
            <a:off x="8961120" y="1938528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terminal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702552" y="2350008"/>
            <a:ext cx="4745736" cy="0"/>
          </a:xfrm>
          <a:prstGeom prst="line">
            <a:avLst/>
          </a:prstGeom>
          <a:noFill/>
          <a:ln w="12700">
            <a:solidFill>
              <a:srgbClr val="2A313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830568" y="2514600"/>
            <a:ext cx="4544568" cy="3081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12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¿algo escribible por todos?</a:t>
            </a:r>
            <a:endParaRPr lang="en-US" sz="1250" dirty="0"/>
          </a:p>
          <a:p>
            <a:pPr algn="l" indent="0" marL="0">
              <a:lnSpc>
                <a:spcPct val="124000"/>
              </a:lnSpc>
              <a:buNone/>
            </a:pPr>
            <a:r>
              <a:rPr lang="en-US" sz="1250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</a:t>
            </a:r>
            <a:pPr algn="l" indent="0" marL="0">
              <a:lnSpc>
                <a:spcPct val="124000"/>
              </a:lnSpc>
              <a:buNone/>
            </a:pPr>
            <a:r>
              <a:rPr lang="en-US" sz="12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find /var/backups </a:t>
            </a:r>
            <a:pPr algn="l" indent="0" marL="0">
              <a:lnSpc>
                <a:spcPct val="124000"/>
              </a:lnSpc>
              <a:buNone/>
            </a:pPr>
            <a:r>
              <a:rPr lang="en-US" sz="1250" dirty="0">
                <a:solidFill>
                  <a:srgbClr val="56D3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-perm -002</a:t>
            </a:r>
            <a:endParaRPr lang="en-US" sz="1250" dirty="0"/>
          </a:p>
          <a:p>
            <a:pPr algn="l" indent="0" marL="0">
              <a:lnSpc>
                <a:spcPct val="124000"/>
              </a:lnSpc>
              <a:buNone/>
            </a:pPr>
            <a:r>
              <a:rPr lang="en-US" sz="600" dirty="0">
                <a:solidFill>
                  <a:srgbClr val="000000"/>
                </a:solidFill>
              </a:rPr>
              <a:t> </a:t>
            </a:r>
            <a:endParaRPr lang="en-US" sz="1250" dirty="0"/>
          </a:p>
          <a:p>
            <a:pPr algn="l" indent="0" marL="0">
              <a:lnSpc>
                <a:spcPct val="124000"/>
              </a:lnSpc>
              <a:buNone/>
            </a:pPr>
            <a:r>
              <a:rPr lang="en-US" sz="12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ejecutables setuid del sistema</a:t>
            </a:r>
            <a:endParaRPr lang="en-US" sz="1250" dirty="0"/>
          </a:p>
          <a:p>
            <a:pPr algn="l" indent="0" marL="0">
              <a:lnSpc>
                <a:spcPct val="124000"/>
              </a:lnSpc>
              <a:buNone/>
            </a:pPr>
            <a:r>
              <a:rPr lang="en-US" sz="1250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</a:t>
            </a:r>
            <a:pPr algn="l" indent="0" marL="0">
              <a:lnSpc>
                <a:spcPct val="124000"/>
              </a:lnSpc>
              <a:buNone/>
            </a:pPr>
            <a:r>
              <a:rPr lang="en-US" sz="12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find /usr/bin </a:t>
            </a:r>
            <a:pPr algn="l" indent="0" marL="0">
              <a:lnSpc>
                <a:spcPct val="124000"/>
              </a:lnSpc>
              <a:buNone/>
            </a:pPr>
            <a:r>
              <a:rPr lang="en-US" sz="1250" dirty="0">
                <a:solidFill>
                  <a:srgbClr val="56D3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-perm -4000</a:t>
            </a:r>
            <a:pPr algn="l" indent="0" marL="0">
              <a:lnSpc>
                <a:spcPct val="124000"/>
              </a:lnSpc>
              <a:buNone/>
            </a:pPr>
            <a:r>
              <a:rPr lang="en-US" sz="12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-type f</a:t>
            </a:r>
            <a:endParaRPr lang="en-US" sz="1250" dirty="0"/>
          </a:p>
          <a:p>
            <a:pPr algn="l" indent="0" marL="0">
              <a:lnSpc>
                <a:spcPct val="124000"/>
              </a:lnSpc>
              <a:buNone/>
            </a:pPr>
            <a:r>
              <a:rPr lang="en-US" sz="12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/usr/bin/passwd</a:t>
            </a:r>
            <a:endParaRPr lang="en-US" sz="1250" dirty="0"/>
          </a:p>
          <a:p>
            <a:pPr algn="l" indent="0" marL="0">
              <a:lnSpc>
                <a:spcPct val="124000"/>
              </a:lnSpc>
              <a:buNone/>
            </a:pPr>
            <a:r>
              <a:rPr lang="en-US" sz="12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/usr/bin/sudo</a:t>
            </a:r>
            <a:endParaRPr lang="en-US" sz="1250" dirty="0"/>
          </a:p>
          <a:p>
            <a:pPr algn="l" indent="0" marL="0">
              <a:lnSpc>
                <a:spcPct val="124000"/>
              </a:lnSpc>
              <a:buNone/>
            </a:pPr>
            <a:r>
              <a:rPr lang="en-US" sz="600" dirty="0">
                <a:solidFill>
                  <a:srgbClr val="000000"/>
                </a:solidFill>
              </a:rPr>
              <a:t> </a:t>
            </a:r>
            <a:endParaRPr lang="en-US" sz="1250" dirty="0"/>
          </a:p>
          <a:p>
            <a:pPr algn="l" indent="0" marL="0">
              <a:lnSpc>
                <a:spcPct val="124000"/>
              </a:lnSpc>
              <a:buNone/>
            </a:pPr>
            <a:r>
              <a:rPr lang="en-US" sz="12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permisos distintos de 640</a:t>
            </a:r>
            <a:endParaRPr lang="en-US" sz="1250" dirty="0"/>
          </a:p>
          <a:p>
            <a:pPr algn="l" indent="0" marL="0">
              <a:lnSpc>
                <a:spcPct val="124000"/>
              </a:lnSpc>
              <a:buNone/>
            </a:pPr>
            <a:r>
              <a:rPr lang="en-US" sz="1250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</a:t>
            </a:r>
            <a:pPr algn="l" indent="0" marL="0">
              <a:lnSpc>
                <a:spcPct val="124000"/>
              </a:lnSpc>
              <a:buNone/>
            </a:pPr>
            <a:r>
              <a:rPr lang="en-US" sz="12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find datos </a:t>
            </a:r>
            <a:pPr algn="l" indent="0" marL="0">
              <a:lnSpc>
                <a:spcPct val="124000"/>
              </a:lnSpc>
              <a:buNone/>
            </a:pPr>
            <a:r>
              <a:rPr lang="en-US" sz="1250" dirty="0">
                <a:solidFill>
                  <a:srgbClr val="56D3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! -perm 640</a:t>
            </a:r>
            <a:pPr algn="l" indent="0" marL="0">
              <a:lnSpc>
                <a:spcPct val="124000"/>
              </a:lnSpc>
              <a:buNone/>
            </a:pPr>
            <a:r>
              <a:rPr lang="en-US" sz="12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-type f</a:t>
            </a:r>
            <a:endParaRPr lang="en-US" sz="12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Resumen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5440680" cy="1417320"/>
          </a:xfrm>
          <a:prstGeom prst="roundRect">
            <a:avLst>
              <a:gd name="adj" fmla="val 5806"/>
            </a:avLst>
          </a:prstGeom>
          <a:solidFill>
            <a:srgbClr val="161B22"/>
          </a:solidFill>
          <a:ln w="12700">
            <a:solidFill>
              <a:srgbClr val="2A313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68680" y="1655064"/>
            <a:ext cx="4800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56D3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rwx  u g o</a:t>
            </a:r>
            <a:endParaRPr lang="en-US" sz="1550" dirty="0"/>
          </a:p>
        </p:txBody>
      </p:sp>
      <p:sp>
        <p:nvSpPr>
          <p:cNvPr id="5" name="Text 3"/>
          <p:cNvSpPr/>
          <p:nvPr/>
        </p:nvSpPr>
        <p:spPr>
          <a:xfrm>
            <a:off x="886968" y="2130552"/>
            <a:ext cx="4754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permisos × 3 clases; en directorios x = entrar.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6172200" y="1417320"/>
            <a:ext cx="5440680" cy="1417320"/>
          </a:xfrm>
          <a:prstGeom prst="roundRect">
            <a:avLst>
              <a:gd name="adj" fmla="val 5806"/>
            </a:avLst>
          </a:prstGeom>
          <a:solidFill>
            <a:srgbClr val="161B22"/>
          </a:solidFill>
          <a:ln w="12700">
            <a:solidFill>
              <a:srgbClr val="2A313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92240" y="1655064"/>
            <a:ext cx="4800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56D3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r=4 w=2 x=1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6510528" y="2130552"/>
            <a:ext cx="4754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Octal: 755 público, 644 archivo, 700 privado.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48640" y="3063240"/>
            <a:ext cx="5440680" cy="1417320"/>
          </a:xfrm>
          <a:prstGeom prst="roundRect">
            <a:avLst>
              <a:gd name="adj" fmla="val 5806"/>
            </a:avLst>
          </a:prstGeom>
          <a:solidFill>
            <a:srgbClr val="161B22"/>
          </a:solidFill>
          <a:ln w="12700">
            <a:solidFill>
              <a:srgbClr val="2A313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68680" y="3300984"/>
            <a:ext cx="4800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56D3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chmod  chown</a:t>
            </a:r>
            <a:endParaRPr lang="en-US" sz="1550" dirty="0"/>
          </a:p>
        </p:txBody>
      </p:sp>
      <p:sp>
        <p:nvSpPr>
          <p:cNvPr id="11" name="Text 9"/>
          <p:cNvSpPr/>
          <p:nvPr/>
        </p:nvSpPr>
        <p:spPr>
          <a:xfrm>
            <a:off x="886968" y="3776472"/>
            <a:ext cx="4754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chmod fija permisos; chown define dueño y grupo (root).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172200" y="3063240"/>
            <a:ext cx="5440680" cy="1417320"/>
          </a:xfrm>
          <a:prstGeom prst="roundRect">
            <a:avLst>
              <a:gd name="adj" fmla="val 5806"/>
            </a:avLst>
          </a:prstGeom>
          <a:solidFill>
            <a:srgbClr val="161B22"/>
          </a:solidFill>
          <a:ln w="12700">
            <a:solidFill>
              <a:srgbClr val="2A313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92240" y="3300984"/>
            <a:ext cx="4800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56D3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umask 077</a:t>
            </a:r>
            <a:endParaRPr lang="en-US" sz="1550" dirty="0"/>
          </a:p>
        </p:txBody>
      </p:sp>
      <p:sp>
        <p:nvSpPr>
          <p:cNvPr id="14" name="Text 12"/>
          <p:cNvSpPr/>
          <p:nvPr/>
        </p:nvSpPr>
        <p:spPr>
          <a:xfrm>
            <a:off x="6510528" y="3776472"/>
            <a:ext cx="4754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Controla los permisos con que nacen archivos y carpetas.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548640" y="4709160"/>
            <a:ext cx="5440680" cy="1417320"/>
          </a:xfrm>
          <a:prstGeom prst="roundRect">
            <a:avLst>
              <a:gd name="adj" fmla="val 5806"/>
            </a:avLst>
          </a:prstGeom>
          <a:solidFill>
            <a:srgbClr val="161B22"/>
          </a:solidFill>
          <a:ln w="12700">
            <a:solidFill>
              <a:srgbClr val="2A313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68680" y="4946904"/>
            <a:ext cx="4800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56D3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setuid setgid sticky</a:t>
            </a:r>
            <a:endParaRPr lang="en-US" sz="1550" dirty="0"/>
          </a:p>
        </p:txBody>
      </p:sp>
      <p:sp>
        <p:nvSpPr>
          <p:cNvPr id="17" name="Text 15"/>
          <p:cNvSpPr/>
          <p:nvPr/>
        </p:nvSpPr>
        <p:spPr>
          <a:xfrm>
            <a:off x="886968" y="5422392"/>
            <a:ext cx="4754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4000/2000/1000: privilegios, grupo heredado, borrado protegido.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6172200" y="4709160"/>
            <a:ext cx="5440680" cy="1417320"/>
          </a:xfrm>
          <a:prstGeom prst="roundRect">
            <a:avLst>
              <a:gd name="adj" fmla="val 5806"/>
            </a:avLst>
          </a:prstGeom>
          <a:solidFill>
            <a:srgbClr val="161B22"/>
          </a:solidFill>
          <a:ln w="12700">
            <a:solidFill>
              <a:srgbClr val="2A313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92240" y="4946904"/>
            <a:ext cx="4800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56D3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find -perm</a:t>
            </a:r>
            <a:endParaRPr lang="en-US" sz="1550" dirty="0"/>
          </a:p>
        </p:txBody>
      </p:sp>
      <p:sp>
        <p:nvSpPr>
          <p:cNvPr id="20" name="Text 18"/>
          <p:cNvSpPr/>
          <p:nvPr/>
        </p:nvSpPr>
        <p:spPr>
          <a:xfrm>
            <a:off x="6510528" y="5422392"/>
            <a:ext cx="4754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Audita permisos inseguros: base del monitoreo.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exit </a:t>
            </a:r>
            <a:pPr algn="l" indent="0" marL="0">
              <a:buNone/>
            </a:pPr>
            <a:r>
              <a:rPr lang="en-US" sz="1200" b="1" dirty="0">
                <a:solidFill>
                  <a:srgbClr val="E3A8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pPr algn="l"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Linux 1 · Bloque 1/3 · Permisos y usuarios · proyecto respaldo.sh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2026-08-08T01:00:35Z</dcterms:created>
  <dcterms:modified xsi:type="dcterms:W3CDTF">2026-08-08T01:00:35Z</dcterms:modified>
</cp:coreProperties>
</file>