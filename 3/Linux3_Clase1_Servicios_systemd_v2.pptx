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65760"/>
            <a:ext cx="8229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685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III · REDES Y SERVICIOS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1430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Servicios en Linux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85800" y="19019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systemd · POSIX · Seguridad · Hardening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2395728"/>
            <a:ext cx="54864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560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  ·  POSIX  ·  cgroups  ·  journalctl  ·  hardening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127248"/>
            <a:ext cx="132588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1272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194560" y="3127248"/>
            <a:ext cx="132588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194560" y="31272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703320" y="3127248"/>
            <a:ext cx="132588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03320" y="31272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212080" y="3127248"/>
            <a:ext cx="132588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12080" y="31272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8580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1–2: Gestión avanzada de servicios con systemd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Desmitificando los Conceptos Clave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Ingeniería: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es un programa ejecutado en background, que provee funcionalidad persistente al sistema o red, y es administrado por el gestor de inicialización del 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810512"/>
            <a:ext cx="859536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176272"/>
            <a:ext cx="859536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4028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CENTRAL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74920" y="1810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 GESTIONA?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0" y="1810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24028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240280"/>
            <a:ext cx="18288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24028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01768" y="2240280"/>
            <a:ext cx="18288" cy="7498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59168" y="2240280"/>
            <a:ext cx="18288" cy="7498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40280" y="2240280"/>
            <a:ext cx="2697480" cy="7498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en ejecución con PID y espacio de memoria propio.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74920" y="22402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Kernel Linux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32320" y="2240280"/>
            <a:ext cx="1691640" cy="7498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ls, bash, ps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3063240"/>
            <a:ext cx="859536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3063240"/>
            <a:ext cx="18288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06324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01768" y="3063240"/>
            <a:ext cx="18288" cy="7498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59168" y="3063240"/>
            <a:ext cx="18288" cy="7498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40280" y="3063240"/>
            <a:ext cx="2697480" cy="7498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en background, desvinculado de la terminal, esperando peticiones.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74920" y="3063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binario / Kernel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32320" y="3063240"/>
            <a:ext cx="1691640" cy="7498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sshd, nginx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74320" y="388620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886200"/>
            <a:ext cx="18288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388620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01768" y="3886200"/>
            <a:ext cx="18288" cy="7498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59168" y="3886200"/>
            <a:ext cx="18288" cy="74980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40280" y="38862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daemon envuelto en políticas de ciclo de vida, dependencias y logs.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74920" y="3886200"/>
            <a:ext cx="1965960" cy="7498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inicio (systemd)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32320" y="3886200"/>
            <a:ext cx="1691640" cy="7498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ssh.service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4709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daemon puede existir sin ser un servicio (ejecutado manualmente con &amp;), pero systemd le otorga persistencia, reinicio y control de dependencias.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Capas del Sistema Linux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6217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" y="1005840"/>
            <a:ext cx="5029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" y="1005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32688" y="1005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880360" y="100584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sshd, docker — gobernados por systemd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0" y="160934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9FF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1719072"/>
            <a:ext cx="786384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1719072"/>
            <a:ext cx="64008" cy="621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" y="1719072"/>
            <a:ext cx="5029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1719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98448" y="17190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246120" y="171907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en background desvinculados de terminal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97680" y="232257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05840" y="2432304"/>
            <a:ext cx="713232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05840" y="2432304"/>
            <a:ext cx="64008" cy="6217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69848" y="2432304"/>
            <a:ext cx="5029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24323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64208" y="24323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611880" y="243230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básica de ejecución — tienen PID y contexto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297680" y="30358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371600" y="3145536"/>
            <a:ext cx="6400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371600" y="3145536"/>
            <a:ext cx="64008" cy="62179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35608" y="3145536"/>
            <a:ext cx="5029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35608" y="314553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2029968" y="314553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977640" y="31455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CPU, memoria, red y dispositivos físicos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297680" y="3749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737360" y="3858768"/>
            <a:ext cx="566928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737360" y="3858768"/>
            <a:ext cx="64008" cy="62179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801368" y="3858768"/>
            <a:ext cx="5029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01368" y="38587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2395728" y="3858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434340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RAM · Disco · Red — recursos físicos del nodo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POSIX — Por qué Importa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(Portable Operating System Interface — IEEE 1003) es el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que garantiza que el software interactúa de forma predecible con cualquier sistema UNIX-like.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274320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783080"/>
            <a:ext cx="2743200" cy="6400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4767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1480" y="3063240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 — duplica un proceso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" y="3483864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" y="34838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exec() — reemplaza imagen del proceso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3904488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" y="39044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wait() — espera la muerte de un hijo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1480" y="4325112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" y="432511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kill() — envía señales entre procesos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00400" y="1783080"/>
            <a:ext cx="274320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0" y="1783080"/>
            <a:ext cx="27432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94767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9184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y Sistema de Archivos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337560" y="3063240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401568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 — abre un descriptor de archivo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337560" y="3483864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401568" y="34838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 / write() — lectura y escritura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337560" y="3904488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01568" y="39044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 — libera el descriptor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337560" y="4325112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401568" y="432511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Modelo: todo es un archivo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126480" y="1783080"/>
            <a:ext cx="274320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126480" y="1783080"/>
            <a:ext cx="274320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947672"/>
            <a:ext cx="548640" cy="5486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21792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y Señales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6263640" y="3063240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327648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/ chown — control de acceso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263640" y="3483864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327648" y="34838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SIGTERM — terminación suave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263640" y="3904488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327648" y="39044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SIGKILL — terminación forzada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263640" y="4325112"/>
            <a:ext cx="24688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327648" y="432511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SIGHUP — recarga de configuración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57200" y="47365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(Daemon)  →  glibc (Librería C)  →  Syscalls POSIX  →  Kernel Linux  →  Hardware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Arranque del Sistema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788920"/>
            <a:ext cx="82296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05840"/>
            <a:ext cx="155448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05840"/>
            <a:ext cx="155448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15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1115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0352" y="166420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/ UEFI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30352" y="20756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de hardware. POST y detección de dispositivos de arranque.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1124712" y="2715768"/>
            <a:ext cx="219456" cy="21945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25296" y="2651760"/>
            <a:ext cx="18288" cy="182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93392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148840" y="1005840"/>
            <a:ext cx="155448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148840" y="1005840"/>
            <a:ext cx="1554480" cy="457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155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94560" y="1115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221992" y="166420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(GRUB)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2221992" y="20756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Kernel Linux en RAM. Pasa parámetros de arranque al kernel.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816352" y="2715768"/>
            <a:ext cx="219456" cy="21945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916936" y="2651760"/>
            <a:ext cx="18288" cy="1828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85032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840480" y="1005840"/>
            <a:ext cx="155448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840480" y="1005840"/>
            <a:ext cx="155448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1556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86200" y="1115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913632" y="166420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Linux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3913632" y="20756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estructuras internas, monta raíz, carga drivers esenciales.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507992" y="2715768"/>
            <a:ext cx="219456" cy="21945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08576" y="2651760"/>
            <a:ext cx="18288" cy="1828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376672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532120" y="1005840"/>
            <a:ext cx="155448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532120" y="1005840"/>
            <a:ext cx="1554480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115568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577840" y="1115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605272" y="166420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(PID 1)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605272" y="20756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Kernel cede control al espacio de usuario. systemd orquesta el resto.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6199632" y="2715768"/>
            <a:ext cx="219456" cy="219456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00216" y="2651760"/>
            <a:ext cx="18288" cy="1828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068312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7223760" y="1005840"/>
            <a:ext cx="155448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7223760" y="1005840"/>
            <a:ext cx="155448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115568"/>
            <a:ext cx="457200" cy="4572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269480" y="1115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7296912" y="166420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7296912" y="207568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lee targets y levanta: red, SSH, web, Docker y demás servicios.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7891272" y="2715768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7991856" y="2651760"/>
            <a:ext cx="18288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57200" y="3200400"/>
            <a:ext cx="4114800" cy="1691640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457200" y="3200400"/>
            <a:ext cx="41148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66928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vivo: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594360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-p 1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PID TTY    CMD
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 ?      /lib/systemd/systemd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4754880" y="3200400"/>
            <a:ext cx="41605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4754880" y="3200400"/>
            <a:ext cx="45720" cy="1691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4892040" y="3273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PID 1 es especial?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48920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Ancestro de todos los procesos de usuario</a:t>
            </a:r>
            <a:endParaRPr lang="en-US" sz="1050" dirty="0"/>
          </a:p>
        </p:txBody>
      </p:sp>
      <p:sp>
        <p:nvSpPr>
          <p:cNvPr id="59" name="Text 51"/>
          <p:cNvSpPr/>
          <p:nvPr/>
        </p:nvSpPr>
        <p:spPr>
          <a:xfrm>
            <a:off x="48920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 procesos huérfanos (reparenting)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489204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muere, el kernel emite un kernel panic</a:t>
            </a:r>
            <a:endParaRPr lang="en-US" sz="1050" dirty="0"/>
          </a:p>
        </p:txBody>
      </p:sp>
      <p:sp>
        <p:nvSpPr>
          <p:cNvPr id="61" name="Text 53"/>
          <p:cNvSpPr/>
          <p:nvPr/>
        </p:nvSpPr>
        <p:spPr>
          <a:xfrm>
            <a:off x="4892040" y="4581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apagado y reinicio del sistema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de Despliegue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Device »  Servidor Linux (Ubuntu 24.04 LTS)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1508760"/>
            <a:ext cx="402336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15087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Execution Environment 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 (PID 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53896" y="2377440"/>
            <a:ext cx="18288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83464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" y="28712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artifact »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" y="3063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sshd.service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" y="3520440"/>
            <a:ext cx="155448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22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65576" y="2377440"/>
            <a:ext cx="18288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14600" y="283464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514600" y="28712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artifact »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14600" y="3063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nginx.service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697480" y="3520440"/>
            <a:ext cx="155448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9748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80/443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77256" y="2377440"/>
            <a:ext cx="18288" cy="45720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283464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26280" y="28712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artifact »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526280" y="3063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smbd.service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09160" y="3520440"/>
            <a:ext cx="155448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445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488936" y="2377440"/>
            <a:ext cx="18288" cy="4572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37960" y="283464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537960" y="28712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artifact »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537960" y="3063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dockerd.service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720840" y="3520440"/>
            <a:ext cx="155448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2084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API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65760" y="2395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gestiona ciclo de vida ↓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«Device» = nodo de infraestructura  ·  «Execution Environment» = contexto de ejecución  ·  «artifact» = servicio desplegado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Unit File .service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434840" cy="393192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4348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058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/etc/systemd/system/mi-app.service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636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Description=Mi Aplicación Web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After=network.target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4323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ExecStart=/usr/bin/python3 /opt/app/main.py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962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Restart=always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227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User=www-data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493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NoNewPrivileges=true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PrivateTmp=true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[Install]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553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WantedBy=multi-user.target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19472" y="1005840"/>
            <a:ext cx="3977640" cy="1472184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19472" y="1005840"/>
            <a:ext cx="45720" cy="147218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47488" y="1033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47488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nombre legible del servicio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47488" y="1591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orden de inicio (network.target)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47488" y="1883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— dependencias fuertes (opcional)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47488" y="2176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95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declarativo: definimos QUÉ, no CÓMO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919472" y="2569464"/>
            <a:ext cx="397764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919472" y="2569464"/>
            <a:ext cx="45720" cy="115214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47488" y="2596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47488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ExecStart — comando de arranque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47488" y="3154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— política: always / on-failure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47488" y="3447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usuario de ejecución (principio mínimo privilegio)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919472" y="3813048"/>
            <a:ext cx="3977640" cy="1179576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919472" y="3813048"/>
            <a:ext cx="45720" cy="1179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47488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[Install]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047488" y="4105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WantedBy — target de activación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47488" y="4398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multi-user.target = modo servidor (sin GUI)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47488" y="4690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9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con: systemctl enable mi-app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systemd — Tipos de Units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34747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51560"/>
            <a:ext cx="347472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029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1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2004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proceso del sistema operativo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999232"/>
            <a:ext cx="310896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-p 1
</a:t>
            </a:r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systemd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todos los servicios del sistema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408736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filesystems en el arranque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43525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dependencias entre servicios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6177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apagado y reinicio del sistema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977640" y="1005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Units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977640" y="1463040"/>
            <a:ext cx="22402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977640" y="1463040"/>
            <a:ext cx="54864" cy="7772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0" y="15544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.service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114800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 y servicios del sistema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327648" y="1463040"/>
            <a:ext cx="22402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27648" y="1463040"/>
            <a:ext cx="54864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64808" y="15544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.socket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464808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por socket de red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977640" y="2350008"/>
            <a:ext cx="22402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977640" y="2350008"/>
            <a:ext cx="54864" cy="7772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114800" y="2441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.timer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114800" y="28072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programadas (reemplaza cron)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327648" y="2350008"/>
            <a:ext cx="22402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27648" y="2350008"/>
            <a:ext cx="54864" cy="77724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64808" y="2441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.mount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464808" y="28072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filesystems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977640" y="3236976"/>
            <a:ext cx="22402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977640" y="3236976"/>
            <a:ext cx="54864" cy="7772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114800" y="33284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.target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114800" y="3694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units (runlevels)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327648" y="3236976"/>
            <a:ext cx="22402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327648" y="3236976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64808" y="33284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.path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464808" y="3694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reacción a rutas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Servicios con systemd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530352"/>
          </a:xfrm>
          <a:prstGeom prst="rect">
            <a:avLst/>
          </a:prstGeom>
          <a:solidFill>
            <a:srgbClr val="1A0D0D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1042416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permite aplicar sandboxing y aislamiento a nivel de servicio — sin código extra ni contenedores adicionales.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74320" y="1664208"/>
            <a:ext cx="8595360" cy="347472"/>
          </a:xfrm>
          <a:prstGeom prst="rect">
            <a:avLst/>
          </a:prstGeom>
          <a:solidFill>
            <a:srgbClr val="2D160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2011680"/>
            <a:ext cx="859536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1664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systemd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15468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00800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DE SEGURIDAD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084832"/>
            <a:ext cx="859536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084832"/>
            <a:ext cx="45720" cy="5120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127248" y="2084832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73368" y="2084832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" y="2084832"/>
            <a:ext cx="2697480" cy="51206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NoNewPrivileges=true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200400" y="2084832"/>
            <a:ext cx="3127248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que el proceso y sus hijos obtengan nuevos privilegios (ignora suid).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446520" y="2084832"/>
            <a:ext cx="2359152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escalada de privilegios post-compromiso.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74320" y="2660904"/>
            <a:ext cx="8595360" cy="51206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74320" y="2660904"/>
            <a:ext cx="45720" cy="5120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127248" y="2660904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73368" y="2660904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84048" y="26609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PrivateTmp=true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200400" y="2660904"/>
            <a:ext cx="3127248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/tmp y /var/tmp aislado exclusivo para este servicio.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446520" y="2660904"/>
            <a:ext cx="2359152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ataques de colisión y robo de temporales entre servicios.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74320" y="3236976"/>
            <a:ext cx="859536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74320" y="3236976"/>
            <a:ext cx="45720" cy="5120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127248" y="3236976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73368" y="3236976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4048" y="3236976"/>
            <a:ext cx="2697480" cy="51206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ProtectSystem=strict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200400" y="3236976"/>
            <a:ext cx="3127248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el sistema de archivos (excepto datos) como solo lectura.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446520" y="3236976"/>
            <a:ext cx="2359152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no puede alterar binarios ni configuraciones del OS.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274320" y="3813048"/>
            <a:ext cx="8595360" cy="51206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74320" y="3813048"/>
            <a:ext cx="45720" cy="5120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127248" y="3813048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373368" y="3813048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84048" y="3813048"/>
            <a:ext cx="2697480" cy="51206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MemoryMax=200M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3200400" y="3813048"/>
            <a:ext cx="3127248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cgroups v2 para limitar el consumo máximo de RAM del proceso.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446520" y="3813048"/>
            <a:ext cx="2359152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caídas del sistema por Out Of Memory (OOM).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274320" y="4389120"/>
            <a:ext cx="859536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74320" y="4389120"/>
            <a:ext cx="45720" cy="512064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127248" y="4389120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373368" y="4389120"/>
            <a:ext cx="18288" cy="5120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84048" y="43891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ProtectHome=true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3200400" y="4389120"/>
            <a:ext cx="3127248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los directorios /home, /root y /run/user invisibles para el servicio.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446520" y="43891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no puede acceder a datos personales de usuarios.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274320" y="4965192"/>
            <a:ext cx="8595360" cy="137160"/>
          </a:xfrm>
          <a:prstGeom prst="rect">
            <a:avLst/>
          </a:prstGeom>
          <a:solidFill>
            <a:srgbClr val="1A0D0D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— Control de Servicios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05840"/>
            <a:ext cx="45720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" y="1097280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list-units --type=service --state=running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38328" y="14996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servicios activos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05840"/>
            <a:ext cx="45720" cy="8229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1097280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375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ssh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18888" y="14996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Main PID + árbol de cgroups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1993392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1993392"/>
            <a:ext cx="45720" cy="82296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" y="2084832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cat ssh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8328" y="2487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del unit file del servicio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1993392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1993392"/>
            <a:ext cx="45720" cy="8229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18888" y="2084832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73752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nginx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18888" y="2487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un servicio manualmente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8600" y="2980944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2980944"/>
            <a:ext cx="45720" cy="8229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8328" y="3072384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192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nginx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38328" y="34747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completamente el servicio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709160" y="2980944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2980944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18888" y="3072384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73752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nginx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18888" y="34747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arranque automático al boot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28600" y="3968496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28600" y="3968496"/>
            <a:ext cx="45720" cy="8229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8328" y="4059936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93192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daemon-reload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38328" y="44622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unit files tras modificarlos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709160" y="3968496"/>
            <a:ext cx="4206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09160" y="3968496"/>
            <a:ext cx="45720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18888" y="4059936"/>
            <a:ext cx="400507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73752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blame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18888" y="44622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del tiempo de arranque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Centralizada: journalctl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36576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05840"/>
            <a:ext cx="36576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systemd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/var/log/syslog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/var/log/messages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/var/log/auth.log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/var/log/daemon.log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/var/log/kern.log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" y="4069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dispersos — difícil diagnóstico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2336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9FF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journald (systemd)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937760" y="1508760"/>
            <a:ext cx="374904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ssh -n 20 --no-pager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0" y="17922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20 líneas del servicio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37760" y="2148840"/>
            <a:ext cx="374904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nginx -f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29200" y="2432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tiempo real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37760" y="2788920"/>
            <a:ext cx="374904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err --since today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0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del día de hoy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37760" y="3429000"/>
            <a:ext cx="374904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--since '1 hour ago'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0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la última hora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37760" y="4069080"/>
            <a:ext cx="374904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ssh --output=json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029200" y="4352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JSON para integración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1: Exploración del Ecosistema systemd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Transicionar de la teoría del PID 1 a la práctica en terminal real  ·  Duración: 40–50 min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508760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08760"/>
            <a:ext cx="566928" cy="6217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508760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1545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servicios activos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32688" y="1819656"/>
            <a:ext cx="43891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18196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list-units --type=service --state=running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0" y="15819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son del sistema vs. aplicaciones instaladas?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221992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221992"/>
            <a:ext cx="566928" cy="621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221992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32688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ciclo de vida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32688" y="2532888"/>
            <a:ext cx="43891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2532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ssh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0" y="22951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Identificar: Main PID, estado y árbol de cgroups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2935224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935224"/>
            <a:ext cx="566928" cy="6217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935224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32688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inversa del servicio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2688" y="3246120"/>
            <a:ext cx="43891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cat ssh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86400" y="300837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dependencias tiene SSH? ¿Qué usuario usa?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74320" y="3648456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3648456"/>
            <a:ext cx="566928" cy="62179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3648456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32688" y="3685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logs centralizados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32688" y="3959352"/>
            <a:ext cx="43891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5840" y="39593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ssh -n 20 --no-pager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0" y="37216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¿journald captura stdout y stderr del daemon?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74320" y="4361688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4361688"/>
            <a:ext cx="566928" cy="6217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4361688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32688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del arranque del sistema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32688" y="4672584"/>
            <a:ext cx="43891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46725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blame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0" y="44348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servicio es el cuello de botella? ¿Por qué?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Administra con systemd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0" y="1874520"/>
            <a:ext cx="2743200" cy="1234440"/>
          </a:xfrm>
          <a:prstGeom prst="rect">
            <a:avLst/>
          </a:prstGeom>
          <a:solidFill>
            <a:srgbClr val="1C2B4A"/>
          </a:solidFill>
          <a:ln w="254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0" y="1874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 — Orquestador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2880" y="1143000"/>
            <a:ext cx="25603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143000"/>
            <a:ext cx="45720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121615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apache2.service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158191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— Servidor Web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" y="2377440"/>
            <a:ext cx="25603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2377440"/>
            <a:ext cx="4572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45059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sshd.service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2608" y="281635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— Acceso Remoto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82880" y="3611880"/>
            <a:ext cx="25603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" y="3611880"/>
            <a:ext cx="45720" cy="74980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36850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smbd.service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2608" y="405079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— Samba / Archivos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09360" y="1143000"/>
            <a:ext cx="25603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9360" y="1143000"/>
            <a:ext cx="45720" cy="74980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9088" y="121615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docker.service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19088" y="158191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— Contenedores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309360" y="2377440"/>
            <a:ext cx="25603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09360" y="2377440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19088" y="245059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squid.service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19088" y="281635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— Proxy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309360" y="3611880"/>
            <a:ext cx="25603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09360" y="3611880"/>
            <a:ext cx="45720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19088" y="36850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nftables.service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19088" y="405079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— Firewall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798064" y="1453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798064" y="26883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───►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798064" y="39136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───►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806440" y="1453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◄───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06440" y="26883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◄───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806440" y="39136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◄───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"/>
            <a:ext cx="8229600" cy="1627632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347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FINAL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53312" y="6583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Linux moderno no es una colección caótica de programas.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53312" y="1042416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ecosistema estructurado de servicios gestionados por systemd. Cuando administramos Linux, orquestamos recursos, modelamos dependencias y aplicamos políticas de seguridad a través del PID 1.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029968"/>
            <a:ext cx="82296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299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Tarea para la Próxima Clase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2505456"/>
            <a:ext cx="795528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5054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list-units --type=service --state=running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290779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servicios están corriendo activamente? ¿Cuáles son del sistema vs. aplicaciones?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336499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servicio con mayor tiempo de arranque? (systemd-analyze blame)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382219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systemctl cat ssh — ¿qué parámetros de seguridad tiene configurados?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427939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NoNewPrivileges=true a un servicio de prueba y verificar el efecto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III — Clase 1+2: Administración de Servicios y systemd</dc:title>
  <dc:subject>PptxGenJS Presentation</dc:subject>
  <dc:creator>PptxGenJS</dc:creator>
  <cp:lastModifiedBy>PptxGenJS</cp:lastModifiedBy>
  <cp:revision>1</cp:revision>
  <dcterms:created xsi:type="dcterms:W3CDTF">2026-03-11T04:19:16Z</dcterms:created>
  <dcterms:modified xsi:type="dcterms:W3CDTF">2026-03-11T04:19:16Z</dcterms:modified>
</cp:coreProperties>
</file>