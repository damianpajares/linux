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65760"/>
            <a:ext cx="822960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914400" cy="914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502920"/>
            <a:ext cx="141732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0" y="5029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0" y="6583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III · REDES Y SERVICIOS — U1 CIERRE SEMANAS 4–5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10789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 Avanzado,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85800" y="1691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Fallos y Cierre U1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85800" y="2331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 · Hooks de ciclo de vida · journald.conf · logrotate · Diagnóstico sistemático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" y="2788920"/>
            <a:ext cx="77724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4436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" y="2944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 ·  journald.conf  ·  logrotate  ·  Type=  ·  ExecStartPre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5800" y="3429000"/>
            <a:ext cx="1719072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800" y="342900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560320" y="3429000"/>
            <a:ext cx="1719072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560320" y="342900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LOGROTATE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434840" y="3429000"/>
            <a:ext cx="1719072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34840" y="342900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309360" y="3429000"/>
            <a:ext cx="1719072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09360" y="342900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85800" y="4005072"/>
            <a:ext cx="777240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2960" y="400507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Clase 1: 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1, arquitectura, systemctl, journalctl básico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Clase 2: 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Dependencias, Restart=, servicios propios, timers, cgroups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— Clase 3 · Cierre U1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2519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566928" cy="74980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005840"/>
            <a:ext cx="566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109728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Type=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" y="14264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· forking · oneshot · notify · idle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2519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05840"/>
            <a:ext cx="566928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1005840"/>
            <a:ext cx="566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67528" y="109728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de ciclo de vida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67528" y="14264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ExecStartPre · ExecStartPost · ExecStop · ExecReload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920240"/>
            <a:ext cx="42519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1920240"/>
            <a:ext cx="566928" cy="749808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1920240"/>
            <a:ext cx="566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2688" y="201168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 — Almacenamiento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2688" y="23408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vs Volatile · /var/log/journal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09160" y="1920240"/>
            <a:ext cx="42519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1920240"/>
            <a:ext cx="566928" cy="7498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1920240"/>
            <a:ext cx="566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367528" y="201168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avanzado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67528" y="23408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campo · output JSON · vacuum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2834640"/>
            <a:ext cx="42519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74320" y="2834640"/>
            <a:ext cx="566928" cy="74980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2834640"/>
            <a:ext cx="566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32688" y="292608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journald.conf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32688" y="32552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SystemMaxUse · Compress · ForwardToSyslog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09160" y="2834640"/>
            <a:ext cx="42519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09160" y="2834640"/>
            <a:ext cx="5669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09160" y="2834640"/>
            <a:ext cx="566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367528" y="292608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logrotate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67528" y="32552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· Rotación · Compresión · cron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4320" y="3749040"/>
            <a:ext cx="42519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74320" y="3749040"/>
            <a:ext cx="566928" cy="7498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3749040"/>
            <a:ext cx="566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32688" y="384048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sistemático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32688" y="4169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5 pasos · Escenarios reales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709160" y="3749040"/>
            <a:ext cx="42519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709160" y="3749040"/>
            <a:ext cx="566928" cy="7498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09160" y="3749040"/>
            <a:ext cx="566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367528" y="384048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+ Repaso U1 + Eval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367528" y="41696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integradora · Mapa mental · Tarea final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46451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 de la clase: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U1 con dominio total de journald, diagnóstico profesional y evaluación formativa.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Type= — Modelo de Inicio del Proceso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cómo systemd sabe que el servicio </a:t>
            </a:r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terminó de iniciar correctamente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 error aquí causa timeouts y fallos silenciosos difíciles de diagnosticar.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572768"/>
            <a:ext cx="42062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72768"/>
            <a:ext cx="42062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664208"/>
            <a:ext cx="105156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Type=simple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5760" y="19933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considera el servicio activo cuando ExecStart se lanza. El proceso NO bifurca.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2560320"/>
            <a:ext cx="4023360" cy="34747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57860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Type=simple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" y="2743200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ExecStart=/usr/bin/node /opt/app/server.js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1572768"/>
            <a:ext cx="42062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572768"/>
            <a:ext cx="42062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46320" y="1664208"/>
            <a:ext cx="105156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Type=forking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46320" y="19933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padre hace fork() y muere. El hijo es el daemon real. systemd espera al padre.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46320" y="2560320"/>
            <a:ext cx="4023360" cy="34747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257860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Type=forking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92040" y="2743200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PIDFile=/var/run/nginx.pid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46320" y="293522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buNone/>
            </a:pPr>
            <a:r>
              <a:rPr lang="en-US" sz="75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PIDFile= para que systemd pueda rastrear el proceso hijo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74320" y="3145536"/>
            <a:ext cx="42062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145536"/>
            <a:ext cx="4206240" cy="54864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3236976"/>
            <a:ext cx="105156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2369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Type=oneshot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65760" y="35661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termina antes de continuar. systemd espera su salida completa.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65760" y="4133088"/>
            <a:ext cx="4023360" cy="34747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151376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Type=oneshot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11480" y="431596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RemainAfterExit=yes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754880" y="3145536"/>
            <a:ext cx="42062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3145536"/>
            <a:ext cx="42062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46320" y="3236976"/>
            <a:ext cx="105156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64608" y="32369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Type=notify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846320" y="35661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envía una señal explícita via sd_notify() cuando está listo.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846320" y="4133088"/>
            <a:ext cx="4023360" cy="34747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92040" y="4151376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Type=notify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892040" y="431596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NotifyAccess=main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651760" y="4718304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2651760" y="4718304"/>
            <a:ext cx="420624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743200" y="4809744"/>
            <a:ext cx="105156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761488" y="480974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Type=idle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2743200" y="51389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simple pero se retrasa hasta que todos los demás jobs terminen.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del Ciclo de Vida de un Servicio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permite inyectar comandos en </a:t>
            </a:r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del ciclo de vida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servicio: antes de iniciar, después de iniciar, al recargar y al detener.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874520"/>
            <a:ext cx="8595360" cy="5486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810512"/>
            <a:ext cx="182880" cy="182880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24328" y="1810512"/>
            <a:ext cx="182880" cy="182880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740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PRE-START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98848" y="1810512"/>
            <a:ext cx="182880" cy="18288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73368" y="1810512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POST-START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247888" y="1810512"/>
            <a:ext cx="182880" cy="182880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2423160"/>
            <a:ext cx="26060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2423160"/>
            <a:ext cx="260604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2514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ExecStartPre=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65760" y="277063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ANTES de ExecStart. Si falla (exit ≠ 0), el servicio no inicia.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3227832"/>
            <a:ext cx="2423160" cy="292608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2336" y="3246120"/>
            <a:ext cx="235000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ExecStartPre=/usr/bin/test -f /etc/nginx/nginx.conf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02336" y="3387852"/>
            <a:ext cx="235000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ExecStartPre=/bin/mkdir -p /var/run/myapp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063240" y="2423160"/>
            <a:ext cx="26060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063240" y="2423160"/>
            <a:ext cx="26060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54680" y="2514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154680" y="277063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principal del servicio. Único obligatorio. El PID de este proceso es el Main PID.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154680" y="3227832"/>
            <a:ext cx="2423160" cy="292608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91256" y="3246120"/>
            <a:ext cx="235000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ExecStart=/usr/sbin/nginx -g 'daemon off;'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943600" y="2423160"/>
            <a:ext cx="26060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943600" y="2423160"/>
            <a:ext cx="26060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35040" y="2514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ExecStartPost=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035040" y="277063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DESPUÉS de que ExecStart retorna. Solo si el inicio fue exitoso.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035040" y="3227832"/>
            <a:ext cx="2423160" cy="292608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71616" y="3246120"/>
            <a:ext cx="235000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ExecStartPost=/bin/sh -c 'echo started &gt;&gt; /var/log/myapp/events.log'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274320" y="3730752"/>
            <a:ext cx="26060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74320" y="3730752"/>
            <a:ext cx="26060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65760" y="38221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ExecReload=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365760" y="4078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 por 'systemctl reload'. Recarga la configuración sin reiniciar el proceso.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65760" y="4535424"/>
            <a:ext cx="2423160" cy="292608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02336" y="4553712"/>
            <a:ext cx="235000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ExecReload=/bin/kill -HUP $MAINPID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3063240" y="3730752"/>
            <a:ext cx="26060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3063240" y="3730752"/>
            <a:ext cx="260604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154680" y="38221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ExecStop=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3154680" y="4078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para detener el servicio de forma controlada antes del SIGTERM.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154680" y="4535424"/>
            <a:ext cx="2423160" cy="292608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191256" y="4553712"/>
            <a:ext cx="235000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ExecStop=/usr/bin/myapp --shutdown graceful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5943600" y="3730752"/>
            <a:ext cx="26060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943600" y="3730752"/>
            <a:ext cx="260604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35040" y="38221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ExecStopPost=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6035040" y="4078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SIEMPRE al terminar, incluso si el servicio falló o fue matado.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035040" y="4535424"/>
            <a:ext cx="2423160" cy="292608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071616" y="4553712"/>
            <a:ext cx="235000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ExecStopPost=/bin/rm -f /var/run/myapp.pid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 — Almacenamiento y Persistencia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almacenamiento (Storage= en journald.conf)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1444752"/>
            <a:ext cx="205740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444752"/>
            <a:ext cx="205740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536192"/>
            <a:ext cx="18745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53619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Storage=volatile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847088"/>
            <a:ext cx="187452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1847088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/run/log/journal/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5760" y="213969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solo en RAM. Se pierden al reiniciar el sistema.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28346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con disco de solo lectura o recursos muy limitados.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5760" y="3310128"/>
            <a:ext cx="1874520" cy="384048"/>
          </a:xfrm>
          <a:prstGeom prst="rect">
            <a:avLst/>
          </a:prstGeom>
          <a:solidFill>
            <a:srgbClr val="1A080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332841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buNone/>
            </a:pPr>
            <a:r>
              <a:rPr lang="en-US" sz="750" i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logs al reiniciar — no recomendado para servidores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468880" y="1444752"/>
            <a:ext cx="205740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68880" y="1444752"/>
            <a:ext cx="20574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536192"/>
            <a:ext cx="18745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78608" y="153619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Storage=persistent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560320" y="1847088"/>
            <a:ext cx="187452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78608" y="1847088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/var/log/journal/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560320" y="213969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en disco. Sobreviven reinicios. Directorio creado automáticamente.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560320" y="28346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de producción, debugging histórico, auditoría.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663440" y="1444752"/>
            <a:ext cx="205740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1444752"/>
            <a:ext cx="205740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54880" y="1536192"/>
            <a:ext cx="18745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73168" y="153619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Storage=auto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1847088"/>
            <a:ext cx="187452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73168" y="1847088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/run o /var/log/journal/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54880" y="213969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 si /var/log/journal existe; volátil si no.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54880" y="28346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defecto. Crear el directorio activa la persistencia.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858000" y="1444752"/>
            <a:ext cx="205740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858000" y="1444752"/>
            <a:ext cx="205740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49440" y="1536192"/>
            <a:ext cx="18745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67728" y="153619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Storage=none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949440" y="1847088"/>
            <a:ext cx="1874520" cy="228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67728" y="1847088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(descartado)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949440" y="2139696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logs se descartan inmediatamente. Solo ForwardToSyslog tiene efecto.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949440" y="28346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donde otro servicio (rsyslog) gestiona todos los logs.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949440" y="3310128"/>
            <a:ext cx="1874520" cy="384048"/>
          </a:xfrm>
          <a:prstGeom prst="rect">
            <a:avLst/>
          </a:prstGeom>
          <a:solidFill>
            <a:srgbClr val="1A080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67728" y="332841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buNone/>
            </a:pPr>
            <a:r>
              <a:rPr lang="en-US" sz="750" i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todos los logs locales del journal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274320" y="3867912"/>
            <a:ext cx="8595360" cy="502920"/>
          </a:xfrm>
          <a:prstGeom prst="rect">
            <a:avLst/>
          </a:prstGeom>
          <a:solidFill>
            <a:srgbClr val="0A0E14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11480" y="386791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persistencia de logs (recomendado en servidores):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11480" y="409651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mkdir -p /var/log/journal &amp;&amp; sudo systemd-tmpfiles --create --prefix /var/log/journal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44805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boot anterior: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--list-boots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ver índice de boots almacenados  |  </a:t>
            </a:r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-b -1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logs del boot anterior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Avanzado — Filtrado y Formatos de Salida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0574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058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TIEMPO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353312"/>
            <a:ext cx="205740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426464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426464"/>
            <a:ext cx="36576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46304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--since '2026-03-11'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365760" y="175564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fecha específica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4320" y="2048256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2048256"/>
            <a:ext cx="36576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2084832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--until '10:00'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365760" y="237744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una hora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74320" y="2670048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670048"/>
            <a:ext cx="36576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270662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--since '1 hour ago'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365760" y="299923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hora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3291840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291840"/>
            <a:ext cx="36576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32841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-b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365760" y="36210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actual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3913632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3913632"/>
            <a:ext cx="36576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95020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-b -1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365760" y="424281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anterior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74320" y="4535424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4535424"/>
            <a:ext cx="36576" cy="54864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457200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--list-boots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365760" y="486460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boots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468880" y="1005840"/>
            <a:ext cx="20574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468880" y="10058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PRIORIDAD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468880" y="1353312"/>
            <a:ext cx="2057400" cy="274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468880" y="1426464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468880" y="1426464"/>
            <a:ext cx="36576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560320" y="146304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-p err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560320" y="175564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y superior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468880" y="2048256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468880" y="2048256"/>
            <a:ext cx="36576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560320" y="2084832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-p warning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2560320" y="237744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y superior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468880" y="2670048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468880" y="2670048"/>
            <a:ext cx="36576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60320" y="270662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-p 0..3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2560320" y="299923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 a err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2468880" y="3291840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468880" y="3291840"/>
            <a:ext cx="36576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560320" y="332841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-p crit</a:t>
            </a:r>
            <a:endParaRPr lang="en-US" sz="780" dirty="0"/>
          </a:p>
        </p:txBody>
      </p:sp>
      <p:sp>
        <p:nvSpPr>
          <p:cNvPr id="51" name="Text 48"/>
          <p:cNvSpPr/>
          <p:nvPr/>
        </p:nvSpPr>
        <p:spPr>
          <a:xfrm>
            <a:off x="2560320" y="36210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únicamente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2468880" y="3913632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468880" y="3913632"/>
            <a:ext cx="36576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560320" y="395020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-p notice</a:t>
            </a:r>
            <a:endParaRPr lang="en-US" sz="780" dirty="0"/>
          </a:p>
        </p:txBody>
      </p:sp>
      <p:sp>
        <p:nvSpPr>
          <p:cNvPr id="55" name="Text 52"/>
          <p:cNvSpPr/>
          <p:nvPr/>
        </p:nvSpPr>
        <p:spPr>
          <a:xfrm>
            <a:off x="2560320" y="424281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y superior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468880" y="4535424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468880" y="4535424"/>
            <a:ext cx="36576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560320" y="457200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-p debug</a:t>
            </a:r>
            <a:endParaRPr lang="en-US" sz="780" dirty="0"/>
          </a:p>
        </p:txBody>
      </p:sp>
      <p:sp>
        <p:nvSpPr>
          <p:cNvPr id="59" name="Text 56"/>
          <p:cNvSpPr/>
          <p:nvPr/>
        </p:nvSpPr>
        <p:spPr>
          <a:xfrm>
            <a:off x="2560320" y="486460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(muy verboso)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4663440" y="1005840"/>
            <a:ext cx="20574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663440" y="10058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CAMPO/UNIDAD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4663440" y="1353312"/>
            <a:ext cx="20574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663440" y="1426464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663440" y="1426464"/>
            <a:ext cx="36576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754880" y="146304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nginx</a:t>
            </a:r>
            <a:endParaRPr lang="en-US" sz="780" dirty="0"/>
          </a:p>
        </p:txBody>
      </p:sp>
      <p:sp>
        <p:nvSpPr>
          <p:cNvPr id="66" name="Text 63"/>
          <p:cNvSpPr/>
          <p:nvPr/>
        </p:nvSpPr>
        <p:spPr>
          <a:xfrm>
            <a:off x="4754880" y="175564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nginx.service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663440" y="2048256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663440" y="2048256"/>
            <a:ext cx="36576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754880" y="2084832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_PID=1234</a:t>
            </a:r>
            <a:endParaRPr lang="en-US" sz="780" dirty="0"/>
          </a:p>
        </p:txBody>
      </p:sp>
      <p:sp>
        <p:nvSpPr>
          <p:cNvPr id="70" name="Text 67"/>
          <p:cNvSpPr/>
          <p:nvPr/>
        </p:nvSpPr>
        <p:spPr>
          <a:xfrm>
            <a:off x="4754880" y="237744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PID específico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4663440" y="2670048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663440" y="2670048"/>
            <a:ext cx="36576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754880" y="270662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_UID=1000</a:t>
            </a:r>
            <a:endParaRPr lang="en-US" sz="780" dirty="0"/>
          </a:p>
        </p:txBody>
      </p:sp>
      <p:sp>
        <p:nvSpPr>
          <p:cNvPr id="74" name="Text 71"/>
          <p:cNvSpPr/>
          <p:nvPr/>
        </p:nvSpPr>
        <p:spPr>
          <a:xfrm>
            <a:off x="4754880" y="299923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UID de usuario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4663440" y="3291840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663440" y="3291840"/>
            <a:ext cx="36576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754880" y="332841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_COMM=nginx</a:t>
            </a:r>
            <a:endParaRPr lang="en-US" sz="780" dirty="0"/>
          </a:p>
        </p:txBody>
      </p:sp>
      <p:sp>
        <p:nvSpPr>
          <p:cNvPr id="78" name="Text 75"/>
          <p:cNvSpPr/>
          <p:nvPr/>
        </p:nvSpPr>
        <p:spPr>
          <a:xfrm>
            <a:off x="4754880" y="36210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nombre de proceso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4663440" y="3913632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663440" y="3913632"/>
            <a:ext cx="36576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754880" y="395020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_SYSTEMD_UNIT=ssh.service</a:t>
            </a:r>
            <a:endParaRPr lang="en-US" sz="780" dirty="0"/>
          </a:p>
        </p:txBody>
      </p:sp>
      <p:sp>
        <p:nvSpPr>
          <p:cNvPr id="82" name="Text 79"/>
          <p:cNvSpPr/>
          <p:nvPr/>
        </p:nvSpPr>
        <p:spPr>
          <a:xfrm>
            <a:off x="4754880" y="424281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unit exacto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4663440" y="4535424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663440" y="4535424"/>
            <a:ext cx="36576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754880" y="457200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-t sshd</a:t>
            </a:r>
            <a:endParaRPr lang="en-US" sz="780" dirty="0"/>
          </a:p>
        </p:txBody>
      </p:sp>
      <p:sp>
        <p:nvSpPr>
          <p:cNvPr id="86" name="Text 83"/>
          <p:cNvSpPr/>
          <p:nvPr/>
        </p:nvSpPr>
        <p:spPr>
          <a:xfrm>
            <a:off x="4754880" y="486460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syslog identifier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6858000" y="1005840"/>
            <a:ext cx="20574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858000" y="10058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/ GESTIÓN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6858000" y="1353312"/>
            <a:ext cx="2057400" cy="274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858000" y="1426464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6858000" y="1426464"/>
            <a:ext cx="36576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949440" y="146304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-o json-pretty</a:t>
            </a:r>
            <a:endParaRPr lang="en-US" sz="780" dirty="0"/>
          </a:p>
        </p:txBody>
      </p:sp>
      <p:sp>
        <p:nvSpPr>
          <p:cNvPr id="93" name="Text 90"/>
          <p:cNvSpPr/>
          <p:nvPr/>
        </p:nvSpPr>
        <p:spPr>
          <a:xfrm>
            <a:off x="6949440" y="175564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JSON legible</a:t>
            </a:r>
            <a:endParaRPr lang="en-US" sz="850" dirty="0"/>
          </a:p>
        </p:txBody>
      </p:sp>
      <p:sp>
        <p:nvSpPr>
          <p:cNvPr id="94" name="Shape 91"/>
          <p:cNvSpPr/>
          <p:nvPr/>
        </p:nvSpPr>
        <p:spPr>
          <a:xfrm>
            <a:off x="6858000" y="2048256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858000" y="2048256"/>
            <a:ext cx="36576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6949440" y="2084832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-o short-iso</a:t>
            </a:r>
            <a:endParaRPr lang="en-US" sz="780" dirty="0"/>
          </a:p>
        </p:txBody>
      </p:sp>
      <p:sp>
        <p:nvSpPr>
          <p:cNvPr id="97" name="Text 94"/>
          <p:cNvSpPr/>
          <p:nvPr/>
        </p:nvSpPr>
        <p:spPr>
          <a:xfrm>
            <a:off x="6949440" y="237744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ISO 8601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6858000" y="2670048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6858000" y="2670048"/>
            <a:ext cx="36576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6949440" y="270662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-o cat</a:t>
            </a:r>
            <a:endParaRPr lang="en-US" sz="780" dirty="0"/>
          </a:p>
        </p:txBody>
      </p:sp>
      <p:sp>
        <p:nvSpPr>
          <p:cNvPr id="101" name="Text 98"/>
          <p:cNvSpPr/>
          <p:nvPr/>
        </p:nvSpPr>
        <p:spPr>
          <a:xfrm>
            <a:off x="6949440" y="299923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mensaje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6858000" y="3291840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858000" y="3291840"/>
            <a:ext cx="36576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6949440" y="332841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--disk-usage</a:t>
            </a:r>
            <a:endParaRPr lang="en-US" sz="780" dirty="0"/>
          </a:p>
        </p:txBody>
      </p:sp>
      <p:sp>
        <p:nvSpPr>
          <p:cNvPr id="105" name="Text 102"/>
          <p:cNvSpPr/>
          <p:nvPr/>
        </p:nvSpPr>
        <p:spPr>
          <a:xfrm>
            <a:off x="6949440" y="36210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en disco usado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6858000" y="3913632"/>
            <a:ext cx="20574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6858000" y="3913632"/>
            <a:ext cx="36576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6949440" y="395020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--vacuum-size=500M</a:t>
            </a:r>
            <a:endParaRPr lang="en-US" sz="780" dirty="0"/>
          </a:p>
        </p:txBody>
      </p:sp>
      <p:sp>
        <p:nvSpPr>
          <p:cNvPr id="109" name="Text 106"/>
          <p:cNvSpPr/>
          <p:nvPr/>
        </p:nvSpPr>
        <p:spPr>
          <a:xfrm>
            <a:off x="6949440" y="4242816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a 500MB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6858000" y="4535424"/>
            <a:ext cx="20574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6858000" y="4535424"/>
            <a:ext cx="36576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6949440" y="457200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--vacuum-time=30d</a:t>
            </a:r>
            <a:endParaRPr lang="en-US" sz="780" dirty="0"/>
          </a:p>
        </p:txBody>
      </p:sp>
      <p:sp>
        <p:nvSpPr>
          <p:cNvPr id="113" name="Text 110"/>
          <p:cNvSpPr/>
          <p:nvPr/>
        </p:nvSpPr>
        <p:spPr>
          <a:xfrm>
            <a:off x="6949440" y="4864608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más de 30 días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A0E1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Combinación: </a:t>
            </a:r>
            <a:pPr indent="0" marL="0">
              <a:buNone/>
            </a:pPr>
            <a:r>
              <a:rPr lang="en-US" sz="10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journalctl -u nginx -p err --since '1 hour ago' -o json-pretty | jq '.MESSAGE'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journald.conf y logrotate — Gestión del Ciclo de Vida de Logs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journald.conf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320" y="129844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/etc/systemd/journald.conf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74320" y="1554480"/>
            <a:ext cx="4160520" cy="3218688"/>
          </a:xfrm>
          <a:prstGeom prst="rect">
            <a:avLst/>
          </a:prstGeom>
          <a:solidFill>
            <a:srgbClr val="0A0E14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54480"/>
            <a:ext cx="416052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554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[Journal]  — valores recomendados para servidor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02336" y="186537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[Journal]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02336" y="20391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Persistencia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02336" y="221284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Storage=persistent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02336" y="256032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Tamaño máximo total del journal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02336" y="273405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SystemMaxUse=2G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02336" y="29077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SystemKeepFree=500M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02336" y="32552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Archivos individuales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02336" y="342900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SystemMaxFileSize=200M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02336" y="360273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SystemMaxFiles=10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02336" y="39502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Retención temporal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02336" y="41239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MaxRetentionSec=3month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02336" y="44714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Compresión y forwarding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02336" y="46451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Compress=yes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02336" y="48188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ForwardToSyslog=no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09160" y="1005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logrotate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709160" y="129844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/etc/logrotate.d/mi-app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09160" y="1554480"/>
            <a:ext cx="4160520" cy="2084832"/>
          </a:xfrm>
          <a:prstGeom prst="rect">
            <a:avLst/>
          </a:prstGeom>
          <a:solidFill>
            <a:srgbClr val="0A0E1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828032" y="16276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/var/log/mi-app/*.log {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28032" y="17967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daily           # Rotar diario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28032" y="19659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rotate 30       # Mantener 30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28032" y="21351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missingok       # No err si falta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828032" y="23042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notifempty      # No rotar vacíos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28032" y="24734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compress        # Comprimir .gz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828032" y="26426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delaycompress   # Comprimir ayer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828032" y="28117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sharedscripts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28032" y="29809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postrotate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828032" y="31501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systemctl reload mi-app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28032" y="33192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endscript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828032" y="348843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709160" y="37490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logrotate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709160" y="4096512"/>
            <a:ext cx="41605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00600" y="40965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logrotate --debug /etc/logrotate.conf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709160" y="4443984"/>
            <a:ext cx="41605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00600" y="4443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logrotate --force /etc/logrotate.d/nginx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709160" y="4791456"/>
            <a:ext cx="41605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00600" y="47914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/var/lib/logrotate/status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7200" y="491947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 gestiona sus propios logs (journal) · logrotate gestiona archivos de texto en /var/log/ · Ambos pueden coexistir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Diagnóstico Sistemático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1A0808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no es adivinanza.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protocolo ordenado de 5 pasos que va de lo general a lo específico, eliminando causas hasta encontrar la raíz.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572768"/>
            <a:ext cx="85953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72768"/>
            <a:ext cx="502920" cy="6126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572768"/>
            <a:ext cx="502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16093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servicio existe?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1874520"/>
            <a:ext cx="278892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87452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mi-app.service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749040" y="1609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Buscar: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Loaded: loaded o Loaded: not-found. Si es not-found → unit file ausente o mal nombrada.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749040" y="19019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nombre exacto: systemctl list-units --all | grep mi-app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258568"/>
            <a:ext cx="85953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258568"/>
            <a:ext cx="502920" cy="61264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258568"/>
            <a:ext cx="502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8680" y="22951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error exacto?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" y="2560320"/>
            <a:ext cx="278892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" y="256032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mi-app -n 50 --no-pager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749040" y="22951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Buscar: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líneas con 'Failed', 'Error', 'Permission denied', 'No such file'.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749040" y="25877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incluye el motivo. Leer el código de salida: status=2/INVALIDARGUMENT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4320" y="2944368"/>
            <a:ext cx="85953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944368"/>
            <a:ext cx="502920" cy="61264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2944368"/>
            <a:ext cx="502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68680" y="2980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problema de configuración?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8680" y="3246120"/>
            <a:ext cx="278892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324612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verify /etc/systemd/system/mi-app.service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749040" y="2980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Buscar: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errores de sintaxis y dependencias sin resolver en la unit file.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749040" y="3273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el error reportado, luego daemon-reload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3630168"/>
            <a:ext cx="85953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630168"/>
            <a:ext cx="502920" cy="612648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3630168"/>
            <a:ext cx="502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68680" y="36667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¿Fallan los hooks o dependencias?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68680" y="3931920"/>
            <a:ext cx="278892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2688" y="393192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mi-app -p err -b --no-pager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749040" y="3666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Buscar: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ExecStartPre fallando, dependencia no disponible (After= no cumplido).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749040" y="39593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todos los ExecStartPre= terminan con exit 0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74320" y="4315968"/>
            <a:ext cx="8595360" cy="6126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74320" y="4315968"/>
            <a:ext cx="502920" cy="6126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315968"/>
            <a:ext cx="502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868680" y="43525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problema de permisos/recursos?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68680" y="4617720"/>
            <a:ext cx="278892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32688" y="461772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show mi-app | grep -E '(User|Group|Exec|Protect)'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749040" y="4352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Buscar: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sin acceso al binario, PrivateTmp bloqueando ruta, ProtectSystem impidiendo escritura.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3749040" y="46451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User=, añadir ReadWritePaths=, o deshabilitar directiva restrictiva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Reales de Fallos — Diagnóstico Aplicado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85953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005840"/>
            <a:ext cx="54864" cy="129844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0058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 — Servicio falla al arrancar: binario inexistente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" y="1335024"/>
            <a:ext cx="402336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33502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mi-app.service — failed (Result: exit-code)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" y="1627632"/>
            <a:ext cx="402336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16276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ExecStart=/opt/mi-app/run.sh: No such file or directory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17720" y="13350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binario especificado en ExecStart= no existe en esa ruta.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17720" y="16276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ruta: ls -la /opt/mi-app/run.sh — crear o corregir la ruta en la unit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617720" y="19659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Prevención: </a:t>
            </a:r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ExecStartPre=/usr/bin/test -f /opt/mi-app/run.sh para fallar antes con mensaje claro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74320" y="2395728"/>
            <a:ext cx="859536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395728"/>
            <a:ext cx="85953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2395728"/>
            <a:ext cx="54864" cy="12984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2395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 — Servicio falla por permisos (hardening demasiado estricto)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11480" y="2724912"/>
            <a:ext cx="402336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" y="27249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nginx.service — failed (Result: exit-code) status=1/FAILURE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3017520"/>
            <a:ext cx="402336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" y="30175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nginx: [emerg] mkdir() '/tmp/nginx' failed (13: Permission denied)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17720" y="27249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PrivateTmp=true crea un /tmp aislado. nginx escribe ahí pero la ruta externa no existe.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617720" y="3017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RuntimeDirectory=nginx — systemd crea /run/nginx con permisos correctos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617720" y="33558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Prevención: </a:t>
            </a:r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systemd-analyze security muestra qué directivas están activas antes de producción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74320" y="3785616"/>
            <a:ext cx="859536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74320" y="3785616"/>
            <a:ext cx="85953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3785616"/>
            <a:ext cx="54864" cy="129844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37856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 — Servicio arranca pero no aparece como 'active (running)'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11480" y="4114800"/>
            <a:ext cx="402336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" y="41148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mi-db.service — active (exited) — pero debería estar corriendo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11480" y="4407408"/>
            <a:ext cx="4023360" cy="256032"/>
          </a:xfrm>
          <a:prstGeom prst="rect">
            <a:avLst/>
          </a:prstGeom>
          <a:solidFill>
            <a:srgbClr val="0A0E14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" y="44074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Process: ExecStart=/usr/bin/start_db.sh (code=exited, status=0/SUCCESS)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17720" y="4114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Type=simple pero el script lanza un proceso en background y termina. systemd pierde el proceso.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617720" y="44074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Type=forking con PIDFile=, o usar Type=notify con sd_notify, o escribir el proceso en foreground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617720" y="47457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Prevención: </a:t>
            </a:r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usar &amp; (background) en ExecStart= con Type=simple — el proceso padre debe mantenerse vivo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Integradora — Ecosistema CTT en producción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438912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2412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ecosistema completo de systemd que usaremos durante toda la cursada. Cada servicio de U2 y U3 será administrado por estas units.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1554480"/>
            <a:ext cx="859536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874520"/>
            <a:ext cx="8595360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FILE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9184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3484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29400" y="1554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1938528"/>
            <a:ext cx="8595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1938528"/>
            <a:ext cx="45720" cy="47548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1938528"/>
            <a:ext cx="2852928" cy="47548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ctt-monitor.service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91840" y="1938528"/>
            <a:ext cx="1078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34840" y="193852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0" y="193852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29400" y="1938528"/>
            <a:ext cx="214884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del sistema — PID, CPU, RAM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2487168"/>
            <a:ext cx="859536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2487168"/>
            <a:ext cx="45720" cy="47548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" y="2487168"/>
            <a:ext cx="2852928" cy="47548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ctt-backup.service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91840" y="2487168"/>
            <a:ext cx="1078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oneshot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34840" y="248716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669280" y="248716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629400" y="24871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diario a /srv/backups/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3035808"/>
            <a:ext cx="8595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3035808"/>
            <a:ext cx="45720" cy="47548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" y="3035808"/>
            <a:ext cx="2852928" cy="47548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ctt-cleanup.service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291840" y="3035808"/>
            <a:ext cx="1078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oneshot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434840" y="303580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669280" y="303580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629400" y="30358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/tmp y logs antiguos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4320" y="3584448"/>
            <a:ext cx="859536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4320" y="3584448"/>
            <a:ext cx="45720" cy="475488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" y="3584448"/>
            <a:ext cx="2852928" cy="47548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ctt-healthcheck.service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291840" y="3584448"/>
            <a:ext cx="1078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434840" y="358444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669280" y="358444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629400" y="35844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HTTP de servicios web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74320" y="4133088"/>
            <a:ext cx="8595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74320" y="4133088"/>
            <a:ext cx="45720" cy="47548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84048" y="4133088"/>
            <a:ext cx="2852928" cy="47548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ctt-alert.service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291840" y="4133088"/>
            <a:ext cx="10789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oneshot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434840" y="413308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669280" y="4133088"/>
            <a:ext cx="896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6629400" y="4133088"/>
            <a:ext cx="214884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OnFailure= de otros servicios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74320" y="4700016"/>
            <a:ext cx="8595360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57200" y="47000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OnFailure=: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en cualquier unit: </a:t>
            </a:r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OnFailure=ctt-alert.service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 esa unit falla, systemd lanza automáticamente el alerta.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Integral — Mapa de Conocimiento U1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474720" y="1920240"/>
            <a:ext cx="2194560" cy="1005840"/>
          </a:xfrm>
          <a:prstGeom prst="rect">
            <a:avLst/>
          </a:prstGeom>
          <a:solidFill>
            <a:srgbClr val="1C2B4A"/>
          </a:solidFill>
          <a:ln w="254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0" y="1920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474720" y="2487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 · Orquestador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82880" y="914400"/>
            <a:ext cx="228600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914400"/>
            <a:ext cx="228600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1216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 — Arranque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1435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unit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4320" y="16550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0" y="914400"/>
            <a:ext cx="228600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914400"/>
            <a:ext cx="228600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File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20640" y="1216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[Unit][Service][Install]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120640" y="1435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 · Restart=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120640" y="16550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ExecStart*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82880" y="2743200"/>
            <a:ext cx="228600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82880" y="2743200"/>
            <a:ext cx="228600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28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4320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· Wants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7432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Before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74320" y="34838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029200" y="2743200"/>
            <a:ext cx="228600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029200" y="2743200"/>
            <a:ext cx="228600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120640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NoNewPrivileges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120640" y="3264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ProtectSystem · Home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120640" y="34838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MemoryMax · CPUQuota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182880" y="4206240"/>
            <a:ext cx="228600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82880" y="4206240"/>
            <a:ext cx="228600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8288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74320" y="45079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filtros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74320" y="4727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journald.conf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74320" y="49469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logrotate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029200" y="4206240"/>
            <a:ext cx="228600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029200" y="4206240"/>
            <a:ext cx="228600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&amp; Recursos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120640" y="45079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OnCalendar=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120640" y="4727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 v2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120640" y="49469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systemd-analyze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2496312" y="23042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◄─────────────────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669280" y="23042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─────────────────►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526280" y="18013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</a:rPr>
              <a:t>↑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526280" y="2944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</a:rPr>
              <a:t>↓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606040" y="4023360"/>
            <a:ext cx="393192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697480" y="40416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sistemático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2697480" y="4279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→ journalctl → verify → hooks → permisos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3 — Práctica Integradora U1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D0D2A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058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Aplicar TODO lo aprendido en U1 en un único escenario integrado  ·  Duración: 60 min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490472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490472"/>
            <a:ext cx="530352" cy="5303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4904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" y="15270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ecosistema de scripts CTT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96112" y="1746504"/>
            <a:ext cx="466344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17465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mkdir -p /opt/ctt/{monitor,backup,cleanup} &amp;&amp; sudo useradd -r -s /sbin/nologin ctt-svc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669280" y="15270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3 scripts bash básicos (while loop, oneshot, healthcheck HTTP con curl)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084832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084832"/>
            <a:ext cx="530352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0848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6112" y="21214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file con Type= y hooks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96112" y="2340864"/>
            <a:ext cx="466344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23408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/etc/systemd/system/ctt-monitor.service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669280" y="212140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ExecStartPre= que valide el script. Type=simple. StandardOutput=journal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2679192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2679192"/>
            <a:ext cx="530352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2679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96112" y="27157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companion + OnFailure=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96112" y="2935224"/>
            <a:ext cx="466344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0120" y="29352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/etc/systemd/system/ctt-backup.{service,timer}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669280" y="271576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cada 2 minutos para prueba. Agregar OnFailure=ctt-alert.service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3273552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" y="3273552"/>
            <a:ext cx="530352" cy="5303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3273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96112" y="331012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inducir y resolver 2 fallos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96112" y="3529584"/>
            <a:ext cx="466344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0120" y="35295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Fallo A: permisos  — Fallo B: binario inexistente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669280" y="331012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metodología de 5 pasos. Documentar journalctl de cada fallo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74320" y="3867912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74320" y="3867912"/>
            <a:ext cx="530352" cy="5303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38679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96112" y="39044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+ medir security score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96112" y="4123944"/>
            <a:ext cx="466344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60120" y="4123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systemd-analyze security ctt-monitor.service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669280" y="390448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score &lt; 4.0. Agregar al menos 4 directivas de hardening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74320" y="4462272"/>
            <a:ext cx="859536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274320" y="4462272"/>
            <a:ext cx="530352" cy="530352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4320" y="44622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896112" y="44988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journald: filtrar y exportar logs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96112" y="4718304"/>
            <a:ext cx="4663440" cy="2194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60120" y="47183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7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ctt-monitor --since '10 min ago' -o json | head -20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5669280" y="44988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JSON. Verificar que journald persiste entre reinicios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2743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Formativa U1 — Instrumentos de Medición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0D332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PERFIL A — Sin conocimientos previos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481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Unit file incompleta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17007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esta unit file, ¿qué falta para que el servicio arranque automáticamente al boot?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2029968"/>
            <a:ext cx="3840480" cy="201168"/>
          </a:xfrm>
          <a:prstGeom prst="rect">
            <a:avLst/>
          </a:prstGeom>
          <a:solidFill>
            <a:srgbClr val="0A0E14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202996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Falta sección [Install] con WantedBy=multi-user.target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11480" y="2286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Política de reinicio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25054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Restart=on-failure y Restart=always? ¿Cuándo usarías cada una?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2834640"/>
            <a:ext cx="3840480" cy="201168"/>
          </a:xfrm>
          <a:prstGeom prst="rect">
            <a:avLst/>
          </a:prstGeom>
          <a:solidFill>
            <a:srgbClr val="0A0E14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283464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on-failure: solo si termina con error. always: siempre, incluso con exit 0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11480" y="30906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Diagnóstico básico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3310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nginx falla. Escribe el comando para ver los últimos 20 errores de su log.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639312"/>
            <a:ext cx="3840480" cy="201168"/>
          </a:xfrm>
          <a:prstGeom prst="rect">
            <a:avLst/>
          </a:prstGeom>
          <a:solidFill>
            <a:srgbClr val="0A0E14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3639312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-u nginx -p err -n 20 --no-pager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11480" y="38953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Gestión práctica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" y="41148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activa un servicio para que inicie con el sistema Y arranca ahora en un solo comando?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1480" y="4443984"/>
            <a:ext cx="3840480" cy="201168"/>
          </a:xfrm>
          <a:prstGeom prst="rect">
            <a:avLst/>
          </a:prstGeom>
          <a:solidFill>
            <a:srgbClr val="0A0E14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" y="444398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enable --now nombre.service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0" y="1005840"/>
            <a:ext cx="429768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916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PERFIL B — Con conocimientos previos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709160" y="14813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Servicio con hardening completo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09160" y="172821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service unit para /opt/scripts/monitor.py: usuario sin privilegios, ProtectSystem, NoNewPrivileges, CPUQuota=20%, MemoryMax=100M.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09160" y="2231136"/>
            <a:ext cx="4023360" cy="274320"/>
          </a:xfrm>
          <a:prstGeom prst="rect">
            <a:avLst/>
          </a:prstGeom>
          <a:solidFill>
            <a:srgbClr val="0A0E1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3168" y="223113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</a:t>
            </a:r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correcta + score &lt; 4.0 en systemd-analyze security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70916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Timer + companion service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09160" y="282549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ctt-cleanup.timer que ejecute ctt-cleanup.service cada lunes a las 3 AM con Persistent=true.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09160" y="3328416"/>
            <a:ext cx="4023360" cy="274320"/>
          </a:xfrm>
          <a:prstGeom prst="rect">
            <a:avLst/>
          </a:prstGeom>
          <a:solidFill>
            <a:srgbClr val="0A0E1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73168" y="332841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</a:t>
            </a:r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visible en systemctl list-timers con NextElapsed correcto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709160" y="36758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Diagnóstico de servicio roto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709160" y="392277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una unit file con 3 errores deliberados. Usar la metodología de 5 pasos para identificarlos y corregirlos.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709160" y="4425696"/>
            <a:ext cx="4023360" cy="274320"/>
          </a:xfrm>
          <a:prstGeom prst="rect">
            <a:avLst/>
          </a:prstGeom>
          <a:solidFill>
            <a:srgbClr val="0A0E1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73168" y="442569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</a:t>
            </a:r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cada paso con el comando usado y el output de journalctl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47731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file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2560320" y="47731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709160" y="47731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858000" y="47731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4320"/>
            <a:ext cx="8229600" cy="1188720"/>
          </a:xfrm>
          <a:prstGeom prst="rect">
            <a:avLst/>
          </a:prstGeom>
          <a:solidFill>
            <a:srgbClr val="1C2B4A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108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U1 — 5 Semanas · 15 Horas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80160" y="61264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no es solo un gestor de servicios. Es la 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88696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invisible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orquesta todo lo que aprenderemos en U2 y U3: cada servicio web, Samba, Docker y firewall será una unit.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1600200"/>
            <a:ext cx="420624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A5B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600200"/>
            <a:ext cx="4206240" cy="365760"/>
          </a:xfrm>
          <a:prstGeom prst="rect">
            <a:avLst/>
          </a:prstGeom>
          <a:solidFill>
            <a:srgbClr val="0D0D2A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Entrega Final U1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4360" y="20665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ctt-monitor.service — hardening completo con score &lt; 4.0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4360" y="24323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ctt-backup.timer corriendo — evidencia de systemctl list-timers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27980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ctt-cleanup.service con ExecStartPre= validando dependencias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4360" y="31638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documentado: 2 fallos reales resueltos con journalctl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" y="35295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Reporte: output de systemd-analyze blame antes y después de optimizar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92040" y="1600200"/>
            <a:ext cx="397764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92040" y="1600200"/>
            <a:ext cx="397764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U2 — Servicios de Red (Sem. 6–10)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29200" y="2066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apache2.service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hosts  ·  TLS  ·  Módulos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0" y="24323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smbd.service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 ·  AD Member  ·  Permisos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0" y="27980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sshd.service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ProxyJump  ·  Tunneling  ·  Keys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0" y="31638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ufw.service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 ·  Reglas  ·  fail2ban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0" y="35295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nginx.service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 ·  Let's Encrypt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931920"/>
            <a:ext cx="8229600" cy="8412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396849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Prerequisito U2: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Apache, Samba, SSH y UFW son daemons. Arrancan como services. Se diagnostican con journalctl. Se endurecen con las mismas directivas.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94360" y="435254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en U1 no es contexto — es el fundamento de todo lo que sigue.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III — Clase 3: Journald, Diagnóstico y Cierre U1</dc:title>
  <dc:subject>PptxGenJS Presentation</dc:subject>
  <dc:creator>PptxGenJS</dc:creator>
  <cp:lastModifiedBy>PptxGenJS</cp:lastModifiedBy>
  <cp:revision>1</cp:revision>
  <dcterms:created xsi:type="dcterms:W3CDTF">2026-03-18T20:19:29Z</dcterms:created>
  <dcterms:modified xsi:type="dcterms:W3CDTF">2026-03-18T20:19:29Z</dcterms:modified>
</cp:coreProperties>
</file>